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4" r:id="rId1"/>
  </p:sldMasterIdLst>
  <p:notesMasterIdLst>
    <p:notesMasterId r:id="rId85"/>
  </p:notesMasterIdLst>
  <p:sldIdLst>
    <p:sldId id="256" r:id="rId2"/>
    <p:sldId id="364" r:id="rId3"/>
    <p:sldId id="365" r:id="rId4"/>
    <p:sldId id="459" r:id="rId5"/>
    <p:sldId id="366" r:id="rId6"/>
    <p:sldId id="367" r:id="rId7"/>
    <p:sldId id="441" r:id="rId8"/>
    <p:sldId id="368" r:id="rId9"/>
    <p:sldId id="369" r:id="rId10"/>
    <p:sldId id="370" r:id="rId11"/>
    <p:sldId id="371" r:id="rId12"/>
    <p:sldId id="372" r:id="rId13"/>
    <p:sldId id="373" r:id="rId14"/>
    <p:sldId id="439" r:id="rId15"/>
    <p:sldId id="443" r:id="rId16"/>
    <p:sldId id="374" r:id="rId17"/>
    <p:sldId id="375" r:id="rId18"/>
    <p:sldId id="458" r:id="rId19"/>
    <p:sldId id="460" r:id="rId20"/>
    <p:sldId id="376" r:id="rId21"/>
    <p:sldId id="378" r:id="rId22"/>
    <p:sldId id="379" r:id="rId23"/>
    <p:sldId id="380" r:id="rId24"/>
    <p:sldId id="381" r:id="rId25"/>
    <p:sldId id="382" r:id="rId26"/>
    <p:sldId id="461" r:id="rId27"/>
    <p:sldId id="383" r:id="rId28"/>
    <p:sldId id="384" r:id="rId29"/>
    <p:sldId id="385" r:id="rId30"/>
    <p:sldId id="462" r:id="rId31"/>
    <p:sldId id="386" r:id="rId32"/>
    <p:sldId id="464" r:id="rId33"/>
    <p:sldId id="445" r:id="rId34"/>
    <p:sldId id="465" r:id="rId35"/>
    <p:sldId id="446" r:id="rId36"/>
    <p:sldId id="466" r:id="rId37"/>
    <p:sldId id="450" r:id="rId38"/>
    <p:sldId id="447" r:id="rId39"/>
    <p:sldId id="467" r:id="rId40"/>
    <p:sldId id="449" r:id="rId41"/>
    <p:sldId id="468" r:id="rId42"/>
    <p:sldId id="455" r:id="rId43"/>
    <p:sldId id="469" r:id="rId44"/>
    <p:sldId id="472" r:id="rId45"/>
    <p:sldId id="453" r:id="rId46"/>
    <p:sldId id="456" r:id="rId47"/>
    <p:sldId id="454" r:id="rId48"/>
    <p:sldId id="473" r:id="rId49"/>
    <p:sldId id="476" r:id="rId50"/>
    <p:sldId id="507" r:id="rId51"/>
    <p:sldId id="475" r:id="rId52"/>
    <p:sldId id="511" r:id="rId53"/>
    <p:sldId id="512" r:id="rId54"/>
    <p:sldId id="477" r:id="rId55"/>
    <p:sldId id="508" r:id="rId56"/>
    <p:sldId id="479" r:id="rId57"/>
    <p:sldId id="482" r:id="rId58"/>
    <p:sldId id="480" r:id="rId59"/>
    <p:sldId id="481" r:id="rId60"/>
    <p:sldId id="509" r:id="rId61"/>
    <p:sldId id="506" r:id="rId62"/>
    <p:sldId id="484" r:id="rId63"/>
    <p:sldId id="485" r:id="rId64"/>
    <p:sldId id="510" r:id="rId65"/>
    <p:sldId id="486" r:id="rId66"/>
    <p:sldId id="487" r:id="rId67"/>
    <p:sldId id="488" r:id="rId68"/>
    <p:sldId id="489" r:id="rId69"/>
    <p:sldId id="490" r:id="rId70"/>
    <p:sldId id="491" r:id="rId71"/>
    <p:sldId id="492" r:id="rId72"/>
    <p:sldId id="493" r:id="rId73"/>
    <p:sldId id="495" r:id="rId74"/>
    <p:sldId id="496" r:id="rId75"/>
    <p:sldId id="497" r:id="rId76"/>
    <p:sldId id="498" r:id="rId77"/>
    <p:sldId id="499" r:id="rId78"/>
    <p:sldId id="500" r:id="rId79"/>
    <p:sldId id="501" r:id="rId80"/>
    <p:sldId id="502" r:id="rId81"/>
    <p:sldId id="503" r:id="rId82"/>
    <p:sldId id="504" r:id="rId83"/>
    <p:sldId id="505" r:id="rId8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6" d="100"/>
          <a:sy n="76" d="100"/>
        </p:scale>
        <p:origin x="157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341F7C-768C-42B5-886A-1BE067E4F071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50A2BC-E84B-436D-A904-AA5CBF86B2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471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57A5F7-09EE-4DC9-8117-D8350673A942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8792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9496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4561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995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3350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711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3384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543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707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5996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347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6443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50A2BC-E84B-436D-A904-AA5CBF86B24A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7408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B25FEA1-5259-454D-999F-A8B5D3E24066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4203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56A3B91-2B9E-4C81-80CE-C10FFFEDF619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4215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29FED4B-DB5E-41EC-882E-FB16FCF32A04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5995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8D2A072-5840-4016-ABED-1588CD6E5A18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9030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023F846-7F1D-43A7-93EF-C45DA3FD64A3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8844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481A4EB-ED9E-4505-A861-C1518D8EECE2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5563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9AA05F7-112B-45B1-94FC-8C07D990191A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8897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ext Box 1"/>
          <p:cNvSpPr txBox="1">
            <a:spLocks noChangeArrowheads="1"/>
          </p:cNvSpPr>
          <p:nvPr/>
        </p:nvSpPr>
        <p:spPr bwMode="auto">
          <a:xfrm>
            <a:off x="3278293" y="538402"/>
            <a:ext cx="4036907" cy="270367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28674" name="Text Box 2"/>
          <p:cNvSpPr>
            <a:spLocks noGrp="1" noChangeArrowheads="1"/>
          </p:cNvSpPr>
          <p:nvPr>
            <p:ph type="body"/>
          </p:nvPr>
        </p:nvSpPr>
        <p:spPr bwMode="auto">
          <a:xfrm>
            <a:off x="1415627" y="3422096"/>
            <a:ext cx="7760547" cy="324207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485034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E56B836-7A45-4201-9A72-36DD56D331F7}" type="slidenum">
              <a:rPr lang="en-US" smtClean="0"/>
              <a:pPr/>
              <a:t>57</a:t>
            </a:fld>
            <a:endParaRPr lang="en-US"/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270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ext Box 1"/>
          <p:cNvSpPr txBox="1">
            <a:spLocks noChangeArrowheads="1"/>
          </p:cNvSpPr>
          <p:nvPr/>
        </p:nvSpPr>
        <p:spPr bwMode="auto">
          <a:xfrm>
            <a:off x="1143001" y="838438"/>
            <a:ext cx="5015653" cy="335375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29698" name="Text Box 2"/>
          <p:cNvSpPr>
            <a:spLocks noGrp="1" noChangeArrowheads="1"/>
          </p:cNvSpPr>
          <p:nvPr>
            <p:ph type="body"/>
          </p:nvPr>
        </p:nvSpPr>
        <p:spPr bwMode="auto">
          <a:xfrm>
            <a:off x="882228" y="4563904"/>
            <a:ext cx="5535506" cy="40505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740461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ext Box 1"/>
          <p:cNvSpPr txBox="1">
            <a:spLocks noChangeArrowheads="1"/>
          </p:cNvSpPr>
          <p:nvPr/>
        </p:nvSpPr>
        <p:spPr bwMode="auto">
          <a:xfrm>
            <a:off x="1143001" y="838438"/>
            <a:ext cx="5015653" cy="335375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6661" tIns="48331" rIns="96661" bIns="48331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30722" name="Text Box 2"/>
          <p:cNvSpPr>
            <a:spLocks noGrp="1" noChangeArrowheads="1"/>
          </p:cNvSpPr>
          <p:nvPr>
            <p:ph type="body"/>
          </p:nvPr>
        </p:nvSpPr>
        <p:spPr bwMode="auto">
          <a:xfrm>
            <a:off x="882228" y="4563904"/>
            <a:ext cx="5535506" cy="40505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26006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A83C34E-97B9-428A-AC20-166148CA64EB}" type="slidenum">
              <a:rPr lang="en-US" smtClean="0"/>
              <a:pPr/>
              <a:t>62</a:t>
            </a:fld>
            <a:endParaRPr lang="en-US"/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40716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5E10176-6388-4CBA-BE44-18CFDBC19761}" type="slidenum">
              <a:rPr lang="en-US" smtClean="0"/>
              <a:pPr/>
              <a:t>63</a:t>
            </a:fld>
            <a:endParaRPr lang="en-US"/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90561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454E291-CD47-45A2-AB8D-506206452420}" type="slidenum">
              <a:rPr lang="en-US" smtClean="0"/>
              <a:pPr/>
              <a:t>65</a:t>
            </a:fld>
            <a:endParaRPr lang="en-US"/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51535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4369791-FD3B-4CF1-BDB1-E3641C2F638C}" type="slidenum">
              <a:rPr lang="en-US" smtClean="0"/>
              <a:pPr/>
              <a:t>66</a:t>
            </a:fld>
            <a:endParaRPr lang="en-US"/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19995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D0F5225-C0BF-4E52-8613-5D69DCD30505}" type="slidenum">
              <a:rPr lang="en-US" smtClean="0"/>
              <a:pPr/>
              <a:t>68</a:t>
            </a:fld>
            <a:endParaRPr lang="en-US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81599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C2F5DD0-5685-4FBB-BB39-52C7BE56C5DE}" type="slidenum">
              <a:rPr lang="en-US" smtClean="0"/>
              <a:pPr/>
              <a:t>69</a:t>
            </a:fld>
            <a:endParaRPr lang="en-US"/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03518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8933C8F-ECB6-4443-8BA5-AFF40C94CDEF}" type="slidenum">
              <a:rPr lang="en-US" smtClean="0"/>
              <a:pPr/>
              <a:t>70</a:t>
            </a:fld>
            <a:endParaRPr lang="en-US"/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7083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3E804E0-794B-4E8C-9D40-25FAA2CD1F16}" type="slidenum">
              <a:rPr lang="en-US" smtClean="0"/>
              <a:pPr/>
              <a:t>71</a:t>
            </a:fld>
            <a:endParaRPr lang="en-US"/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90137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C9F048-BC12-4FA3-A94C-4C84DAEC1C48}" type="slidenum">
              <a:rPr lang="en-US" smtClean="0"/>
              <a:pPr/>
              <a:t>72</a:t>
            </a:fld>
            <a:endParaRPr lang="en-US"/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95360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80B69F8-33CB-437F-B7E4-DE6203E0E737}" type="slidenum">
              <a:rPr lang="en-US" smtClean="0"/>
              <a:pPr/>
              <a:t>73</a:t>
            </a:fld>
            <a:endParaRPr lang="en-US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55348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2FD698B-8BA0-4594-96F6-02EA58C6CBD1}" type="slidenum">
              <a:rPr lang="en-US" smtClean="0"/>
              <a:pPr/>
              <a:t>74</a:t>
            </a:fld>
            <a:endParaRPr lang="en-US"/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21586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08EED2A-9177-48CB-B391-1EEDD390B56E}" type="slidenum">
              <a:rPr lang="en-US" smtClean="0"/>
              <a:pPr/>
              <a:t>75</a:t>
            </a:fld>
            <a:endParaRPr lang="en-US"/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29346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FCC81AD-AA2D-429C-8C70-6E596F7BCD18}" type="slidenum">
              <a:rPr lang="en-US" smtClean="0"/>
              <a:pPr/>
              <a:t>76</a:t>
            </a:fld>
            <a:endParaRPr lang="en-US"/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94522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276602E-9E8C-428C-9C32-338EF10A190B}" type="slidenum">
              <a:rPr lang="en-US" smtClean="0"/>
              <a:pPr/>
              <a:t>78</a:t>
            </a:fld>
            <a:endParaRPr lang="en-US"/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06899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568D3F5-89D4-4A38-B1AC-6F4E815BC381}" type="slidenum">
              <a:rPr lang="en-US" smtClean="0"/>
              <a:pPr/>
              <a:t>79</a:t>
            </a:fld>
            <a:endParaRPr lang="en-US"/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3884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1E67C22-A27F-433C-8AE8-4269EF7E136E}" type="slidenum">
              <a:rPr lang="en-US" smtClean="0"/>
              <a:pPr/>
              <a:t>80</a:t>
            </a:fld>
            <a:endParaRPr lang="en-US"/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2153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597E34F-9125-4D5B-B603-4020F0E264D2}" type="slidenum">
              <a:rPr lang="en-US" smtClean="0"/>
              <a:pPr/>
              <a:t>81</a:t>
            </a:fld>
            <a:endParaRPr lang="en-US"/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89424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150839F-BF87-4C18-B58D-7569C792B575}" type="slidenum">
              <a:rPr lang="en-US" smtClean="0"/>
              <a:pPr/>
              <a:t>82</a:t>
            </a:fld>
            <a:endParaRPr lang="en-US"/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91612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D183C61-BC3A-4B76-B8FD-84AD8990318F}" type="slidenum">
              <a:rPr lang="en-US" smtClean="0"/>
              <a:pPr/>
              <a:t>83</a:t>
            </a:fld>
            <a:endParaRPr lang="en-US"/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245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350" b="1">
                <a:solidFill>
                  <a:schemeClr val="tx2"/>
                </a:solidFill>
              </a:defRPr>
            </a:lvl1pPr>
            <a:lvl2pPr marL="342900" indent="0" algn="ctr">
              <a:buNone/>
            </a:lvl2pPr>
            <a:lvl3pPr marL="685800" indent="0" algn="ctr">
              <a:buNone/>
            </a:lvl3pPr>
            <a:lvl4pPr marL="1028700" indent="0" algn="ctr">
              <a:buNone/>
            </a:lvl4pPr>
            <a:lvl5pPr marL="1371600" indent="0" algn="ctr">
              <a:buNone/>
            </a:lvl5pPr>
            <a:lvl6pPr marL="1714500" indent="0" algn="ctr">
              <a:buNone/>
            </a:lvl6pPr>
            <a:lvl7pPr marL="2057400" indent="0" algn="ctr">
              <a:buNone/>
            </a:lvl7pPr>
            <a:lvl8pPr marL="2400300" indent="0" algn="ctr">
              <a:buNone/>
            </a:lvl8pPr>
            <a:lvl9pPr marL="27432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D5ECF5E5-298A-44F5-95BC-418D9A3B4F52}" type="datetime1">
              <a:rPr lang="en-US" smtClean="0"/>
              <a:pPr/>
              <a:t>6/12/2026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02446213-E129-46A7-B795-FE69DE9E5CDA}" type="datetime1">
              <a:rPr lang="en-US" smtClean="0"/>
              <a:pPr/>
              <a:t>6/12/2026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225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350" b="1">
                <a:solidFill>
                  <a:schemeClr val="tx2"/>
                </a:solidFill>
              </a:defRPr>
            </a:lvl1pPr>
            <a:lvl2pPr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3CF6288B-6B52-4B00-843A-D02C420DDD74}" type="datetime1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71C9A-4D0B-44C1-9D72-BD900518D8C5}" type="datetime1">
              <a:rPr lang="en-US" smtClean="0"/>
              <a:pPr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790E1-0334-450A-9615-981D83A8CD25}" type="datetime1">
              <a:rPr lang="en-US" smtClean="0"/>
              <a:pPr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15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15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38BCD9C4-AF43-418A-BB66-52B4632C1036}" type="datetime1">
              <a:rPr lang="en-US" smtClean="0"/>
              <a:pPr/>
              <a:t>6/12/2026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FC62E-EB89-4AD4-96D8-848DBBB7B3B3}" type="datetime1">
              <a:rPr lang="en-US" smtClean="0"/>
              <a:pPr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15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300"/>
              </a:spcBef>
              <a:spcAft>
                <a:spcPts val="750"/>
              </a:spcAft>
              <a:buNone/>
              <a:defRPr sz="900"/>
            </a:lvl1pPr>
            <a:lvl2pPr>
              <a:buNone/>
              <a:defRPr sz="900"/>
            </a:lvl2pPr>
            <a:lvl3pPr>
              <a:buNone/>
              <a:defRPr sz="750"/>
            </a:lvl3pPr>
            <a:lvl4pPr>
              <a:buNone/>
              <a:defRPr sz="675"/>
            </a:lvl4pPr>
            <a:lvl5pPr>
              <a:buNone/>
              <a:defRPr sz="675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FCCE1BD9-B5DA-4580-AFC9-62D6F44D231B}" type="datetime1">
              <a:rPr lang="en-US" smtClean="0"/>
              <a:pPr/>
              <a:t>6/12/2026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15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24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75"/>
              </a:spcBef>
              <a:spcAft>
                <a:spcPts val="300"/>
              </a:spcAft>
              <a:buFontTx/>
              <a:buNone/>
              <a:defRPr sz="900"/>
            </a:lvl1pPr>
            <a:lvl2pPr>
              <a:defRPr sz="900"/>
            </a:lvl2pPr>
            <a:lvl3pPr>
              <a:defRPr sz="750"/>
            </a:lvl3pPr>
            <a:lvl4pPr>
              <a:defRPr sz="675"/>
            </a:lvl4pPr>
            <a:lvl5pPr>
              <a:defRPr sz="675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9B49F915-DA70-437F-8C46-018667A464A7}" type="datetime1">
              <a:rPr lang="en-US" smtClean="0"/>
              <a:pPr/>
              <a:t>6/12/2026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2A4AD-D179-4DAD-BE00-C1647D64278D}" type="datetime1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1676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24B52-F409-447B-9587-A1726897F5FB}" type="datetime1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5"/>
            <a:ext cx="8229600" cy="5762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06450" y="123349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9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95439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900">
                <a:solidFill>
                  <a:schemeClr val="tx2"/>
                </a:solidFill>
              </a:defRPr>
            </a:lvl1pPr>
          </a:lstStyle>
          <a:p>
            <a:fld id="{2FD0C7F0-6829-4275-BA4B-0935F2022826}" type="datetime1">
              <a:rPr lang="en-US" smtClean="0"/>
              <a:pPr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9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anchor="t" compatLnSpc="1"/>
          <a:lstStyle/>
          <a:p>
            <a:endParaRPr kumimoji="0" lang="en-US" sz="1350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350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05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  <p:sldLayoutId id="2147483876" r:id="rId12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225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05740" indent="-205740" algn="l" rtl="0" eaLnBrk="1" latinLnBrk="0" hangingPunct="1">
        <a:spcBef>
          <a:spcPts val="450"/>
        </a:spcBef>
        <a:buClr>
          <a:schemeClr val="accent1"/>
        </a:buClr>
        <a:buSzPct val="7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indent="-20574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1575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3716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891540" indent="-13716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3716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303020" indent="-13716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1508760" indent="-13716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05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1714500" indent="-13716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05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1920240" indent="-13716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05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35144" y="990600"/>
            <a:ext cx="6900112" cy="1028700"/>
          </a:xfrm>
        </p:spPr>
        <p:txBody>
          <a:bodyPr>
            <a:noAutofit/>
          </a:bodyPr>
          <a:lstStyle/>
          <a:p>
            <a:r>
              <a:rPr lang="en-US" sz="2800" cap="small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BCSE303L: Operating Systems</a:t>
            </a:r>
            <a:endParaRPr lang="en-IN" sz="2800" cap="small" dirty="0">
              <a:solidFill>
                <a:srgbClr val="0070C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337" name="Rectangle 1"/>
          <p:cNvSpPr>
            <a:spLocks noChangeArrowheads="1"/>
          </p:cNvSpPr>
          <p:nvPr/>
        </p:nvSpPr>
        <p:spPr bwMode="auto">
          <a:xfrm>
            <a:off x="1143001" y="614877"/>
            <a:ext cx="138564" cy="4847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br>
              <a:rPr lang="en-US" sz="1350">
                <a:latin typeface="Arial" pitchFamily="34" charset="0"/>
                <a:cs typeface="Arial" pitchFamily="34" charset="0"/>
              </a:rPr>
            </a:br>
            <a:endParaRPr lang="en-US" sz="135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28600" y="2254701"/>
            <a:ext cx="8809056" cy="2000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                                  </a:t>
            </a:r>
            <a:r>
              <a:rPr lang="en-US" sz="3200" b="1" dirty="0">
                <a:solidFill>
                  <a:srgbClr val="FF0000"/>
                </a:solidFill>
              </a:rPr>
              <a:t>Module</a:t>
            </a:r>
            <a:r>
              <a:rPr lang="en-US" sz="3200" b="1" spc="-170" dirty="0">
                <a:solidFill>
                  <a:srgbClr val="FF0000"/>
                </a:solidFill>
              </a:rPr>
              <a:t> </a:t>
            </a:r>
            <a:r>
              <a:rPr lang="en-US" sz="3200" b="1" spc="-25" dirty="0">
                <a:solidFill>
                  <a:srgbClr val="FF0000"/>
                </a:solidFill>
              </a:rPr>
              <a:t>4:</a:t>
            </a:r>
          </a:p>
          <a:p>
            <a:r>
              <a:rPr lang="en-US" sz="3200" b="1" dirty="0">
                <a:solidFill>
                  <a:srgbClr val="002060"/>
                </a:solidFill>
              </a:rPr>
              <a:t>	</a:t>
            </a:r>
          </a:p>
          <a:p>
            <a:r>
              <a:rPr lang="en-US" sz="3200" b="1" dirty="0">
                <a:solidFill>
                  <a:srgbClr val="002060"/>
                </a:solidFill>
              </a:rPr>
              <a:t>            Process Synchronization</a:t>
            </a:r>
            <a:br>
              <a:rPr lang="en-US" sz="3200" b="1" dirty="0">
                <a:solidFill>
                  <a:srgbClr val="002060"/>
                </a:solidFill>
              </a:rPr>
            </a:br>
            <a:endParaRPr lang="en-IN" sz="2800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980017" y="627592"/>
            <a:ext cx="7706783" cy="512233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/>
              <a:t>Module 3: Process Synchronization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xfrm>
            <a:off x="806450" y="1654176"/>
            <a:ext cx="6040967" cy="2906183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dirty="0"/>
              <a:t>Background</a:t>
            </a:r>
          </a:p>
          <a:p>
            <a:pPr>
              <a:lnSpc>
                <a:spcPct val="80000"/>
              </a:lnSpc>
            </a:pPr>
            <a:r>
              <a:rPr lang="en-US" dirty="0"/>
              <a:t>The Critical-Section Problem</a:t>
            </a:r>
          </a:p>
          <a:p>
            <a:pPr>
              <a:lnSpc>
                <a:spcPct val="80000"/>
              </a:lnSpc>
            </a:pPr>
            <a:r>
              <a:rPr lang="en-US" dirty="0"/>
              <a:t>Peterson’s Solution</a:t>
            </a:r>
          </a:p>
          <a:p>
            <a:pPr>
              <a:lnSpc>
                <a:spcPct val="80000"/>
              </a:lnSpc>
            </a:pPr>
            <a:r>
              <a:rPr lang="en-US" dirty="0"/>
              <a:t>Synchronization Hardware</a:t>
            </a:r>
          </a:p>
          <a:p>
            <a:pPr>
              <a:lnSpc>
                <a:spcPct val="80000"/>
              </a:lnSpc>
            </a:pPr>
            <a:r>
              <a:rPr lang="en-US" dirty="0"/>
              <a:t>Semaphores</a:t>
            </a:r>
          </a:p>
          <a:p>
            <a:pPr>
              <a:lnSpc>
                <a:spcPct val="80000"/>
              </a:lnSpc>
            </a:pPr>
            <a:r>
              <a:rPr lang="en-US" dirty="0"/>
              <a:t>Classic Problems of Synchronization</a:t>
            </a:r>
          </a:p>
          <a:p>
            <a:pPr>
              <a:lnSpc>
                <a:spcPct val="80000"/>
              </a:lnSpc>
            </a:pPr>
            <a:r>
              <a:rPr lang="en-US" dirty="0"/>
              <a:t>Monitors</a:t>
            </a:r>
          </a:p>
          <a:p>
            <a:pPr>
              <a:lnSpc>
                <a:spcPct val="80000"/>
              </a:lnSpc>
            </a:pPr>
            <a:r>
              <a:rPr lang="en-US" dirty="0"/>
              <a:t>Synchronization Examples </a:t>
            </a:r>
          </a:p>
          <a:p>
            <a:pPr>
              <a:lnSpc>
                <a:spcPct val="80000"/>
              </a:lnSpc>
            </a:pPr>
            <a:r>
              <a:rPr lang="en-US" dirty="0"/>
              <a:t>Atomic Transactions</a:t>
            </a:r>
          </a:p>
        </p:txBody>
      </p:sp>
      <p:sp>
        <p:nvSpPr>
          <p:cNvPr id="4100" name="Rectangle 5"/>
          <p:cNvSpPr>
            <a:spLocks noChangeArrowheads="1"/>
          </p:cNvSpPr>
          <p:nvPr/>
        </p:nvSpPr>
        <p:spPr bwMode="auto">
          <a:xfrm>
            <a:off x="2286000" y="4928659"/>
            <a:ext cx="4078817" cy="6419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077" tIns="43539" rIns="87077" bIns="43539">
            <a:spAutoFit/>
          </a:bodyPr>
          <a:lstStyle/>
          <a:p>
            <a:endParaRPr kumimoji="1" lang="en-US" sz="1200">
              <a:latin typeface="Helvetica" charset="0"/>
            </a:endParaRPr>
          </a:p>
          <a:p>
            <a:endParaRPr kumimoji="1" lang="en-US" sz="1200">
              <a:latin typeface="Helvetica" charset="0"/>
            </a:endParaRPr>
          </a:p>
          <a:p>
            <a:endParaRPr kumimoji="1" lang="en-US" sz="1200">
              <a:latin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4104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Objectives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806450" y="1477433"/>
            <a:ext cx="7679267" cy="4026959"/>
          </a:xfrm>
        </p:spPr>
        <p:txBody>
          <a:bodyPr/>
          <a:lstStyle/>
          <a:p>
            <a:r>
              <a:rPr lang="en-US" dirty="0"/>
              <a:t>To introduce the critical-section problem, whose solutions can be used to ensure the consistency of shared data</a:t>
            </a:r>
          </a:p>
          <a:p>
            <a:endParaRPr lang="en-US" dirty="0"/>
          </a:p>
          <a:p>
            <a:r>
              <a:rPr lang="en-US" dirty="0"/>
              <a:t>To present both software and hardware solutions of the critical-section problem</a:t>
            </a:r>
          </a:p>
          <a:p>
            <a:endParaRPr lang="en-US" dirty="0"/>
          </a:p>
          <a:p>
            <a:r>
              <a:rPr lang="en-US" dirty="0"/>
              <a:t>To introduce the concept of an atomic transaction and describe mechanisms to ensure atomicity</a:t>
            </a:r>
          </a:p>
        </p:txBody>
      </p:sp>
    </p:spTree>
    <p:extLst>
      <p:ext uri="{BB962C8B-B14F-4D97-AF65-F5344CB8AC3E}">
        <p14:creationId xmlns:p14="http://schemas.microsoft.com/office/powerpoint/2010/main" val="3798116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1981200"/>
            <a:ext cx="7467600" cy="1143000"/>
          </a:xfrm>
        </p:spPr>
        <p:txBody>
          <a:bodyPr>
            <a:normAutofit/>
          </a:bodyPr>
          <a:lstStyle/>
          <a:p>
            <a:r>
              <a:rPr lang="en-US" sz="2800" b="1">
                <a:solidFill>
                  <a:srgbClr val="FF0000"/>
                </a:solidFill>
              </a:rPr>
              <a:t>Inter process </a:t>
            </a:r>
            <a:r>
              <a:rPr lang="en-US" sz="2800" b="1" dirty="0">
                <a:solidFill>
                  <a:srgbClr val="FF0000"/>
                </a:solidFill>
              </a:rPr>
              <a:t>Communication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453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>
          <a:xfrm>
            <a:off x="614892" y="152400"/>
            <a:ext cx="7703608" cy="512233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Interprocess</a:t>
            </a:r>
            <a:r>
              <a:rPr lang="en-US" b="1" dirty="0">
                <a:solidFill>
                  <a:srgbClr val="FF0000"/>
                </a:solidFill>
              </a:rPr>
              <a:t> Communication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>
          <a:xfrm>
            <a:off x="428096" y="838200"/>
            <a:ext cx="8077200" cy="57150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200" dirty="0"/>
              <a:t>Processes within a system may be </a:t>
            </a:r>
            <a:r>
              <a:rPr lang="en-US" sz="2200" b="1" dirty="0">
                <a:solidFill>
                  <a:srgbClr val="FF0000"/>
                </a:solidFill>
              </a:rPr>
              <a:t>independent</a:t>
            </a:r>
            <a:r>
              <a:rPr lang="en-US" sz="2200" b="1" dirty="0"/>
              <a:t> </a:t>
            </a:r>
            <a:r>
              <a:rPr lang="en-US" sz="2200" dirty="0"/>
              <a:t>or </a:t>
            </a:r>
            <a:r>
              <a:rPr lang="en-US" sz="2200" b="1" dirty="0">
                <a:solidFill>
                  <a:srgbClr val="FF0000"/>
                </a:solidFill>
              </a:rPr>
              <a:t>cooperating</a:t>
            </a:r>
          </a:p>
          <a:p>
            <a:pPr algn="just"/>
            <a:r>
              <a:rPr lang="en-US" sz="2200" dirty="0"/>
              <a:t>Cooperating process can affect or be affected by other processes, including sharing data.</a:t>
            </a:r>
          </a:p>
          <a:p>
            <a:r>
              <a:rPr lang="en-US" sz="2400" b="1" dirty="0">
                <a:solidFill>
                  <a:srgbClr val="00B0F0"/>
                </a:solidFill>
              </a:rPr>
              <a:t>Any process that shares data with other processes is a cooperating process.</a:t>
            </a:r>
            <a:endParaRPr lang="en-US" sz="2200" b="1" dirty="0">
              <a:solidFill>
                <a:srgbClr val="00B0F0"/>
              </a:solidFill>
            </a:endParaRPr>
          </a:p>
          <a:p>
            <a:pPr algn="just"/>
            <a:r>
              <a:rPr lang="en-US" sz="2200" dirty="0"/>
              <a:t>Reasons for cooperating processes:</a:t>
            </a:r>
          </a:p>
          <a:p>
            <a:pPr lvl="1" algn="just"/>
            <a:r>
              <a:rPr lang="en-US" sz="2200" dirty="0">
                <a:solidFill>
                  <a:srgbClr val="FF0000"/>
                </a:solidFill>
              </a:rPr>
              <a:t>Information sharing</a:t>
            </a:r>
          </a:p>
          <a:p>
            <a:pPr lvl="1" algn="just"/>
            <a:r>
              <a:rPr lang="en-US" sz="2200" dirty="0">
                <a:solidFill>
                  <a:srgbClr val="FF0000"/>
                </a:solidFill>
              </a:rPr>
              <a:t>Computation speedup</a:t>
            </a:r>
          </a:p>
          <a:p>
            <a:pPr lvl="1" algn="just"/>
            <a:r>
              <a:rPr lang="en-US" sz="2200" dirty="0">
                <a:solidFill>
                  <a:srgbClr val="FF0000"/>
                </a:solidFill>
              </a:rPr>
              <a:t>Modularity</a:t>
            </a:r>
          </a:p>
          <a:p>
            <a:pPr lvl="1" algn="just"/>
            <a:r>
              <a:rPr lang="en-US" sz="2200" dirty="0">
                <a:solidFill>
                  <a:srgbClr val="FF0000"/>
                </a:solidFill>
              </a:rPr>
              <a:t>Convenience</a:t>
            </a:r>
            <a:r>
              <a:rPr lang="en-US" sz="2200" dirty="0"/>
              <a:t>	</a:t>
            </a:r>
          </a:p>
          <a:p>
            <a:r>
              <a:rPr lang="en-US" sz="2200" b="1" dirty="0">
                <a:solidFill>
                  <a:srgbClr val="00B0F0"/>
                </a:solidFill>
              </a:rPr>
              <a:t>Cooperating processes need </a:t>
            </a:r>
            <a:r>
              <a:rPr lang="en-US" sz="2200" b="1" dirty="0" err="1">
                <a:solidFill>
                  <a:srgbClr val="00B0F0"/>
                </a:solidFill>
              </a:rPr>
              <a:t>interprocess</a:t>
            </a:r>
            <a:r>
              <a:rPr lang="en-US" sz="2200" b="1" dirty="0">
                <a:solidFill>
                  <a:srgbClr val="00B0F0"/>
                </a:solidFill>
              </a:rPr>
              <a:t> communication (IPC)</a:t>
            </a:r>
          </a:p>
          <a:p>
            <a:r>
              <a:rPr lang="en-US" sz="2200" dirty="0">
                <a:solidFill>
                  <a:srgbClr val="FF0000"/>
                </a:solidFill>
              </a:rPr>
              <a:t>Two models of IPC</a:t>
            </a:r>
          </a:p>
          <a:p>
            <a:pPr lvl="1"/>
            <a:r>
              <a:rPr lang="en-US" sz="2200" b="1" dirty="0">
                <a:solidFill>
                  <a:srgbClr val="0070C0"/>
                </a:solidFill>
              </a:rPr>
              <a:t>Shared memory</a:t>
            </a:r>
          </a:p>
          <a:p>
            <a:pPr lvl="1"/>
            <a:r>
              <a:rPr lang="en-US" sz="2200" b="1" dirty="0">
                <a:solidFill>
                  <a:srgbClr val="0070C0"/>
                </a:solidFill>
              </a:rPr>
              <a:t>Message passing</a:t>
            </a:r>
          </a:p>
          <a:p>
            <a:pPr lvl="1"/>
            <a:endParaRPr lang="en-US" sz="1867" dirty="0"/>
          </a:p>
        </p:txBody>
      </p:sp>
    </p:spTree>
    <p:extLst>
      <p:ext uri="{BB962C8B-B14F-4D97-AF65-F5344CB8AC3E}">
        <p14:creationId xmlns:p14="http://schemas.microsoft.com/office/powerpoint/2010/main" val="2210333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467600" cy="4111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b="1" dirty="0">
                <a:solidFill>
                  <a:srgbClr val="0070C0"/>
                </a:solidFill>
              </a:rPr>
              <a:t>Communications Models </a:t>
            </a:r>
          </a:p>
        </p:txBody>
      </p:sp>
      <p:sp>
        <p:nvSpPr>
          <p:cNvPr id="2" name="Rectangle 1"/>
          <p:cNvSpPr/>
          <p:nvPr/>
        </p:nvSpPr>
        <p:spPr>
          <a:xfrm>
            <a:off x="1393824" y="5638800"/>
            <a:ext cx="653097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HelveticaNeueLTStd-Roman"/>
              </a:rPr>
              <a:t>Communications models. (a) Shared memory. (b) Message passing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914400"/>
            <a:ext cx="7391400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825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11162"/>
          </a:xfrm>
        </p:spPr>
        <p:txBody>
          <a:bodyPr>
            <a:normAutofit fontScale="90000"/>
          </a:bodyPr>
          <a:lstStyle/>
          <a:p>
            <a:r>
              <a:rPr lang="en-US" dirty="0"/>
              <a:t>Difference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688016925"/>
              </p:ext>
            </p:extLst>
          </p:nvPr>
        </p:nvGraphicFramePr>
        <p:xfrm>
          <a:off x="381000" y="914400"/>
          <a:ext cx="7924800" cy="53987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545">
                <a:tc>
                  <a:txBody>
                    <a:bodyPr/>
                    <a:lstStyle/>
                    <a:p>
                      <a:r>
                        <a:rPr lang="en-US" b="1" dirty="0"/>
                        <a:t>Shared 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Message Passing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545">
                <a:tc>
                  <a:txBody>
                    <a:bodyPr/>
                    <a:lstStyle/>
                    <a:p>
                      <a:r>
                        <a:rPr lang="en-US" dirty="0"/>
                        <a:t>Faster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Slower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927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No kernel assistance is required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Kernel assistance is required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1352">
                <a:tc>
                  <a:txBody>
                    <a:bodyPr/>
                    <a:lstStyle/>
                    <a:p>
                      <a:r>
                        <a:rPr lang="en-US" dirty="0"/>
                        <a:t>More data can be kept in shared 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Exchanging smaller amounts of data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3817">
                <a:tc>
                  <a:txBody>
                    <a:bodyPr/>
                    <a:lstStyle/>
                    <a:p>
                      <a:r>
                        <a:rPr lang="en-US" dirty="0"/>
                        <a:t>System Calls are required only </a:t>
                      </a:r>
                      <a:r>
                        <a:rPr kumimoji="0"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 establish shared memory</a:t>
                      </a:r>
                    </a:p>
                    <a:p>
                      <a:r>
                        <a:rPr kumimoji="0"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regions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Implemented using System Calls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185">
                <a:tc>
                  <a:txBody>
                    <a:bodyPr/>
                    <a:lstStyle/>
                    <a:p>
                      <a:r>
                        <a:rPr lang="en-US" dirty="0"/>
                        <a:t>Requires Synchronization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synchronization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849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Shared caches, Client – server communication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Can</a:t>
                      </a:r>
                      <a:r>
                        <a:rPr lang="en-US" baseline="0" dirty="0"/>
                        <a:t> be used in distributed systems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83939">
                <a:tc>
                  <a:txBody>
                    <a:bodyPr/>
                    <a:lstStyle/>
                    <a:p>
                      <a:r>
                        <a:rPr lang="en-US" dirty="0"/>
                        <a:t>Processes share a common memory 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Processes don’t share address space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736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710142" y="228600"/>
            <a:ext cx="7626350" cy="512233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/>
              <a:t>Cooperating Processes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066800"/>
            <a:ext cx="7530042" cy="4026959"/>
          </a:xfrm>
        </p:spPr>
        <p:txBody>
          <a:bodyPr>
            <a:normAutofit/>
          </a:bodyPr>
          <a:lstStyle/>
          <a:p>
            <a:r>
              <a:rPr lang="en-US" b="1" dirty="0"/>
              <a:t>Independent</a:t>
            </a:r>
            <a:r>
              <a:rPr lang="en-US" dirty="0"/>
              <a:t> process cannot affect or be affected by the execution of another process</a:t>
            </a:r>
          </a:p>
          <a:p>
            <a:endParaRPr lang="en-US" dirty="0"/>
          </a:p>
          <a:p>
            <a:r>
              <a:rPr lang="en-US" b="1" dirty="0">
                <a:solidFill>
                  <a:srgbClr val="000000"/>
                </a:solidFill>
              </a:rPr>
              <a:t>Cooperating</a:t>
            </a:r>
            <a:r>
              <a:rPr lang="en-US" dirty="0"/>
              <a:t> process can affect or be affected by the execution of another process</a:t>
            </a:r>
          </a:p>
          <a:p>
            <a:endParaRPr lang="en-US" dirty="0"/>
          </a:p>
          <a:p>
            <a:r>
              <a:rPr lang="en-US" dirty="0"/>
              <a:t>Advantages of process cooperation</a:t>
            </a:r>
          </a:p>
          <a:p>
            <a:pPr lvl="1"/>
            <a:r>
              <a:rPr lang="en-US" dirty="0"/>
              <a:t>Information sharing </a:t>
            </a:r>
          </a:p>
          <a:p>
            <a:pPr lvl="1"/>
            <a:r>
              <a:rPr lang="en-US" dirty="0"/>
              <a:t>Computation speed-up</a:t>
            </a:r>
          </a:p>
          <a:p>
            <a:pPr lvl="1"/>
            <a:r>
              <a:rPr lang="en-US" dirty="0"/>
              <a:t>Modularity</a:t>
            </a:r>
          </a:p>
          <a:p>
            <a:pPr lvl="1"/>
            <a:r>
              <a:rPr lang="en-US" dirty="0"/>
              <a:t>Convenience</a:t>
            </a:r>
          </a:p>
        </p:txBody>
      </p:sp>
    </p:spTree>
    <p:extLst>
      <p:ext uri="{BB962C8B-B14F-4D97-AF65-F5344CB8AC3E}">
        <p14:creationId xmlns:p14="http://schemas.microsoft.com/office/powerpoint/2010/main" val="2783601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565150" y="76200"/>
            <a:ext cx="7937500" cy="512233"/>
          </a:xfrm>
        </p:spPr>
        <p:txBody>
          <a:bodyPr>
            <a:normAutofit/>
          </a:bodyPr>
          <a:lstStyle/>
          <a:p>
            <a:pPr eaLnBrk="1" hangingPunct="1"/>
            <a:r>
              <a:rPr lang="en-US" b="1" dirty="0">
                <a:solidFill>
                  <a:srgbClr val="0070C0"/>
                </a:solidFill>
              </a:rPr>
              <a:t>Producer-Consumer Problem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838200"/>
            <a:ext cx="8305800" cy="571500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3200" dirty="0"/>
              <a:t>Paradigm for cooperating processes</a:t>
            </a:r>
          </a:p>
          <a:p>
            <a:pPr algn="just"/>
            <a:r>
              <a:rPr lang="en-US" sz="3200" dirty="0"/>
              <a:t> </a:t>
            </a:r>
            <a:r>
              <a:rPr lang="en-US" sz="3200" i="1" dirty="0">
                <a:solidFill>
                  <a:srgbClr val="FF0000"/>
                </a:solidFill>
              </a:rPr>
              <a:t>Producer</a:t>
            </a:r>
            <a:r>
              <a:rPr lang="en-US" sz="3200" dirty="0">
                <a:solidFill>
                  <a:srgbClr val="FF0000"/>
                </a:solidFill>
              </a:rPr>
              <a:t> process produces information that is consumed by a </a:t>
            </a:r>
            <a:r>
              <a:rPr lang="en-US" sz="3200" i="1" dirty="0">
                <a:solidFill>
                  <a:srgbClr val="FF0000"/>
                </a:solidFill>
              </a:rPr>
              <a:t>consumer</a:t>
            </a:r>
            <a:r>
              <a:rPr lang="en-US" sz="3200" dirty="0">
                <a:solidFill>
                  <a:srgbClr val="FF0000"/>
                </a:solidFill>
              </a:rPr>
              <a:t> process</a:t>
            </a:r>
          </a:p>
          <a:p>
            <a:pPr algn="just"/>
            <a:r>
              <a:rPr lang="en-US" sz="3200" dirty="0"/>
              <a:t>producer–consumer problem </a:t>
            </a:r>
            <a:r>
              <a:rPr lang="en-US" sz="3200" dirty="0">
                <a:solidFill>
                  <a:srgbClr val="FF0000"/>
                </a:solidFill>
              </a:rPr>
              <a:t>uses shared memory</a:t>
            </a:r>
            <a:r>
              <a:rPr lang="en-US" sz="3200" dirty="0"/>
              <a:t>. To allow producer and consumer processes to run concurrently, </a:t>
            </a:r>
            <a:r>
              <a:rPr lang="en-US" sz="3200" dirty="0">
                <a:solidFill>
                  <a:srgbClr val="FF0000"/>
                </a:solidFill>
              </a:rPr>
              <a:t>we must have available a buffer of items </a:t>
            </a:r>
            <a:r>
              <a:rPr lang="en-US" sz="3200" dirty="0"/>
              <a:t>that can be filled by the producer and emptied by the consumer.</a:t>
            </a:r>
            <a:endParaRPr lang="en-US" sz="3200" dirty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r>
              <a:rPr lang="en-US" sz="3200" b="1" dirty="0">
                <a:solidFill>
                  <a:srgbClr val="0070C0"/>
                </a:solidFill>
              </a:rPr>
              <a:t>Two types of buffers </a:t>
            </a:r>
            <a:r>
              <a:rPr lang="en-US" sz="3200" dirty="0"/>
              <a:t>can be used</a:t>
            </a:r>
            <a:endParaRPr lang="en-US" sz="3200" dirty="0">
              <a:solidFill>
                <a:srgbClr val="FF0000"/>
              </a:solidFill>
            </a:endParaRPr>
          </a:p>
          <a:p>
            <a:pPr lvl="1" algn="just"/>
            <a:r>
              <a:rPr lang="en-US" sz="2600" i="1" dirty="0">
                <a:solidFill>
                  <a:srgbClr val="FF0000"/>
                </a:solidFill>
              </a:rPr>
              <a:t>unbounded-buffer</a:t>
            </a:r>
            <a:r>
              <a:rPr lang="en-US" sz="2400" dirty="0"/>
              <a:t> places no practical limit on the size of the buffer</a:t>
            </a:r>
          </a:p>
          <a:p>
            <a:pPr lvl="1" algn="just"/>
            <a:r>
              <a:rPr lang="en-US" sz="2600" i="1" dirty="0">
                <a:solidFill>
                  <a:srgbClr val="FF0000"/>
                </a:solidFill>
              </a:rPr>
              <a:t>bounded-buffer</a:t>
            </a:r>
            <a:r>
              <a:rPr lang="en-US" sz="2400" dirty="0"/>
              <a:t> assumes that there is a fixed buffer size</a:t>
            </a:r>
          </a:p>
        </p:txBody>
      </p:sp>
    </p:spTree>
    <p:extLst>
      <p:ext uri="{BB962C8B-B14F-4D97-AF65-F5344CB8AC3E}">
        <p14:creationId xmlns:p14="http://schemas.microsoft.com/office/powerpoint/2010/main" val="13546309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533400"/>
            <a:ext cx="8074025" cy="4064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3100" b="1" dirty="0">
                <a:solidFill>
                  <a:srgbClr val="7030A0"/>
                </a:solidFill>
              </a:rPr>
              <a:t>Bounded-Buffer</a:t>
            </a:r>
            <a:r>
              <a:rPr lang="en-US" sz="2667" dirty="0">
                <a:solidFill>
                  <a:srgbClr val="FF0000"/>
                </a:solidFill>
              </a:rPr>
              <a:t> – Shared-Memory Solution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1195917" y="1219200"/>
            <a:ext cx="7131050" cy="4689475"/>
          </a:xfrm>
        </p:spPr>
        <p:txBody>
          <a:bodyPr/>
          <a:lstStyle/>
          <a:p>
            <a:r>
              <a:rPr lang="en-US" sz="2400" dirty="0"/>
              <a:t>Shared data</a:t>
            </a:r>
          </a:p>
          <a:p>
            <a:pPr marL="1523018" lvl="3">
              <a:buNone/>
            </a:pPr>
            <a:r>
              <a:rPr lang="en-US" sz="2400" dirty="0"/>
              <a:t>#define BUFFER_SIZE 10</a:t>
            </a:r>
          </a:p>
          <a:p>
            <a:pPr marL="1523018" lvl="3">
              <a:buNone/>
            </a:pPr>
            <a:r>
              <a:rPr lang="en-US" sz="2400" dirty="0" err="1"/>
              <a:t>typedef</a:t>
            </a:r>
            <a:r>
              <a:rPr lang="en-US" sz="2400" dirty="0"/>
              <a:t> </a:t>
            </a:r>
            <a:r>
              <a:rPr lang="en-US" sz="2400" dirty="0" err="1"/>
              <a:t>struct</a:t>
            </a:r>
            <a:r>
              <a:rPr lang="en-US" sz="2400" dirty="0"/>
              <a:t> {</a:t>
            </a:r>
          </a:p>
          <a:p>
            <a:pPr marL="1523018" lvl="3">
              <a:buNone/>
            </a:pPr>
            <a:r>
              <a:rPr lang="en-US" sz="2400" dirty="0"/>
              <a:t>	. . .</a:t>
            </a:r>
          </a:p>
          <a:p>
            <a:pPr marL="1523018" lvl="3">
              <a:buNone/>
            </a:pPr>
            <a:r>
              <a:rPr lang="en-US" sz="2400" dirty="0"/>
              <a:t>} item;</a:t>
            </a:r>
          </a:p>
          <a:p>
            <a:pPr marL="1523018" lvl="3">
              <a:buNone/>
            </a:pPr>
            <a:endParaRPr lang="en-US" sz="900" dirty="0"/>
          </a:p>
          <a:p>
            <a:pPr marL="1523018" lvl="3">
              <a:buNone/>
            </a:pPr>
            <a:r>
              <a:rPr lang="en-US" sz="2400" dirty="0"/>
              <a:t>item buffer[BUFFER_SIZE];</a:t>
            </a:r>
          </a:p>
          <a:p>
            <a:pPr marL="1523018" lvl="3">
              <a:buNone/>
            </a:pPr>
            <a:r>
              <a:rPr lang="en-US" sz="2400" dirty="0" err="1"/>
              <a:t>int</a:t>
            </a:r>
            <a:r>
              <a:rPr lang="en-US" sz="2400" dirty="0"/>
              <a:t> in = 0;</a:t>
            </a:r>
          </a:p>
          <a:p>
            <a:pPr marL="1523018" lvl="3">
              <a:buNone/>
            </a:pPr>
            <a:r>
              <a:rPr lang="en-US" sz="2400" dirty="0" err="1"/>
              <a:t>int</a:t>
            </a:r>
            <a:r>
              <a:rPr lang="en-US" sz="2400" dirty="0"/>
              <a:t> out = 0;</a:t>
            </a:r>
          </a:p>
          <a:p>
            <a:pPr marL="1523018" lvl="3">
              <a:buNone/>
            </a:pPr>
            <a:endParaRPr lang="en-US" sz="900" dirty="0"/>
          </a:p>
          <a:p>
            <a:r>
              <a:rPr lang="en-US" sz="2400" dirty="0"/>
              <a:t>Can only use </a:t>
            </a:r>
            <a:r>
              <a:rPr lang="en-US" sz="2400" b="1" dirty="0">
                <a:solidFill>
                  <a:srgbClr val="7030A0"/>
                </a:solidFill>
              </a:rPr>
              <a:t>BUFFER_SIZE-1 elements</a:t>
            </a:r>
          </a:p>
          <a:p>
            <a:pPr marL="1523018" lvl="3">
              <a:buNone/>
            </a:pPr>
            <a:endParaRPr lang="en-US" sz="1933" b="1" dirty="0"/>
          </a:p>
        </p:txBody>
      </p:sp>
      <p:sp>
        <p:nvSpPr>
          <p:cNvPr id="2" name="Rectangle 1"/>
          <p:cNvSpPr/>
          <p:nvPr/>
        </p:nvSpPr>
        <p:spPr>
          <a:xfrm>
            <a:off x="533400" y="5486400"/>
            <a:ext cx="73152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PalatinoLTStd-Roman"/>
              </a:rPr>
              <a:t>The variable </a:t>
            </a:r>
            <a:r>
              <a:rPr lang="en-US" sz="2400" b="1" dirty="0">
                <a:solidFill>
                  <a:srgbClr val="7030A0"/>
                </a:solidFill>
                <a:latin typeface="CMTT10"/>
              </a:rPr>
              <a:t>in </a:t>
            </a:r>
            <a:r>
              <a:rPr lang="en-US" b="1" dirty="0">
                <a:solidFill>
                  <a:srgbClr val="7030A0"/>
                </a:solidFill>
                <a:latin typeface="PalatinoLTStd-Roman"/>
              </a:rPr>
              <a:t>points to the next free position </a:t>
            </a:r>
            <a:r>
              <a:rPr lang="en-US" dirty="0">
                <a:latin typeface="PalatinoLTStd-Roman"/>
              </a:rPr>
              <a:t>in the buffer; </a:t>
            </a:r>
            <a:r>
              <a:rPr lang="en-US" sz="2400" b="1" dirty="0">
                <a:solidFill>
                  <a:srgbClr val="7030A0"/>
                </a:solidFill>
                <a:latin typeface="CMTT10"/>
              </a:rPr>
              <a:t>out</a:t>
            </a:r>
          </a:p>
          <a:p>
            <a:r>
              <a:rPr lang="en-US" b="1" dirty="0">
                <a:solidFill>
                  <a:srgbClr val="7030A0"/>
                </a:solidFill>
                <a:latin typeface="PalatinoLTStd-Roman"/>
              </a:rPr>
              <a:t>points to the first full position in the buffer</a:t>
            </a:r>
            <a:r>
              <a:rPr lang="en-US" dirty="0">
                <a:latin typeface="PalatinoLTStd-Roman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67579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7569200" cy="512233"/>
          </a:xfrm>
        </p:spPr>
        <p:txBody>
          <a:bodyPr>
            <a:normAutofit/>
          </a:bodyPr>
          <a:lstStyle/>
          <a:p>
            <a:pPr eaLnBrk="1" hangingPunct="1"/>
            <a:r>
              <a:rPr lang="en-US" b="1" dirty="0">
                <a:solidFill>
                  <a:srgbClr val="7030A0"/>
                </a:solidFill>
              </a:rPr>
              <a:t>Bounded-Buffer – Producer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843493" y="1651000"/>
            <a:ext cx="7351183" cy="3984625"/>
          </a:xfrm>
        </p:spPr>
        <p:txBody>
          <a:bodyPr>
            <a:normAutofit/>
          </a:bodyPr>
          <a:lstStyle/>
          <a:p>
            <a:pPr>
              <a:buFont typeface="Monotype Sorts" charset="2"/>
              <a:buNone/>
            </a:pPr>
            <a:endParaRPr lang="en-US" sz="1933" dirty="0">
              <a:latin typeface="Monaco" charset="0"/>
            </a:endParaRPr>
          </a:p>
          <a:p>
            <a:pPr>
              <a:buFont typeface="Monotype Sorts" charset="2"/>
              <a:buNone/>
            </a:pPr>
            <a:r>
              <a:rPr lang="en-US" sz="1933" dirty="0">
                <a:latin typeface="Monaco" charset="0"/>
              </a:rPr>
              <a:t>	</a:t>
            </a:r>
          </a:p>
          <a:p>
            <a:pPr>
              <a:buFont typeface="Monotype Sorts" charset="2"/>
              <a:buNone/>
            </a:pPr>
            <a:endParaRPr lang="en-US" sz="1933" dirty="0"/>
          </a:p>
          <a:p>
            <a:pPr>
              <a:buFont typeface="Monotype Sorts" charset="2"/>
              <a:buNone/>
            </a:pPr>
            <a:r>
              <a:rPr lang="en-US" sz="1533" dirty="0"/>
              <a:t>	</a:t>
            </a:r>
          </a:p>
          <a:p>
            <a:pPr marL="6827650" lvl="4">
              <a:buNone/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75" y="987335"/>
            <a:ext cx="6638925" cy="411162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1000" y="5234682"/>
            <a:ext cx="814387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PalatinoLTStd-Roman"/>
              </a:rPr>
              <a:t>The buffer </a:t>
            </a:r>
            <a:r>
              <a:rPr lang="en-US" sz="2400" b="1" dirty="0">
                <a:solidFill>
                  <a:srgbClr val="7030A0"/>
                </a:solidFill>
                <a:latin typeface="PalatinoLTStd-Roman"/>
              </a:rPr>
              <a:t>is empty </a:t>
            </a:r>
            <a:r>
              <a:rPr lang="en-US" sz="2400" dirty="0">
                <a:latin typeface="PalatinoLTStd-Roman"/>
              </a:rPr>
              <a:t>when </a:t>
            </a:r>
            <a:r>
              <a:rPr lang="en-US" sz="3200" b="1" dirty="0">
                <a:solidFill>
                  <a:srgbClr val="7030A0"/>
                </a:solidFill>
                <a:latin typeface="CMTT10"/>
              </a:rPr>
              <a:t>in </a:t>
            </a:r>
            <a:r>
              <a:rPr lang="en-US" sz="2400" b="1" dirty="0">
                <a:solidFill>
                  <a:srgbClr val="7030A0"/>
                </a:solidFill>
                <a:latin typeface="PalatinoLTStd-Roman"/>
              </a:rPr>
              <a:t>== </a:t>
            </a:r>
            <a:r>
              <a:rPr lang="en-US" sz="3200" b="1" dirty="0">
                <a:solidFill>
                  <a:srgbClr val="7030A0"/>
                </a:solidFill>
                <a:latin typeface="CMTT10"/>
              </a:rPr>
              <a:t>out</a:t>
            </a:r>
            <a:r>
              <a:rPr lang="en-US" sz="2400" dirty="0">
                <a:latin typeface="PalatinoLTStd-Roman"/>
              </a:rPr>
              <a:t>; </a:t>
            </a:r>
          </a:p>
          <a:p>
            <a:r>
              <a:rPr lang="en-US" sz="2400" dirty="0">
                <a:latin typeface="PalatinoLTStd-Roman"/>
              </a:rPr>
              <a:t>the buffer </a:t>
            </a:r>
            <a:r>
              <a:rPr lang="en-US" sz="2400" b="1" dirty="0">
                <a:solidFill>
                  <a:srgbClr val="7030A0"/>
                </a:solidFill>
                <a:latin typeface="PalatinoLTStd-Roman"/>
              </a:rPr>
              <a:t>is full </a:t>
            </a:r>
            <a:r>
              <a:rPr lang="en-US" sz="2400" dirty="0">
                <a:latin typeface="PalatinoLTStd-Roman"/>
              </a:rPr>
              <a:t>when </a:t>
            </a:r>
            <a:r>
              <a:rPr lang="en-US" sz="2000" b="1" dirty="0">
                <a:solidFill>
                  <a:srgbClr val="7030A0"/>
                </a:solidFill>
                <a:latin typeface="PalatinoLTStd-Roman"/>
              </a:rPr>
              <a:t>((</a:t>
            </a:r>
            <a:r>
              <a:rPr lang="en-US" sz="2800" b="1" dirty="0">
                <a:solidFill>
                  <a:srgbClr val="7030A0"/>
                </a:solidFill>
                <a:latin typeface="CMTT10"/>
              </a:rPr>
              <a:t>in </a:t>
            </a:r>
            <a:r>
              <a:rPr lang="en-US" sz="2000" b="1" dirty="0">
                <a:solidFill>
                  <a:srgbClr val="7030A0"/>
                </a:solidFill>
                <a:latin typeface="PalatinoLTStd-Roman"/>
              </a:rPr>
              <a:t>+ 1) </a:t>
            </a:r>
            <a:r>
              <a:rPr lang="en-US" sz="2000" b="1" dirty="0">
                <a:solidFill>
                  <a:srgbClr val="7030A0"/>
                </a:solidFill>
                <a:latin typeface="CMTT10"/>
              </a:rPr>
              <a:t>% BUFFER SIZE</a:t>
            </a:r>
            <a:r>
              <a:rPr lang="en-US" sz="2000" b="1" dirty="0">
                <a:solidFill>
                  <a:srgbClr val="7030A0"/>
                </a:solidFill>
                <a:latin typeface="PalatinoLTStd-Roman"/>
              </a:rPr>
              <a:t>) == </a:t>
            </a:r>
            <a:r>
              <a:rPr lang="en-US" sz="2800" b="1" dirty="0">
                <a:solidFill>
                  <a:srgbClr val="7030A0"/>
                </a:solidFill>
                <a:latin typeface="CMTT10"/>
              </a:rPr>
              <a:t>out</a:t>
            </a:r>
            <a:endParaRPr lang="en-US" sz="24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05216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304800"/>
            <a:ext cx="7467600" cy="3349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Bounded Buffer – Consumer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>
          <a:xfrm>
            <a:off x="1809750" y="1714500"/>
            <a:ext cx="6158442" cy="3921125"/>
          </a:xfrm>
        </p:spPr>
        <p:txBody>
          <a:bodyPr/>
          <a:lstStyle/>
          <a:p>
            <a:pPr>
              <a:buFont typeface="Monotype Sorts" charset="2"/>
              <a:buNone/>
            </a:pPr>
            <a:r>
              <a:rPr lang="en-US" dirty="0">
                <a:latin typeface="Monaco" charset="0"/>
              </a:rPr>
              <a:t>	</a:t>
            </a:r>
            <a:endParaRPr lang="en-US" sz="1933" dirty="0">
              <a:latin typeface="Monaco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274" y="838200"/>
            <a:ext cx="7672917" cy="437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1915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539221" y="304800"/>
            <a:ext cx="8229600" cy="51223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2400" dirty="0" err="1">
                <a:solidFill>
                  <a:srgbClr val="FF0000"/>
                </a:solidFill>
              </a:rPr>
              <a:t>Interprocess</a:t>
            </a:r>
            <a:r>
              <a:rPr lang="en-US" sz="2400" dirty="0">
                <a:solidFill>
                  <a:srgbClr val="FF0000"/>
                </a:solidFill>
              </a:rPr>
              <a:t> Communication – </a:t>
            </a:r>
            <a:br>
              <a:rPr lang="en-US" sz="2400" dirty="0">
                <a:solidFill>
                  <a:srgbClr val="FF0000"/>
                </a:solidFill>
              </a:rPr>
            </a:br>
            <a:r>
              <a:rPr lang="en-US" sz="2400" b="1" dirty="0">
                <a:solidFill>
                  <a:srgbClr val="7030A0"/>
                </a:solidFill>
              </a:rPr>
              <a:t>Message Passing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836083"/>
            <a:ext cx="8305800" cy="5793317"/>
          </a:xfrm>
        </p:spPr>
        <p:txBody>
          <a:bodyPr>
            <a:noAutofit/>
          </a:bodyPr>
          <a:lstStyle/>
          <a:p>
            <a:pPr algn="just">
              <a:lnSpc>
                <a:spcPct val="90000"/>
              </a:lnSpc>
            </a:pPr>
            <a:r>
              <a:rPr lang="en-US" sz="2400" dirty="0"/>
              <a:t>Mechanism for processes to communicate and to synchronize their actions</a:t>
            </a:r>
          </a:p>
          <a:p>
            <a:pPr algn="just">
              <a:lnSpc>
                <a:spcPct val="90000"/>
              </a:lnSpc>
            </a:pPr>
            <a:r>
              <a:rPr lang="en-US" sz="2400" dirty="0"/>
              <a:t>Message system – processes communicate with each other without resorting to shared variables</a:t>
            </a:r>
          </a:p>
          <a:p>
            <a:pPr algn="just">
              <a:lnSpc>
                <a:spcPct val="90000"/>
              </a:lnSpc>
            </a:pPr>
            <a:r>
              <a:rPr lang="en-US" sz="2400" dirty="0"/>
              <a:t>IPC facility provides two operations:</a:t>
            </a:r>
          </a:p>
          <a:p>
            <a:pPr lvl="1" algn="just">
              <a:lnSpc>
                <a:spcPct val="90000"/>
              </a:lnSpc>
            </a:pPr>
            <a:r>
              <a:rPr lang="en-US" sz="2400" b="1" dirty="0">
                <a:solidFill>
                  <a:srgbClr val="7030A0"/>
                </a:solidFill>
              </a:rPr>
              <a:t>send(</a:t>
            </a:r>
            <a:r>
              <a:rPr lang="en-US" sz="2400" b="1" i="1" dirty="0">
                <a:solidFill>
                  <a:srgbClr val="7030A0"/>
                </a:solidFill>
              </a:rPr>
              <a:t>message</a:t>
            </a:r>
            <a:r>
              <a:rPr lang="en-US" sz="2400" b="1" dirty="0">
                <a:solidFill>
                  <a:srgbClr val="7030A0"/>
                </a:solidFill>
              </a:rPr>
              <a:t>)</a:t>
            </a:r>
            <a:r>
              <a:rPr lang="en-US" sz="2400" dirty="0">
                <a:solidFill>
                  <a:srgbClr val="7030A0"/>
                </a:solidFill>
              </a:rPr>
              <a:t> </a:t>
            </a:r>
            <a:r>
              <a:rPr lang="en-US" sz="2400" dirty="0"/>
              <a:t>– message size fixed or variable </a:t>
            </a:r>
          </a:p>
          <a:p>
            <a:pPr lvl="1" algn="just">
              <a:lnSpc>
                <a:spcPct val="90000"/>
              </a:lnSpc>
            </a:pPr>
            <a:r>
              <a:rPr lang="en-US" sz="2400" b="1" dirty="0">
                <a:solidFill>
                  <a:srgbClr val="7030A0"/>
                </a:solidFill>
              </a:rPr>
              <a:t>receive(</a:t>
            </a:r>
            <a:r>
              <a:rPr lang="en-US" sz="2400" b="1" i="1" dirty="0">
                <a:solidFill>
                  <a:srgbClr val="7030A0"/>
                </a:solidFill>
              </a:rPr>
              <a:t>message</a:t>
            </a:r>
            <a:r>
              <a:rPr lang="en-US" sz="2400" b="1" dirty="0">
                <a:solidFill>
                  <a:srgbClr val="7030A0"/>
                </a:solidFill>
              </a:rPr>
              <a:t>)</a:t>
            </a:r>
          </a:p>
          <a:p>
            <a:pPr algn="just">
              <a:lnSpc>
                <a:spcPct val="90000"/>
              </a:lnSpc>
            </a:pPr>
            <a:r>
              <a:rPr lang="en-US" sz="2400" dirty="0"/>
              <a:t>If </a:t>
            </a:r>
            <a:r>
              <a:rPr lang="en-US" sz="2400" i="1" dirty="0"/>
              <a:t>P</a:t>
            </a:r>
            <a:r>
              <a:rPr lang="en-US" sz="2400" dirty="0"/>
              <a:t> and </a:t>
            </a:r>
            <a:r>
              <a:rPr lang="en-US" sz="2400" i="1" dirty="0"/>
              <a:t>Q</a:t>
            </a:r>
            <a:r>
              <a:rPr lang="en-US" sz="2400" dirty="0"/>
              <a:t> wish to communicate, they need to:</a:t>
            </a:r>
          </a:p>
          <a:p>
            <a:pPr lvl="1" algn="just">
              <a:lnSpc>
                <a:spcPct val="90000"/>
              </a:lnSpc>
            </a:pPr>
            <a:r>
              <a:rPr lang="en-US" sz="2400" b="1" dirty="0">
                <a:solidFill>
                  <a:srgbClr val="7030A0"/>
                </a:solidFill>
              </a:rPr>
              <a:t>establish a </a:t>
            </a:r>
            <a:r>
              <a:rPr lang="en-US" sz="2400" b="1" i="1" dirty="0">
                <a:solidFill>
                  <a:srgbClr val="7030A0"/>
                </a:solidFill>
              </a:rPr>
              <a:t>communication</a:t>
            </a:r>
            <a:r>
              <a:rPr lang="en-US" sz="2400" b="1" dirty="0">
                <a:solidFill>
                  <a:srgbClr val="7030A0"/>
                </a:solidFill>
              </a:rPr>
              <a:t> </a:t>
            </a:r>
            <a:r>
              <a:rPr lang="en-US" sz="2400" b="1" i="1" dirty="0">
                <a:solidFill>
                  <a:srgbClr val="7030A0"/>
                </a:solidFill>
              </a:rPr>
              <a:t>link</a:t>
            </a:r>
            <a:r>
              <a:rPr lang="en-US" sz="2400" b="1" dirty="0">
                <a:solidFill>
                  <a:srgbClr val="7030A0"/>
                </a:solidFill>
              </a:rPr>
              <a:t> between them</a:t>
            </a:r>
          </a:p>
          <a:p>
            <a:pPr lvl="1" algn="just">
              <a:lnSpc>
                <a:spcPct val="90000"/>
              </a:lnSpc>
            </a:pPr>
            <a:r>
              <a:rPr lang="en-US" sz="2400" b="1" dirty="0">
                <a:solidFill>
                  <a:srgbClr val="7030A0"/>
                </a:solidFill>
              </a:rPr>
              <a:t>exchange messages via send/receive</a:t>
            </a:r>
          </a:p>
          <a:p>
            <a:pPr algn="just">
              <a:lnSpc>
                <a:spcPct val="90000"/>
              </a:lnSpc>
            </a:pPr>
            <a:r>
              <a:rPr lang="en-US" sz="2400" dirty="0"/>
              <a:t>Implementation of communication link</a:t>
            </a:r>
          </a:p>
          <a:p>
            <a:pPr marL="800100" indent="-800100">
              <a:buNone/>
            </a:pPr>
            <a:r>
              <a:rPr lang="en-US" dirty="0"/>
              <a:t> • </a:t>
            </a:r>
            <a:r>
              <a:rPr lang="en-US" b="1" dirty="0">
                <a:solidFill>
                  <a:srgbClr val="7030A0"/>
                </a:solidFill>
              </a:rPr>
              <a:t>Direct or indirect communication (</a:t>
            </a:r>
            <a:r>
              <a:rPr lang="en-US" b="1" dirty="0">
                <a:solidFill>
                  <a:srgbClr val="00B0F0"/>
                </a:solidFill>
              </a:rPr>
              <a:t>Naming</a:t>
            </a:r>
            <a:r>
              <a:rPr lang="en-US" b="1" dirty="0">
                <a:solidFill>
                  <a:srgbClr val="7030A0"/>
                </a:solidFill>
              </a:rPr>
              <a:t>)</a:t>
            </a:r>
          </a:p>
          <a:p>
            <a:pPr marL="800100" indent="-800100">
              <a:buNone/>
            </a:pPr>
            <a:r>
              <a:rPr lang="en-US" sz="2800" b="1" dirty="0">
                <a:solidFill>
                  <a:srgbClr val="7030A0"/>
                </a:solidFill>
              </a:rPr>
              <a:t>• </a:t>
            </a:r>
            <a:r>
              <a:rPr lang="en-US" b="1" dirty="0">
                <a:solidFill>
                  <a:srgbClr val="7030A0"/>
                </a:solidFill>
              </a:rPr>
              <a:t>Synchronous or asynchronous communication (</a:t>
            </a:r>
            <a:r>
              <a:rPr lang="en-US" b="1" dirty="0">
                <a:solidFill>
                  <a:srgbClr val="00B0F0"/>
                </a:solidFill>
              </a:rPr>
              <a:t>Synchronization</a:t>
            </a:r>
            <a:r>
              <a:rPr lang="en-US" b="1" dirty="0">
                <a:solidFill>
                  <a:srgbClr val="7030A0"/>
                </a:solidFill>
              </a:rPr>
              <a:t>)</a:t>
            </a:r>
          </a:p>
          <a:p>
            <a:pPr marL="800100" indent="-800100">
              <a:buNone/>
            </a:pPr>
            <a:r>
              <a:rPr lang="en-US" sz="2800" b="1" dirty="0">
                <a:solidFill>
                  <a:srgbClr val="7030A0"/>
                </a:solidFill>
              </a:rPr>
              <a:t>• </a:t>
            </a:r>
            <a:r>
              <a:rPr lang="en-US" b="1" dirty="0">
                <a:solidFill>
                  <a:srgbClr val="7030A0"/>
                </a:solidFill>
              </a:rPr>
              <a:t>Automatic or explicit buffering  (</a:t>
            </a:r>
            <a:r>
              <a:rPr lang="en-US" b="1" dirty="0">
                <a:solidFill>
                  <a:srgbClr val="00B0F0"/>
                </a:solidFill>
              </a:rPr>
              <a:t>Buffering</a:t>
            </a:r>
            <a:r>
              <a:rPr lang="en-US" b="1" dirty="0">
                <a:solidFill>
                  <a:srgbClr val="7030A0"/>
                </a:solidFill>
              </a:rPr>
              <a:t>)</a:t>
            </a:r>
            <a:endParaRPr lang="en-US" sz="48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62215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307848"/>
            <a:ext cx="8153400" cy="487375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IPC: Naming</a:t>
            </a:r>
          </a:p>
          <a:p>
            <a:pPr algn="just"/>
            <a:r>
              <a:rPr lang="en-US" sz="2000" dirty="0"/>
              <a:t>Processes that want to communicate must have a way to refer to each other.</a:t>
            </a:r>
          </a:p>
          <a:p>
            <a:pPr algn="just"/>
            <a:r>
              <a:rPr lang="en-US" sz="2000" b="1" dirty="0">
                <a:solidFill>
                  <a:srgbClr val="00B0F0"/>
                </a:solidFill>
              </a:rPr>
              <a:t>They can use either direct or indirect communication.</a:t>
            </a:r>
          </a:p>
          <a:p>
            <a:pPr algn="just"/>
            <a:r>
              <a:rPr lang="en-US" sz="2000" b="1" dirty="0">
                <a:solidFill>
                  <a:srgbClr val="00B0F0"/>
                </a:solidFill>
              </a:rPr>
              <a:t>Under </a:t>
            </a:r>
            <a:r>
              <a:rPr lang="en-US" sz="2000" b="1" dirty="0">
                <a:solidFill>
                  <a:srgbClr val="FF0000"/>
                </a:solidFill>
              </a:rPr>
              <a:t>direct communication</a:t>
            </a:r>
            <a:r>
              <a:rPr lang="en-US" sz="2000" b="1" dirty="0">
                <a:solidFill>
                  <a:srgbClr val="00B0F0"/>
                </a:solidFill>
              </a:rPr>
              <a:t>, each process that wants to communicate </a:t>
            </a:r>
            <a:r>
              <a:rPr lang="en-US" sz="2000" b="1" dirty="0">
                <a:solidFill>
                  <a:srgbClr val="FF0000"/>
                </a:solidFill>
              </a:rPr>
              <a:t>must explicitly name the recipient or sender</a:t>
            </a:r>
            <a:r>
              <a:rPr lang="en-US" sz="2000" b="1" dirty="0">
                <a:solidFill>
                  <a:srgbClr val="00B0F0"/>
                </a:solidFill>
              </a:rPr>
              <a:t> of the communication.</a:t>
            </a:r>
          </a:p>
          <a:p>
            <a:pPr algn="just"/>
            <a:r>
              <a:rPr lang="en-US" sz="2000" b="1" dirty="0">
                <a:solidFill>
                  <a:srgbClr val="00B0F0"/>
                </a:solidFill>
              </a:rPr>
              <a:t> </a:t>
            </a:r>
            <a:r>
              <a:rPr lang="en-US" sz="2000" dirty="0"/>
              <a:t>In this scheme, the </a:t>
            </a:r>
            <a:r>
              <a:rPr lang="en-US" sz="2000" b="1" dirty="0">
                <a:solidFill>
                  <a:srgbClr val="00B0F0"/>
                </a:solidFill>
              </a:rPr>
              <a:t>send() and receive() primitives </a:t>
            </a:r>
            <a:r>
              <a:rPr lang="en-US" sz="2000" dirty="0"/>
              <a:t>are defined as: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0"/>
            <a:ext cx="73152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2031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228600"/>
            <a:ext cx="8229600" cy="6248400"/>
          </a:xfrm>
        </p:spPr>
        <p:txBody>
          <a:bodyPr>
            <a:normAutofit fontScale="92500" lnSpcReduction="10000"/>
          </a:bodyPr>
          <a:lstStyle/>
          <a:p>
            <a:r>
              <a:rPr lang="en-US" b="1" i="1" dirty="0">
                <a:solidFill>
                  <a:srgbClr val="FF0000"/>
                </a:solidFill>
              </a:rPr>
              <a:t>Indirect communication</a:t>
            </a:r>
            <a:r>
              <a:rPr lang="en-US" dirty="0"/>
              <a:t>, the messages are sent to and received from </a:t>
            </a:r>
            <a:r>
              <a:rPr lang="en-US" b="1" i="1" dirty="0">
                <a:solidFill>
                  <a:srgbClr val="FF0000"/>
                </a:solidFill>
              </a:rPr>
              <a:t>mailboxes</a:t>
            </a:r>
            <a:r>
              <a:rPr lang="en-US" dirty="0"/>
              <a:t>, or </a:t>
            </a:r>
            <a:r>
              <a:rPr lang="en-US" b="1" i="1" dirty="0"/>
              <a:t>ports</a:t>
            </a:r>
            <a:r>
              <a:rPr lang="en-US" dirty="0"/>
              <a:t>.</a:t>
            </a:r>
          </a:p>
          <a:p>
            <a:r>
              <a:rPr lang="en-US" dirty="0"/>
              <a:t>A process can communicate with another process via a number of different mailboxes, but two processes can communicate only if they have a shared mailbox. </a:t>
            </a:r>
          </a:p>
          <a:p>
            <a:r>
              <a:rPr lang="en-US" dirty="0"/>
              <a:t>The </a:t>
            </a:r>
            <a:r>
              <a:rPr lang="en-US" b="1" dirty="0">
                <a:solidFill>
                  <a:srgbClr val="00B0F0"/>
                </a:solidFill>
              </a:rPr>
              <a:t>send() and receive() primitives </a:t>
            </a:r>
            <a:r>
              <a:rPr lang="en-US" dirty="0"/>
              <a:t>are defined as follows: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 mailbox may be </a:t>
            </a:r>
            <a:r>
              <a:rPr lang="en-US" b="1" dirty="0">
                <a:solidFill>
                  <a:srgbClr val="00B0F0"/>
                </a:solidFill>
              </a:rPr>
              <a:t>owned either by a process </a:t>
            </a:r>
            <a:r>
              <a:rPr lang="en-US" dirty="0"/>
              <a:t>or </a:t>
            </a:r>
            <a:r>
              <a:rPr lang="en-US" b="1" dirty="0">
                <a:solidFill>
                  <a:srgbClr val="00B0F0"/>
                </a:solidFill>
              </a:rPr>
              <a:t>by the operating system.</a:t>
            </a:r>
          </a:p>
          <a:p>
            <a:r>
              <a:rPr lang="en-US" dirty="0"/>
              <a:t>When a process that owns a mailbox terminates, the mailbox disappears. </a:t>
            </a:r>
          </a:p>
          <a:p>
            <a:pPr algn="just"/>
            <a:r>
              <a:rPr lang="en-US" dirty="0"/>
              <a:t>A mailbox that is owned by the operating system has an existence of its own. The operating system then must provide a mechanism that allows a process to do the following: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00B0F0"/>
                </a:solidFill>
              </a:rPr>
              <a:t>•</a:t>
            </a:r>
            <a:r>
              <a:rPr lang="en-US" dirty="0"/>
              <a:t> </a:t>
            </a:r>
            <a:r>
              <a:rPr lang="en-US" b="1" dirty="0">
                <a:solidFill>
                  <a:srgbClr val="00B0F0"/>
                </a:solidFill>
              </a:rPr>
              <a:t>Create a new mailbox.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B0F0"/>
                </a:solidFill>
              </a:rPr>
              <a:t>	• Send and receive messages through the mailbox.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B0F0"/>
                </a:solidFill>
              </a:rPr>
              <a:t>	• Delete a mailbox.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981200"/>
            <a:ext cx="7010400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0770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57200"/>
            <a:ext cx="7467600" cy="334962"/>
          </a:xfrm>
        </p:spPr>
        <p:txBody>
          <a:bodyPr>
            <a:noAutofit/>
          </a:bodyPr>
          <a:lstStyle/>
          <a:p>
            <a:pPr eaLnBrk="1" hangingPunct="1"/>
            <a:r>
              <a:rPr lang="en-US" sz="2800" b="1" dirty="0">
                <a:solidFill>
                  <a:srgbClr val="00B0F0"/>
                </a:solidFill>
              </a:rPr>
              <a:t>IPC: Synchronization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143000"/>
            <a:ext cx="7924800" cy="4026959"/>
          </a:xfrm>
        </p:spPr>
        <p:txBody>
          <a:bodyPr>
            <a:noAutofit/>
          </a:bodyPr>
          <a:lstStyle/>
          <a:p>
            <a:pPr marL="361968" indent="-361968"/>
            <a:r>
              <a:rPr lang="en-US" sz="2400" dirty="0"/>
              <a:t>Message passing may be either </a:t>
            </a:r>
            <a:r>
              <a:rPr lang="en-US" sz="2400" dirty="0">
                <a:solidFill>
                  <a:srgbClr val="FF0000"/>
                </a:solidFill>
              </a:rPr>
              <a:t>blocking (Synchronous) or non-blocking (Asynchronous)</a:t>
            </a:r>
          </a:p>
          <a:p>
            <a:pPr marL="361968" indent="-361968"/>
            <a:endParaRPr lang="en-US" sz="2400" dirty="0"/>
          </a:p>
          <a:p>
            <a:pPr marL="361968" indent="-361968"/>
            <a:r>
              <a:rPr lang="en-US" sz="2400" b="1" dirty="0"/>
              <a:t>Blocking</a:t>
            </a:r>
            <a:r>
              <a:rPr lang="en-US" sz="2400" dirty="0"/>
              <a:t> is considered </a:t>
            </a:r>
            <a:r>
              <a:rPr lang="en-US" sz="2400" b="1" dirty="0"/>
              <a:t>synchronous</a:t>
            </a:r>
          </a:p>
          <a:p>
            <a:pPr marL="760980" lvl="1" indent="-325983"/>
            <a:r>
              <a:rPr lang="en-US" sz="1800" b="1" dirty="0"/>
              <a:t>Blocking send </a:t>
            </a:r>
            <a:r>
              <a:rPr lang="en-US" sz="1800" dirty="0"/>
              <a:t>has the sender block until the message is received</a:t>
            </a:r>
          </a:p>
          <a:p>
            <a:pPr marL="760980" lvl="1" indent="-325983"/>
            <a:r>
              <a:rPr lang="en-US" sz="1800" b="1" dirty="0"/>
              <a:t>Blocking receive </a:t>
            </a:r>
            <a:r>
              <a:rPr lang="en-US" sz="1800" dirty="0"/>
              <a:t>has the receiver block until a message is available</a:t>
            </a:r>
          </a:p>
          <a:p>
            <a:pPr marL="760980" lvl="1" indent="-325983"/>
            <a:endParaRPr lang="en-US" sz="1800" dirty="0"/>
          </a:p>
          <a:p>
            <a:pPr marL="361968" indent="-361968"/>
            <a:r>
              <a:rPr lang="en-US" sz="2400" b="1" dirty="0"/>
              <a:t>Non-blocking</a:t>
            </a:r>
            <a:r>
              <a:rPr lang="en-US" sz="2400" dirty="0"/>
              <a:t> is considered </a:t>
            </a:r>
            <a:r>
              <a:rPr lang="en-US" sz="2400" b="1" dirty="0"/>
              <a:t>asynchronous</a:t>
            </a:r>
          </a:p>
          <a:p>
            <a:pPr marL="760980" lvl="1" indent="-325983"/>
            <a:r>
              <a:rPr lang="en-US" sz="1800" b="1" dirty="0"/>
              <a:t>Non-blocking </a:t>
            </a:r>
            <a:r>
              <a:rPr lang="en-US" sz="1800" dirty="0"/>
              <a:t>send has the sender send the message and continue</a:t>
            </a:r>
          </a:p>
          <a:p>
            <a:pPr marL="760980" lvl="1" indent="-325983"/>
            <a:r>
              <a:rPr lang="en-US" sz="1800" b="1" dirty="0"/>
              <a:t>Non-blocking </a:t>
            </a:r>
            <a:r>
              <a:rPr lang="en-US" sz="1800" dirty="0"/>
              <a:t>receive has the receiver receive a valid message or null</a:t>
            </a:r>
          </a:p>
        </p:txBody>
      </p:sp>
    </p:spTree>
    <p:extLst>
      <p:ext uri="{BB962C8B-B14F-4D97-AF65-F5344CB8AC3E}">
        <p14:creationId xmlns:p14="http://schemas.microsoft.com/office/powerpoint/2010/main" val="13169943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467600" cy="487362"/>
          </a:xfrm>
        </p:spPr>
        <p:txBody>
          <a:bodyPr/>
          <a:lstStyle/>
          <a:p>
            <a:pPr eaLnBrk="1" hangingPunct="1"/>
            <a:r>
              <a:rPr lang="en-US" b="1" dirty="0">
                <a:solidFill>
                  <a:srgbClr val="00B0F0"/>
                </a:solidFill>
              </a:rPr>
              <a:t>IPC: Buffering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>
          <a:xfrm>
            <a:off x="806450" y="1477433"/>
            <a:ext cx="7526867" cy="4026959"/>
          </a:xfrm>
        </p:spPr>
        <p:txBody>
          <a:bodyPr>
            <a:noAutofit/>
          </a:bodyPr>
          <a:lstStyle/>
          <a:p>
            <a:r>
              <a:rPr lang="en-US" sz="2800" dirty="0"/>
              <a:t>Queue of messages attached to the link; implemented in one of </a:t>
            </a:r>
            <a:r>
              <a:rPr lang="en-US" sz="2800" b="1" dirty="0">
                <a:solidFill>
                  <a:srgbClr val="00B0F0"/>
                </a:solidFill>
              </a:rPr>
              <a:t>three ways</a:t>
            </a:r>
          </a:p>
          <a:p>
            <a:endParaRPr lang="en-US" sz="2800" dirty="0"/>
          </a:p>
          <a:p>
            <a:pPr marL="731520" lvl="1" indent="-457200">
              <a:buFont typeface="Monotype Sorts" charset="2"/>
              <a:buAutoNum type="arabicPeriod"/>
            </a:pPr>
            <a:r>
              <a:rPr lang="en-US" sz="2400" dirty="0">
                <a:solidFill>
                  <a:srgbClr val="00B0F0"/>
                </a:solidFill>
              </a:rPr>
              <a:t>Zero capacity </a:t>
            </a:r>
            <a:r>
              <a:rPr lang="en-US" sz="2400" dirty="0"/>
              <a:t>– 0 messages</a:t>
            </a:r>
            <a:br>
              <a:rPr lang="en-US" sz="2400" dirty="0"/>
            </a:br>
            <a:r>
              <a:rPr lang="en-US" sz="2400" dirty="0"/>
              <a:t>Sender must wait for receiver </a:t>
            </a:r>
          </a:p>
          <a:p>
            <a:pPr marL="731520" lvl="1" indent="-457200">
              <a:buFont typeface="Monotype Sorts" charset="2"/>
              <a:buAutoNum type="arabicPeriod"/>
            </a:pPr>
            <a:r>
              <a:rPr lang="en-US" sz="2400" dirty="0">
                <a:solidFill>
                  <a:srgbClr val="00B0F0"/>
                </a:solidFill>
              </a:rPr>
              <a:t>Bounded capacity </a:t>
            </a:r>
            <a:r>
              <a:rPr lang="en-US" sz="2400" dirty="0"/>
              <a:t>– finite length of </a:t>
            </a:r>
            <a:r>
              <a:rPr lang="en-US" sz="2400" i="1" dirty="0"/>
              <a:t>n</a:t>
            </a:r>
            <a:r>
              <a:rPr lang="en-US" sz="2400" dirty="0"/>
              <a:t> messages</a:t>
            </a:r>
            <a:br>
              <a:rPr lang="en-US" sz="2400" dirty="0"/>
            </a:br>
            <a:r>
              <a:rPr lang="en-US" sz="2400" dirty="0"/>
              <a:t>Sender must wait if link full</a:t>
            </a:r>
          </a:p>
          <a:p>
            <a:pPr lvl="1">
              <a:buFont typeface="Monotype Sorts" charset="2"/>
              <a:buNone/>
            </a:pPr>
            <a:r>
              <a:rPr lang="en-US" sz="2400" dirty="0">
                <a:solidFill>
                  <a:srgbClr val="CC6600"/>
                </a:solidFill>
              </a:rPr>
              <a:t>3.</a:t>
            </a:r>
            <a:r>
              <a:rPr lang="en-US" sz="2400" dirty="0"/>
              <a:t>	</a:t>
            </a:r>
            <a:r>
              <a:rPr lang="en-US" sz="2400" dirty="0">
                <a:solidFill>
                  <a:srgbClr val="00B0F0"/>
                </a:solidFill>
              </a:rPr>
              <a:t>Unbounded capacity </a:t>
            </a:r>
            <a:r>
              <a:rPr lang="en-US" sz="2400" dirty="0"/>
              <a:t>– infinite length </a:t>
            </a:r>
            <a:br>
              <a:rPr lang="en-US" sz="2400" dirty="0"/>
            </a:br>
            <a:r>
              <a:rPr lang="en-US" sz="2400" dirty="0"/>
              <a:t>Sender never waits</a:t>
            </a:r>
          </a:p>
        </p:txBody>
      </p:sp>
    </p:spTree>
    <p:extLst>
      <p:ext uri="{BB962C8B-B14F-4D97-AF65-F5344CB8AC3E}">
        <p14:creationId xmlns:p14="http://schemas.microsoft.com/office/powerpoint/2010/main" val="36240473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981200"/>
            <a:ext cx="5410200" cy="1143000"/>
          </a:xfrm>
        </p:spPr>
        <p:txBody>
          <a:bodyPr/>
          <a:lstStyle/>
          <a:p>
            <a:r>
              <a:rPr lang="en-US" sz="2800" b="1" dirty="0"/>
              <a:t>RACE CONDITION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0862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7924800" cy="6095999"/>
          </a:xfrm>
        </p:spPr>
        <p:txBody>
          <a:bodyPr>
            <a:normAutofit/>
          </a:bodyPr>
          <a:lstStyle/>
          <a:p>
            <a:endParaRPr lang="en-US" dirty="0"/>
          </a:p>
          <a:p>
            <a:pPr algn="just"/>
            <a:r>
              <a:rPr lang="en-US" sz="2400" b="1" dirty="0"/>
              <a:t>Race condition: </a:t>
            </a:r>
            <a:r>
              <a:rPr lang="en-US" sz="2400" dirty="0"/>
              <a:t>The situation where several processes access – and manipulate shared data concurrently. The final value of the shared data depends upon which process finishes last. 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b="1" dirty="0">
                <a:solidFill>
                  <a:srgbClr val="00B0F0"/>
                </a:solidFill>
              </a:rPr>
              <a:t>To prevent race conditions, concurrent processes must be synchronized. </a:t>
            </a:r>
          </a:p>
          <a:p>
            <a:pPr marL="0" indent="0" algn="just">
              <a:buNone/>
            </a:pPr>
            <a:r>
              <a:rPr lang="en-US" sz="2400" b="1" dirty="0"/>
              <a:t>Example: </a:t>
            </a:r>
            <a:endParaRPr lang="en-US" sz="2400" dirty="0"/>
          </a:p>
          <a:p>
            <a:pPr algn="just"/>
            <a:r>
              <a:rPr lang="en-US" sz="2400" dirty="0"/>
              <a:t>Consider the bounded buffer problem , where an integer variable </a:t>
            </a:r>
            <a:r>
              <a:rPr lang="en-US" sz="2400" b="1" dirty="0"/>
              <a:t>counter</a:t>
            </a:r>
            <a:r>
              <a:rPr lang="en-US" sz="2400" dirty="0"/>
              <a:t>, initialized to 0 is added . </a:t>
            </a:r>
            <a:r>
              <a:rPr lang="en-US" sz="2400" b="1" dirty="0"/>
              <a:t>counter </a:t>
            </a:r>
            <a:r>
              <a:rPr lang="en-US" sz="2400" dirty="0"/>
              <a:t>is incremented every time we add a new item to the buffer and is decremented every time we remove one item from the buffer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4818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"/>
            <a:ext cx="7467600" cy="419100"/>
          </a:xfrm>
        </p:spPr>
        <p:txBody>
          <a:bodyPr>
            <a:no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Concurrent Execution - </a:t>
            </a:r>
            <a:r>
              <a:rPr lang="en-US" sz="2800" b="1" dirty="0">
                <a:solidFill>
                  <a:srgbClr val="0070C0"/>
                </a:solidFill>
              </a:rPr>
              <a:t>Race Condition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3427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609600"/>
            <a:ext cx="8458200" cy="6172200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Concurrent execution </a:t>
            </a:r>
            <a:r>
              <a:rPr lang="en-US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has to give the same results as serial execution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 Concurrent execution with shared data leads us to speak about </a:t>
            </a:r>
            <a:r>
              <a:rPr lang="en-US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synchronization.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To get data consistency we should have mechanism to </a:t>
            </a:r>
            <a:r>
              <a:rPr lang="en-US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avoid data inconsistency problem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Synchronization as embedded system topic we have to speak about producer consumer problem.</a:t>
            </a: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Maintaining </a:t>
            </a:r>
            <a:r>
              <a:rPr lang="en-US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data consistency requires mechanisms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to ensure the </a:t>
            </a:r>
            <a:r>
              <a:rPr lang="en-US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orderly execution of cooperating processes.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Suppose that we wanted to </a:t>
            </a:r>
            <a:r>
              <a:rPr lang="en-US" sz="24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provide a solution to the consumer-producer problem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that fills </a:t>
            </a: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all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buffers. We can do so by having an integer </a:t>
            </a: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count</a:t>
            </a:r>
            <a:r>
              <a:rPr lang="en-US" sz="2400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that keeps track of the number of full buffers.  Initially, count is set to 0.</a:t>
            </a:r>
          </a:p>
          <a:p>
            <a:pPr algn="just">
              <a:spcBef>
                <a:spcPts val="0"/>
              </a:spcBef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It </a:t>
            </a:r>
            <a:r>
              <a:rPr lang="en-US" sz="240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is incremented by the producer after it produces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 new buffer and is </a:t>
            </a:r>
            <a:r>
              <a:rPr lang="en-US" sz="240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decremented by the consumer after it consumes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 buffer.</a:t>
            </a:r>
          </a:p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55197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501261" y="762000"/>
            <a:ext cx="7467600" cy="48736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800" dirty="0"/>
              <a:t>Producer Consumer Problem – </a:t>
            </a:r>
            <a:r>
              <a:rPr lang="en-US" sz="3800" b="1" dirty="0">
                <a:solidFill>
                  <a:srgbClr val="00B0F0"/>
                </a:solidFill>
              </a:rPr>
              <a:t>Creates RACE condition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520311" y="1477433"/>
            <a:ext cx="8229600" cy="4501934"/>
          </a:xfrm>
        </p:spPr>
        <p:txBody>
          <a:bodyPr/>
          <a:lstStyle/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producer-consumer problem illustrates the need for synchronization in systems where many processes share a resource. </a:t>
            </a: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In the problem, two processes share a fixed-size buffer. One process produces information and puts it in the buffer, while the other process consumes information from the buffer. </a:t>
            </a: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These processes do not take turns accessing the buffer, </a:t>
            </a:r>
            <a:r>
              <a:rPr lang="en-US" sz="240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they both work concurrently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667" dirty="0">
                <a:latin typeface="Times New Roman" pitchFamily="18" charset="0"/>
                <a:cs typeface="Times New Roman" pitchFamily="18" charset="0"/>
              </a:rPr>
              <a:t>It is </a:t>
            </a:r>
            <a:r>
              <a:rPr lang="en-US" sz="2667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also called bounded buffer problem </a:t>
            </a:r>
          </a:p>
        </p:txBody>
      </p:sp>
    </p:spTree>
    <p:extLst>
      <p:ext uri="{BB962C8B-B14F-4D97-AF65-F5344CB8AC3E}">
        <p14:creationId xmlns:p14="http://schemas.microsoft.com/office/powerpoint/2010/main" val="39362094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467600" cy="563562"/>
          </a:xfrm>
        </p:spPr>
        <p:txBody>
          <a:bodyPr/>
          <a:lstStyle/>
          <a:p>
            <a:pPr eaLnBrk="1" hangingPunct="1"/>
            <a:r>
              <a:rPr lang="en-US" b="1" dirty="0">
                <a:solidFill>
                  <a:srgbClr val="0070C0"/>
                </a:solidFill>
              </a:rPr>
              <a:t>Producer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219200"/>
            <a:ext cx="7315200" cy="4191000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4F6D394-DD91-845A-763F-B477EAE5FE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8828686"/>
              </p:ext>
            </p:extLst>
          </p:nvPr>
        </p:nvGraphicFramePr>
        <p:xfrm>
          <a:off x="5715000" y="2819400"/>
          <a:ext cx="3048000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84128932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3389418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463690442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344090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D692C64-4D34-A485-2C1F-758B8B6AFB77}"/>
              </a:ext>
            </a:extLst>
          </p:cNvPr>
          <p:cNvSpPr txBox="1"/>
          <p:nvPr/>
        </p:nvSpPr>
        <p:spPr>
          <a:xfrm>
            <a:off x="5943600" y="365760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0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C582B1-7E29-9B68-819E-1DCB1A1D135D}"/>
              </a:ext>
            </a:extLst>
          </p:cNvPr>
          <p:cNvSpPr txBox="1"/>
          <p:nvPr/>
        </p:nvSpPr>
        <p:spPr>
          <a:xfrm>
            <a:off x="7010400" y="3671444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1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616B0E-761C-D3B2-C632-75123184358E}"/>
              </a:ext>
            </a:extLst>
          </p:cNvPr>
          <p:cNvSpPr txBox="1"/>
          <p:nvPr/>
        </p:nvSpPr>
        <p:spPr>
          <a:xfrm>
            <a:off x="8153400" y="365760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2</a:t>
            </a:r>
            <a:endParaRPr lang="en-I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59134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467600" cy="563562"/>
          </a:xfrm>
        </p:spPr>
        <p:txBody>
          <a:bodyPr/>
          <a:lstStyle/>
          <a:p>
            <a:pPr eaLnBrk="1" hangingPunct="1"/>
            <a:r>
              <a:rPr lang="en-US" b="1" dirty="0">
                <a:solidFill>
                  <a:srgbClr val="0070C0"/>
                </a:solidFill>
              </a:rPr>
              <a:t>Consumer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295400"/>
            <a:ext cx="7543800" cy="4267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F0BF9E1-7A2E-3547-67B3-15C5C2ED1E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1905000"/>
            <a:ext cx="2952750" cy="110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9303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57200" y="130944"/>
            <a:ext cx="7467600" cy="487362"/>
          </a:xfrm>
        </p:spPr>
        <p:txBody>
          <a:bodyPr/>
          <a:lstStyle/>
          <a:p>
            <a:pPr eaLnBrk="1" hangingPunct="1"/>
            <a:r>
              <a:rPr lang="en-US" b="1" dirty="0">
                <a:solidFill>
                  <a:srgbClr val="0070C0"/>
                </a:solidFill>
              </a:rPr>
              <a:t>Race Condition</a:t>
            </a:r>
          </a:p>
        </p:txBody>
      </p:sp>
      <p:sp>
        <p:nvSpPr>
          <p:cNvPr id="9219" name="Rectangle 1027"/>
          <p:cNvSpPr>
            <a:spLocks noGrp="1" noChangeArrowheads="1"/>
          </p:cNvSpPr>
          <p:nvPr>
            <p:ph idx="1"/>
          </p:nvPr>
        </p:nvSpPr>
        <p:spPr>
          <a:xfrm>
            <a:off x="446314" y="616631"/>
            <a:ext cx="8067675" cy="59436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b="1" dirty="0">
                <a:solidFill>
                  <a:srgbClr val="FF0000"/>
                </a:solidFill>
              </a:rPr>
              <a:t>counter++</a:t>
            </a:r>
            <a:r>
              <a:rPr lang="en-US" dirty="0"/>
              <a:t> </a:t>
            </a:r>
            <a:r>
              <a:rPr lang="en-US" sz="1533" dirty="0"/>
              <a:t>could be implemented as</a:t>
            </a:r>
          </a:p>
          <a:p>
            <a:pPr>
              <a:lnSpc>
                <a:spcPct val="90000"/>
              </a:lnSpc>
            </a:pPr>
            <a:endParaRPr lang="en-US" sz="1533" dirty="0"/>
          </a:p>
          <a:p>
            <a:pPr marL="0" indent="0">
              <a:lnSpc>
                <a:spcPct val="90000"/>
              </a:lnSpc>
              <a:buNone/>
            </a:pPr>
            <a:br>
              <a:rPr lang="en-US" sz="1533" dirty="0"/>
            </a:br>
            <a:br>
              <a:rPr lang="en-US" sz="1533" dirty="0"/>
            </a:br>
            <a:r>
              <a:rPr lang="en-US" sz="1533" dirty="0"/>
              <a:t>     </a:t>
            </a:r>
            <a:endParaRPr lang="en-US" sz="733" dirty="0">
              <a:solidFill>
                <a:srgbClr val="0000FF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2000" b="1" dirty="0">
                <a:solidFill>
                  <a:srgbClr val="FF0000"/>
                </a:solidFill>
              </a:rPr>
              <a:t>counter--</a:t>
            </a:r>
            <a:r>
              <a:rPr lang="en-US" sz="1533" dirty="0"/>
              <a:t> could be implemented as</a:t>
            </a:r>
          </a:p>
          <a:p>
            <a:pPr>
              <a:lnSpc>
                <a:spcPct val="90000"/>
              </a:lnSpc>
            </a:pPr>
            <a:endParaRPr lang="en-US" sz="1533" dirty="0"/>
          </a:p>
          <a:p>
            <a:pPr>
              <a:lnSpc>
                <a:spcPct val="90000"/>
              </a:lnSpc>
            </a:pPr>
            <a:endParaRPr lang="en-US" sz="1533" dirty="0"/>
          </a:p>
          <a:p>
            <a:pPr marL="0" indent="0">
              <a:lnSpc>
                <a:spcPct val="90000"/>
              </a:lnSpc>
              <a:buNone/>
            </a:pPr>
            <a:br>
              <a:rPr lang="en-US" sz="1533" dirty="0"/>
            </a:br>
            <a:br>
              <a:rPr lang="en-US" sz="1533" dirty="0"/>
            </a:br>
            <a:endParaRPr lang="en-US" sz="1533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533" dirty="0"/>
              <a:t>Consider this execution interleaving with “</a:t>
            </a:r>
            <a:r>
              <a:rPr lang="en-US" sz="2000" b="1" dirty="0">
                <a:solidFill>
                  <a:srgbClr val="FF0000"/>
                </a:solidFill>
              </a:rPr>
              <a:t>count = 5</a:t>
            </a:r>
            <a:r>
              <a:rPr lang="en-US" sz="1533" dirty="0"/>
              <a:t>” initially:</a:t>
            </a:r>
          </a:p>
          <a:p>
            <a:pPr lvl="1">
              <a:lnSpc>
                <a:spcPct val="90000"/>
              </a:lnSpc>
              <a:buFont typeface="Monotype Sorts" charset="2"/>
              <a:buNone/>
            </a:pPr>
            <a:r>
              <a:rPr lang="en-US" sz="1533" dirty="0"/>
              <a:t>	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897554"/>
            <a:ext cx="3886200" cy="106853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5400" y="2286000"/>
            <a:ext cx="3581400" cy="1143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736" y="3925942"/>
            <a:ext cx="7772400" cy="2137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625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228600"/>
            <a:ext cx="8305800" cy="6477000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Now  we have arrived at the </a:t>
            </a:r>
            <a:r>
              <a:rPr lang="en-IN" sz="240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incorrect state "counter == 4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", indicating that four buffers are full,  If we reversed the order of the statements at T4 and T5, we would arrive at the incorrect state "counter </a:t>
            </a:r>
            <a:r>
              <a:rPr lang="en-IN" sz="2400" i="1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6".</a:t>
            </a:r>
          </a:p>
          <a:p>
            <a:pPr algn="just">
              <a:spcBef>
                <a:spcPts val="0"/>
              </a:spcBef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We would arrive at this incorrect state because we allowed both processes to manipulate the variable counter concurrently.</a:t>
            </a:r>
          </a:p>
          <a:p>
            <a:pPr marL="0" indent="0" algn="just">
              <a:spcBef>
                <a:spcPts val="0"/>
              </a:spcBef>
              <a:buNone/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 A situation like this, where </a:t>
            </a:r>
            <a:r>
              <a:rPr lang="en-IN" sz="24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several processes access and manipulate the same data concurrently and the outcome of the execution depends on the particular order in which the access takes place, </a:t>
            </a:r>
            <a:r>
              <a:rPr lang="en-IN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is called a race condition. </a:t>
            </a:r>
          </a:p>
          <a:p>
            <a:pPr algn="just">
              <a:spcBef>
                <a:spcPts val="0"/>
              </a:spcBef>
            </a:pPr>
            <a:endParaRPr lang="en-IN" sz="2400" b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0"/>
              </a:spcBef>
            </a:pPr>
            <a:r>
              <a:rPr lang="en-IN" sz="24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To avoid the race condition, we need to ensure that only one process at a time can be manipulating the variable counter. 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To make such a guarantee, we require that the processes be synchronized in some way.</a:t>
            </a:r>
          </a:p>
        </p:txBody>
      </p:sp>
    </p:spTree>
    <p:extLst>
      <p:ext uri="{BB962C8B-B14F-4D97-AF65-F5344CB8AC3E}">
        <p14:creationId xmlns:p14="http://schemas.microsoft.com/office/powerpoint/2010/main" val="40995107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590800"/>
            <a:ext cx="7467600" cy="1143000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CRITICAL-SECTION PROBLEM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9794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3562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Critical Section Problem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153400" cy="5257800"/>
          </a:xfrm>
        </p:spPr>
        <p:txBody>
          <a:bodyPr>
            <a:noAutofit/>
          </a:bodyPr>
          <a:lstStyle/>
          <a:p>
            <a:pPr algn="just"/>
            <a:r>
              <a:rPr lang="en-US" sz="2400" dirty="0"/>
              <a:t>Consider system of n processes {p</a:t>
            </a:r>
            <a:r>
              <a:rPr lang="en-US" sz="2400" baseline="-25000" dirty="0"/>
              <a:t>0</a:t>
            </a:r>
            <a:r>
              <a:rPr lang="en-US" sz="2400" dirty="0"/>
              <a:t>, p</a:t>
            </a:r>
            <a:r>
              <a:rPr lang="en-US" sz="2400" baseline="-25000" dirty="0"/>
              <a:t>1</a:t>
            </a:r>
            <a:r>
              <a:rPr lang="en-US" sz="2400" dirty="0"/>
              <a:t>, … p</a:t>
            </a:r>
            <a:r>
              <a:rPr lang="en-US" sz="2400" baseline="-25000" dirty="0"/>
              <a:t>n-1</a:t>
            </a:r>
            <a:r>
              <a:rPr lang="en-US" sz="2400" dirty="0"/>
              <a:t>}</a:t>
            </a:r>
          </a:p>
          <a:p>
            <a:pPr algn="just"/>
            <a:r>
              <a:rPr lang="en-US" sz="2400" dirty="0"/>
              <a:t>Each process has </a:t>
            </a:r>
            <a:r>
              <a:rPr lang="en-US" sz="2400" b="1" dirty="0">
                <a:solidFill>
                  <a:srgbClr val="0000FF"/>
                </a:solidFill>
              </a:rPr>
              <a:t>critical section </a:t>
            </a:r>
            <a:r>
              <a:rPr lang="en-US" sz="2400" dirty="0">
                <a:solidFill>
                  <a:srgbClr val="FF0000"/>
                </a:solidFill>
              </a:rPr>
              <a:t>segment of code</a:t>
            </a:r>
          </a:p>
          <a:p>
            <a:pPr lvl="1" algn="just"/>
            <a:r>
              <a:rPr lang="en-US" sz="2800" dirty="0"/>
              <a:t>Process may be </a:t>
            </a:r>
            <a:r>
              <a:rPr lang="en-US" sz="2800" dirty="0">
                <a:solidFill>
                  <a:srgbClr val="FF0000"/>
                </a:solidFill>
              </a:rPr>
              <a:t>changing common variables, updating table, writing file</a:t>
            </a:r>
            <a:r>
              <a:rPr lang="en-US" sz="2800" dirty="0"/>
              <a:t>, </a:t>
            </a:r>
            <a:r>
              <a:rPr lang="en-US" sz="2800" dirty="0" err="1"/>
              <a:t>etc</a:t>
            </a:r>
            <a:endParaRPr lang="en-US" sz="2800" dirty="0"/>
          </a:p>
          <a:p>
            <a:pPr lvl="1" algn="just"/>
            <a:r>
              <a:rPr lang="en-US" sz="2800" b="1" dirty="0">
                <a:solidFill>
                  <a:srgbClr val="0070C0"/>
                </a:solidFill>
              </a:rPr>
              <a:t>When one process in critical section, no other may be in its critical section</a:t>
            </a:r>
          </a:p>
          <a:p>
            <a:pPr algn="just"/>
            <a:r>
              <a:rPr lang="en-US" sz="2400" dirty="0"/>
              <a:t>Critical section problem is to design protocol to solve this</a:t>
            </a:r>
          </a:p>
          <a:p>
            <a:pPr algn="just"/>
            <a:r>
              <a:rPr lang="en-US" sz="2400" dirty="0"/>
              <a:t>Each process must ask permission to enter critical section in </a:t>
            </a:r>
            <a:r>
              <a:rPr lang="en-US" sz="2400" b="1" dirty="0">
                <a:solidFill>
                  <a:srgbClr val="0000FF"/>
                </a:solidFill>
              </a:rPr>
              <a:t>entry section</a:t>
            </a:r>
            <a:r>
              <a:rPr lang="en-US" sz="2400" dirty="0"/>
              <a:t>, may follow critical section with </a:t>
            </a:r>
            <a:r>
              <a:rPr lang="en-US" sz="2400" b="1" dirty="0">
                <a:solidFill>
                  <a:srgbClr val="0000FF"/>
                </a:solidFill>
              </a:rPr>
              <a:t>exit section</a:t>
            </a:r>
            <a:r>
              <a:rPr lang="en-US" sz="2400" dirty="0"/>
              <a:t>, then </a:t>
            </a:r>
            <a:r>
              <a:rPr lang="en-US" sz="2400" b="1" dirty="0">
                <a:solidFill>
                  <a:srgbClr val="0000FF"/>
                </a:solidFill>
              </a:rPr>
              <a:t>remainder section</a:t>
            </a:r>
          </a:p>
          <a:p>
            <a:pPr algn="just"/>
            <a:r>
              <a:rPr lang="en-US" sz="2400" dirty="0"/>
              <a:t>Especially challenging with preemptive kernels</a:t>
            </a:r>
          </a:p>
        </p:txBody>
      </p:sp>
    </p:spTree>
    <p:extLst>
      <p:ext uri="{BB962C8B-B14F-4D97-AF65-F5344CB8AC3E}">
        <p14:creationId xmlns:p14="http://schemas.microsoft.com/office/powerpoint/2010/main" val="37526215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11162"/>
          </a:xfrm>
        </p:spPr>
        <p:txBody>
          <a:bodyPr>
            <a:normAutofit fontScale="90000"/>
          </a:bodyPr>
          <a:lstStyle/>
          <a:p>
            <a:r>
              <a:rPr lang="en-US" dirty="0"/>
              <a:t>Critical Section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381000" y="1143000"/>
            <a:ext cx="7467600" cy="4873752"/>
          </a:xfrm>
        </p:spPr>
        <p:txBody>
          <a:bodyPr/>
          <a:lstStyle/>
          <a:p>
            <a:r>
              <a:rPr lang="en-US" sz="2400" dirty="0"/>
              <a:t>General structure of process p</a:t>
            </a:r>
            <a:r>
              <a:rPr lang="en-US" sz="2400" baseline="-25000" dirty="0"/>
              <a:t>i </a:t>
            </a:r>
            <a:r>
              <a:rPr lang="en-US" sz="2400" dirty="0"/>
              <a:t>is</a:t>
            </a:r>
          </a:p>
          <a:p>
            <a:endParaRPr lang="en-US" b="1" dirty="0">
              <a:solidFill>
                <a:srgbClr val="0000FF"/>
              </a:solidFill>
            </a:endParaRPr>
          </a:p>
        </p:txBody>
      </p:sp>
      <p:pic>
        <p:nvPicPr>
          <p:cNvPr id="11268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1600200"/>
            <a:ext cx="8001000" cy="4873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980363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33400"/>
            <a:ext cx="7724775" cy="512233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00B0F0"/>
                </a:solidFill>
              </a:rPr>
              <a:t>Requirements to be satisfied for a Solution to the Critical-Section Problem: 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806450" y="1474259"/>
            <a:ext cx="7667625" cy="4697941"/>
          </a:xfrm>
        </p:spPr>
        <p:txBody>
          <a:bodyPr>
            <a:normAutofit fontScale="92500" lnSpcReduction="20000"/>
          </a:bodyPr>
          <a:lstStyle/>
          <a:p>
            <a:pPr algn="just">
              <a:buFont typeface="Monotype Sorts" charset="2"/>
              <a:buNone/>
            </a:pPr>
            <a:r>
              <a:rPr lang="en-US" sz="2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en-US" sz="26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Mutual Exclusion 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- If process P</a:t>
            </a:r>
            <a:r>
              <a:rPr lang="en-US" sz="2600" baseline="-250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is executing in its critical section, then no other processes can be executing in their critical sections</a:t>
            </a:r>
          </a:p>
          <a:p>
            <a:pPr algn="just">
              <a:buFont typeface="Monotype Sorts" charset="2"/>
              <a:buAutoNum type="arabicPeriod"/>
            </a:pPr>
            <a:endParaRPr lang="en-US" sz="26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Monotype Sorts" charset="2"/>
              <a:buNone/>
            </a:pPr>
            <a:r>
              <a:rPr lang="en-US" sz="26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2. </a:t>
            </a:r>
            <a:r>
              <a:rPr lang="en-US" sz="26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Progress</a:t>
            </a:r>
            <a:r>
              <a:rPr lang="en-US" sz="2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- If no process is executing in its critical section and there exist </a:t>
            </a:r>
            <a:r>
              <a:rPr lang="en-US" sz="2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some processes that wish to enter 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their critical section, then the </a:t>
            </a:r>
            <a:r>
              <a:rPr lang="en-US" sz="2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selection of the processes that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will enter the critical section next cannot be postponed indefinitely</a:t>
            </a:r>
          </a:p>
          <a:p>
            <a:pPr algn="just">
              <a:buFont typeface="Monotype Sorts" charset="2"/>
              <a:buAutoNum type="arabicPeriod" startAt="2"/>
            </a:pPr>
            <a:endParaRPr lang="en-US" sz="26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80000"/>
              </a:lnSpc>
              <a:buNone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3. </a:t>
            </a:r>
            <a:r>
              <a:rPr lang="en-US" sz="26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Bounded Waiting 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- After a process has made a request to enter it’s CS, </a:t>
            </a:r>
            <a:r>
              <a:rPr lang="en-US" sz="2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there is a bound on the number of times that the other processes are allowed to enter their CS </a:t>
            </a:r>
          </a:p>
          <a:p>
            <a:pPr marL="787439" lvl="1" indent="-406420" algn="just">
              <a:lnSpc>
                <a:spcPct val="80000"/>
              </a:lnSpc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otherwise the process will suffer from </a:t>
            </a:r>
            <a:r>
              <a:rPr lang="en-US" sz="2600" b="1" dirty="0">
                <a:latin typeface="Times New Roman" pitchFamily="18" charset="0"/>
                <a:cs typeface="Times New Roman" pitchFamily="18" charset="0"/>
              </a:rPr>
              <a:t>starvation</a:t>
            </a:r>
            <a:endParaRPr lang="en-US" sz="2600" dirty="0">
              <a:latin typeface="Times New Roman" pitchFamily="18" charset="0"/>
              <a:cs typeface="Times New Roman" pitchFamily="18" charset="0"/>
            </a:endParaRPr>
          </a:p>
          <a:p>
            <a:pPr marL="787439" lvl="1" indent="-406420" algn="just">
              <a:lnSpc>
                <a:spcPct val="80000"/>
              </a:lnSpc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Of course also no deadlock (no cycles)</a:t>
            </a:r>
          </a:p>
          <a:p>
            <a:pPr>
              <a:buFont typeface="Monotype Sorts" charset="2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6963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467600" cy="792162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Solutions to Critical Section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7467600" cy="4873752"/>
          </a:xfrm>
        </p:spPr>
        <p:txBody>
          <a:bodyPr/>
          <a:lstStyle/>
          <a:p>
            <a:r>
              <a:rPr lang="en-US" sz="2800" dirty="0">
                <a:solidFill>
                  <a:srgbClr val="00B0F0"/>
                </a:solidFill>
              </a:rPr>
              <a:t>Software Solution</a:t>
            </a:r>
          </a:p>
          <a:p>
            <a:pPr lvl="1"/>
            <a:r>
              <a:rPr lang="en-US" sz="2000" dirty="0"/>
              <a:t>Peterson Solution – Two process only</a:t>
            </a:r>
          </a:p>
          <a:p>
            <a:pPr lvl="1"/>
            <a:r>
              <a:rPr lang="en-US" sz="2000" dirty="0"/>
              <a:t> Bakery Algorithm – N processes</a:t>
            </a:r>
          </a:p>
          <a:p>
            <a:pPr marL="0" indent="0">
              <a:buNone/>
            </a:pPr>
            <a:endParaRPr lang="en-US" sz="2800" dirty="0"/>
          </a:p>
          <a:p>
            <a:r>
              <a:rPr lang="en-US" sz="2800" dirty="0">
                <a:solidFill>
                  <a:srgbClr val="00B0F0"/>
                </a:solidFill>
              </a:rPr>
              <a:t>Hardware Solution</a:t>
            </a:r>
          </a:p>
          <a:p>
            <a:pPr lvl="1"/>
            <a:r>
              <a:rPr lang="en-US" sz="2000" dirty="0"/>
              <a:t>Test and Set Instructions</a:t>
            </a:r>
          </a:p>
          <a:p>
            <a:pPr lvl="1"/>
            <a:r>
              <a:rPr lang="en-US" sz="2000" dirty="0"/>
              <a:t>Compare and Swap Instruction</a:t>
            </a:r>
          </a:p>
          <a:p>
            <a:pPr lvl="1"/>
            <a:endParaRPr lang="en-US" sz="1600" dirty="0"/>
          </a:p>
          <a:p>
            <a:r>
              <a:rPr lang="en-US" sz="2800" dirty="0">
                <a:solidFill>
                  <a:srgbClr val="00B0F0"/>
                </a:solidFill>
              </a:rPr>
              <a:t>High Level Abstraction</a:t>
            </a:r>
          </a:p>
          <a:p>
            <a:pPr lvl="1"/>
            <a:r>
              <a:rPr lang="en-US" sz="2400" dirty="0" err="1"/>
              <a:t>Mutex</a:t>
            </a:r>
            <a:r>
              <a:rPr lang="en-US" sz="2400" dirty="0"/>
              <a:t> Lock</a:t>
            </a:r>
          </a:p>
          <a:p>
            <a:pPr lvl="1"/>
            <a:r>
              <a:rPr lang="en-US" sz="2400" dirty="0"/>
              <a:t>Semaphores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6377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467600" cy="487362"/>
          </a:xfrm>
        </p:spPr>
        <p:txBody>
          <a:bodyPr>
            <a:normAutofit fontScale="90000"/>
          </a:bodyPr>
          <a:lstStyle/>
          <a:p>
            <a:r>
              <a:rPr lang="en-US" sz="2667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Peterson’s solutions</a:t>
            </a:r>
          </a:p>
        </p:txBody>
      </p:sp>
      <p:sp>
        <p:nvSpPr>
          <p:cNvPr id="2" name="Rectangle 1"/>
          <p:cNvSpPr/>
          <p:nvPr/>
        </p:nvSpPr>
        <p:spPr>
          <a:xfrm>
            <a:off x="428625" y="1219200"/>
            <a:ext cx="78486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A classic software-based solution to the critical-section problem known as Peterson’s solution. </a:t>
            </a:r>
          </a:p>
          <a:p>
            <a:pPr algn="just"/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Peterson’s solution is restricted to two processes that alternate execution between their critical sections and remainder sections. </a:t>
            </a:r>
          </a:p>
          <a:p>
            <a:pPr algn="just"/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The processes are numbered P0 and P1 . </a:t>
            </a:r>
          </a:p>
          <a:p>
            <a:pPr algn="just"/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Peterson’s solution requires the two processes to share two data items: 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4572000"/>
            <a:ext cx="38862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3112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685800"/>
            <a:ext cx="8305800" cy="4873752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The variable </a:t>
            </a:r>
            <a:r>
              <a:rPr lang="en-US" sz="2800" b="1" i="1" dirty="0"/>
              <a:t>turn </a:t>
            </a:r>
            <a:r>
              <a:rPr lang="en-US" sz="2800" dirty="0"/>
              <a:t>indicates whose turn it is to enter its critical section. </a:t>
            </a:r>
          </a:p>
          <a:p>
            <a:pPr algn="just"/>
            <a:r>
              <a:rPr lang="en-US" sz="2800" dirty="0"/>
              <a:t>That is, if </a:t>
            </a:r>
            <a:r>
              <a:rPr lang="en-US" sz="2800" b="1" dirty="0"/>
              <a:t>turn == </a:t>
            </a:r>
            <a:r>
              <a:rPr lang="en-US" sz="2800" b="1" dirty="0" err="1"/>
              <a:t>i</a:t>
            </a:r>
            <a:r>
              <a:rPr lang="en-US" sz="2800" b="1" dirty="0"/>
              <a:t>, </a:t>
            </a:r>
            <a:r>
              <a:rPr lang="en-US" sz="2800" dirty="0"/>
              <a:t>then process Pi is allowed to execute in its critical section. </a:t>
            </a:r>
          </a:p>
          <a:p>
            <a:pPr algn="just"/>
            <a:r>
              <a:rPr lang="en-US" sz="2800" dirty="0"/>
              <a:t>The </a:t>
            </a:r>
            <a:r>
              <a:rPr lang="en-US" sz="2800" b="1" i="1" dirty="0"/>
              <a:t>flag </a:t>
            </a:r>
            <a:r>
              <a:rPr lang="en-US" sz="2800" dirty="0"/>
              <a:t>array is used to indicate if a process is ready to enter its critical section. </a:t>
            </a:r>
          </a:p>
          <a:p>
            <a:pPr algn="just"/>
            <a:r>
              <a:rPr lang="en-US" sz="2800" dirty="0"/>
              <a:t>For example, if flag[</a:t>
            </a:r>
            <a:r>
              <a:rPr lang="en-US" sz="2800" dirty="0" err="1"/>
              <a:t>i</a:t>
            </a:r>
            <a:r>
              <a:rPr lang="en-US" sz="2800" dirty="0"/>
              <a:t>] is true, Pi is ready to enter its critical section.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8372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1" y="548390"/>
            <a:ext cx="8510016" cy="5761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5110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19050"/>
            <a:ext cx="7467600" cy="4873752"/>
          </a:xfrm>
        </p:spPr>
        <p:txBody>
          <a:bodyPr/>
          <a:lstStyle/>
          <a:p>
            <a:r>
              <a:rPr lang="en-US" dirty="0"/>
              <a:t>We now prove that this solution is correct. We need to show that: </a:t>
            </a:r>
          </a:p>
          <a:p>
            <a:r>
              <a:rPr lang="en-US" dirty="0"/>
              <a:t>1. Mutual exclusion is preserved. </a:t>
            </a:r>
          </a:p>
          <a:p>
            <a:r>
              <a:rPr lang="en-US" dirty="0"/>
              <a:t>2. The progress requirement is satisfied. </a:t>
            </a:r>
          </a:p>
          <a:p>
            <a:r>
              <a:rPr lang="en-US" dirty="0"/>
              <a:t>3. The bounded-waiting requirement is met.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14300" y="1371600"/>
            <a:ext cx="8357616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solidFill>
                  <a:srgbClr val="00B0F0"/>
                </a:solidFill>
                <a:latin typeface="Times New Roman" panose="02020603050405020304" pitchFamily="18" charset="0"/>
              </a:rPr>
              <a:t>To prove property 1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, we note that each Pi enters its critical section only if either flag[j] == false or turn ==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</a:p>
          <a:p>
            <a:pPr marL="342900" indent="-342900" algn="just">
              <a:buFont typeface="Wingdings" panose="05000000000000000000" pitchFamily="2" charset="2"/>
              <a:buChar char="l"/>
            </a:pPr>
            <a:r>
              <a:rPr lang="en-US" sz="2400" dirty="0">
                <a:solidFill>
                  <a:srgbClr val="00B0F0"/>
                </a:solidFill>
                <a:latin typeface="Times New Roman" panose="02020603050405020304" pitchFamily="18" charset="0"/>
              </a:rPr>
              <a:t>To prove properties 2 and 3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, we note that a process Pi can be prevented from entering the critical section only if it is stuck in the while loop with the condition flag[j] == true and turn == j; this loop is the only one possible. </a:t>
            </a:r>
          </a:p>
          <a:p>
            <a:pPr marL="342900" indent="-342900" algn="just">
              <a:buFont typeface="Wingdings" panose="05000000000000000000" pitchFamily="2" charset="2"/>
              <a:buChar char="l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If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Pj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 is not ready to enter the critical section, then flag[j] == false, and Pi can enter its critical section. </a:t>
            </a:r>
          </a:p>
          <a:p>
            <a:pPr marL="342900" indent="-342900" algn="just">
              <a:buFont typeface="Wingdings" panose="05000000000000000000" pitchFamily="2" charset="2"/>
              <a:buChar char="l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If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Pj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 has set flag[j] to true and is also executing in its while statement, then either turn ==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 or turn == j. If turn ==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, then Pi will enter the critical section. </a:t>
            </a:r>
          </a:p>
          <a:p>
            <a:pPr marL="342900" indent="-342900" algn="just">
              <a:buFont typeface="Wingdings" panose="05000000000000000000" pitchFamily="2" charset="2"/>
              <a:buChar char="l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If turn == j, then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Pj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 will enter the critical section. However, once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Pj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 exits its critical section, it will reset flag[j] to false, allowing Pi to enter its critical section. </a:t>
            </a:r>
          </a:p>
        </p:txBody>
      </p:sp>
    </p:spTree>
    <p:extLst>
      <p:ext uri="{BB962C8B-B14F-4D97-AF65-F5344CB8AC3E}">
        <p14:creationId xmlns:p14="http://schemas.microsoft.com/office/powerpoint/2010/main" val="33459796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3562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Scenario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5" name="Rectangle 1"/>
          <p:cNvSpPr>
            <a:spLocks noGrp="1" noChangeArrowheads="1"/>
          </p:cNvSpPr>
          <p:nvPr>
            <p:ph sz="quarter" idx="1"/>
          </p:nvPr>
        </p:nvSpPr>
        <p:spPr bwMode="auto">
          <a:xfrm>
            <a:off x="190500" y="906816"/>
            <a:ext cx="8001000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Imagine an online banking system where two processes are running simultaneously: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 P0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Updates the account </a:t>
            </a: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balance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after a deposit.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 P1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Updates the account </a:t>
            </a: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balance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after a withdrawal. </a:t>
            </a:r>
          </a:p>
          <a:p>
            <a:pPr marL="0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Both processes need to access and update the </a:t>
            </a:r>
            <a:r>
              <a:rPr kumimoji="0" lang="en-US" sz="240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Arial" panose="020B0604020202020204" pitchFamily="34" charset="0"/>
              </a:rPr>
              <a:t>shared variable </a:t>
            </a:r>
            <a:r>
              <a:rPr lang="en-US" sz="2400" dirty="0">
                <a:solidFill>
                  <a:srgbClr val="00B0F0"/>
                </a:solidFill>
                <a:latin typeface="Arial" panose="020B0604020202020204" pitchFamily="34" charset="0"/>
              </a:rPr>
              <a:t>Balance</a:t>
            </a:r>
            <a:r>
              <a:rPr lang="en-US" sz="2400" dirty="0">
                <a:latin typeface="Arial" panose="020B0604020202020204" pitchFamily="34" charset="0"/>
              </a:rPr>
              <a:t>.</a:t>
            </a:r>
          </a:p>
          <a:p>
            <a:pPr marL="0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sz="2400" dirty="0">
              <a:latin typeface="Arial" panose="020B0604020202020204" pitchFamily="34" charset="0"/>
            </a:endParaRPr>
          </a:p>
          <a:p>
            <a:pPr marL="0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Answer the following questions: 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Is there any chances of Race condition? 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If so, how Peterson solution helps to overcome the issue?</a:t>
            </a:r>
          </a:p>
        </p:txBody>
      </p:sp>
    </p:spTree>
    <p:extLst>
      <p:ext uri="{BB962C8B-B14F-4D97-AF65-F5344CB8AC3E}">
        <p14:creationId xmlns:p14="http://schemas.microsoft.com/office/powerpoint/2010/main" val="13971019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334962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rgbClr val="00B0F0"/>
                </a:solidFill>
              </a:rPr>
              <a:t>Bakery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1295400"/>
            <a:ext cx="8077200" cy="4873752"/>
          </a:xfrm>
        </p:spPr>
        <p:txBody>
          <a:bodyPr/>
          <a:lstStyle/>
          <a:p>
            <a:pPr algn="just"/>
            <a:r>
              <a:rPr lang="en-US" sz="2400" dirty="0"/>
              <a:t>The Bakery Algorithm, proposed by Leslie </a:t>
            </a:r>
            <a:r>
              <a:rPr lang="en-US" sz="2400" dirty="0" err="1"/>
              <a:t>Lamport</a:t>
            </a:r>
            <a:r>
              <a:rPr lang="en-US" sz="2400" dirty="0"/>
              <a:t>.</a:t>
            </a:r>
          </a:p>
          <a:p>
            <a:pPr algn="just"/>
            <a:r>
              <a:rPr lang="en-US" sz="2400" dirty="0"/>
              <a:t>In the Bakery Algorithm, each process is assigned a number (a ticket). </a:t>
            </a:r>
          </a:p>
          <a:p>
            <a:pPr algn="just"/>
            <a:r>
              <a:rPr lang="en-US" sz="2400" dirty="0"/>
              <a:t>Before entering the critical section, a process receives a ticket number, and the process with the smallest ticket number enters the critical section. </a:t>
            </a:r>
          </a:p>
          <a:p>
            <a:pPr algn="just"/>
            <a:r>
              <a:rPr lang="en-US" sz="2400" dirty="0"/>
              <a:t>If two processes receive the same ticket number, the process with the lower process ID is given priority.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8834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06661"/>
            <a:ext cx="7467600" cy="792162"/>
          </a:xfrm>
        </p:spPr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Bakery Algorithm – Software Solution (N Processes)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304800" y="998822"/>
            <a:ext cx="8305800" cy="5256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1300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3562"/>
          </a:xfrm>
        </p:spPr>
        <p:txBody>
          <a:bodyPr/>
          <a:lstStyle/>
          <a:p>
            <a:r>
              <a:rPr lang="en-US" b="1" dirty="0"/>
              <a:t>Hardware Support for Synchronization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Hardware Instructions</a:t>
            </a:r>
          </a:p>
          <a:p>
            <a:endParaRPr lang="en-US" b="1" dirty="0"/>
          </a:p>
          <a:p>
            <a:r>
              <a:rPr lang="en-US" sz="3600" dirty="0"/>
              <a:t>test and set() </a:t>
            </a:r>
          </a:p>
          <a:p>
            <a:r>
              <a:rPr lang="en-US" sz="3600" dirty="0"/>
              <a:t>compare and swap()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2118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7467600" cy="715962"/>
          </a:xfrm>
        </p:spPr>
        <p:txBody>
          <a:bodyPr/>
          <a:lstStyle/>
          <a:p>
            <a:r>
              <a:rPr lang="en-US" dirty="0"/>
              <a:t>Test and 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990600"/>
            <a:ext cx="8433816" cy="4873752"/>
          </a:xfrm>
        </p:spPr>
        <p:txBody>
          <a:bodyPr>
            <a:noAutofit/>
          </a:bodyPr>
          <a:lstStyle/>
          <a:p>
            <a:pPr algn="just"/>
            <a:r>
              <a:rPr lang="en-US" sz="2400" dirty="0"/>
              <a:t>Many modern computer systems provide special hardware instructions that allow us either to test and modify the content of a word or to swap the contents of two words atomically— that is, as one uninterruptible unit. </a:t>
            </a:r>
            <a:r>
              <a:rPr lang="en-US" sz="2400" dirty="0">
                <a:solidFill>
                  <a:srgbClr val="00B0F0"/>
                </a:solidFill>
              </a:rPr>
              <a:t>This is accomplished by test and set() and compare and swap() instructions</a:t>
            </a:r>
            <a:r>
              <a:rPr lang="en-US" sz="2400" dirty="0"/>
              <a:t>.</a:t>
            </a:r>
          </a:p>
          <a:p>
            <a:pPr algn="just"/>
            <a:r>
              <a:rPr lang="en-US" sz="2400" dirty="0"/>
              <a:t>The important characteristic of test and set() instruction is that it is executed </a:t>
            </a:r>
            <a:r>
              <a:rPr lang="en-US" sz="2400" dirty="0">
                <a:solidFill>
                  <a:srgbClr val="00B0F0"/>
                </a:solidFill>
              </a:rPr>
              <a:t>atomically</a:t>
            </a:r>
            <a:r>
              <a:rPr lang="en-US" sz="2400" dirty="0"/>
              <a:t>. Thus, if two test and set() instructions are executed simultaneously each on a different core), they will be executed sequentially in some arbitrary order. </a:t>
            </a:r>
          </a:p>
          <a:p>
            <a:pPr algn="just"/>
            <a:r>
              <a:rPr lang="en-US" sz="2400" dirty="0"/>
              <a:t>If the machine supports the test and set() instruction, then we can implement mutual exclusion by declaring a </a:t>
            </a:r>
            <a:r>
              <a:rPr lang="en-US" sz="2400" dirty="0" err="1">
                <a:solidFill>
                  <a:srgbClr val="00B0F0"/>
                </a:solidFill>
              </a:rPr>
              <a:t>boolean</a:t>
            </a:r>
            <a:r>
              <a:rPr lang="en-US" sz="2400" dirty="0">
                <a:solidFill>
                  <a:srgbClr val="00B0F0"/>
                </a:solidFill>
              </a:rPr>
              <a:t> variable lock, initialized to false.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9959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350" y="304800"/>
            <a:ext cx="4133850" cy="48736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test and set() instruction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4267200" y="228600"/>
            <a:ext cx="4343400" cy="2453589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40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416" y="2438400"/>
            <a:ext cx="3810000" cy="392455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2584" y="2933446"/>
            <a:ext cx="3938016" cy="392455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2584" y="1966266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Process 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76416" y="2921000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Process </a:t>
            </a:r>
            <a:r>
              <a:rPr lang="en-US" b="1" dirty="0" err="1">
                <a:solidFill>
                  <a:srgbClr val="FF0000"/>
                </a:solidFill>
              </a:rPr>
              <a:t>Pj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4267200" y="2819400"/>
            <a:ext cx="447141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281195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87362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compare and swap() instruction (CAS)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04216" y="1362456"/>
            <a:ext cx="7924800" cy="4873752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The compare and swap() instruction (CAS), just like the test and set() instruction, operates on two words atomically, but uses a different mechanism that is based on swapping the content of two words. </a:t>
            </a:r>
          </a:p>
          <a:p>
            <a:pPr algn="just"/>
            <a:r>
              <a:rPr lang="en-US" sz="2400" dirty="0"/>
              <a:t>The operand value is set to new value only if the expression (*value == expected) is true. Regardless, CAS always returns the original value of the variable value. The important characteristic of this instruction is that it is executed atomically.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8096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1116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compare and swap() instruction (CAS)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304800" y="1257300"/>
            <a:ext cx="6795516" cy="32766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42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558" y="1956054"/>
            <a:ext cx="5181600" cy="403860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3352800" y="2050542"/>
            <a:ext cx="76200" cy="450265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572387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/>
              <a:t>Mutual exclusion using CAS can be provided as follows: A global variable (</a:t>
            </a:r>
            <a:r>
              <a:rPr lang="en-US" sz="2400" dirty="0">
                <a:solidFill>
                  <a:srgbClr val="00B0F0"/>
                </a:solidFill>
              </a:rPr>
              <a:t>lock</a:t>
            </a:r>
            <a:r>
              <a:rPr lang="en-US" sz="2400" dirty="0"/>
              <a:t>) is declared and is </a:t>
            </a:r>
            <a:r>
              <a:rPr lang="en-US" sz="2400" dirty="0">
                <a:solidFill>
                  <a:srgbClr val="00B0F0"/>
                </a:solidFill>
              </a:rPr>
              <a:t>initialized to 0</a:t>
            </a:r>
            <a:r>
              <a:rPr lang="en-US" sz="2400" dirty="0"/>
              <a:t>. The first process that invokes compare and swap() </a:t>
            </a:r>
            <a:r>
              <a:rPr lang="en-US" sz="2400" dirty="0">
                <a:solidFill>
                  <a:srgbClr val="00B0F0"/>
                </a:solidFill>
              </a:rPr>
              <a:t>will set lock to 1</a:t>
            </a:r>
            <a:r>
              <a:rPr lang="en-US" sz="2400" dirty="0"/>
              <a:t>. It will then enter its critical section, because the original value of lock was equal to the expected value of 0. </a:t>
            </a:r>
          </a:p>
          <a:p>
            <a:pPr algn="just"/>
            <a:r>
              <a:rPr lang="en-US" sz="2400" dirty="0"/>
              <a:t>When a process exits its critical section, </a:t>
            </a:r>
            <a:r>
              <a:rPr lang="en-US" sz="2400" dirty="0">
                <a:solidFill>
                  <a:srgbClr val="00B0F0"/>
                </a:solidFill>
              </a:rPr>
              <a:t>it sets lock back to 0</a:t>
            </a:r>
            <a:r>
              <a:rPr lang="en-US" sz="2400" dirty="0"/>
              <a:t>, which allows another process to enter its critical section.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3314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2200" y="2514600"/>
            <a:ext cx="7467600" cy="114300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00B0F0"/>
                </a:solidFill>
              </a:rPr>
              <a:t>Semaphores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25559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9308" y="57150"/>
            <a:ext cx="7467600" cy="563562"/>
          </a:xfrm>
        </p:spPr>
        <p:txBody>
          <a:bodyPr/>
          <a:lstStyle/>
          <a:p>
            <a:r>
              <a:rPr lang="en-US" b="1" dirty="0"/>
              <a:t>Semaphores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14400"/>
            <a:ext cx="7671816" cy="55626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400" dirty="0"/>
              <a:t>It is a synchronization tool that is used to generalize the solution to the critical section problem. </a:t>
            </a:r>
          </a:p>
          <a:p>
            <a:pPr algn="just"/>
            <a:r>
              <a:rPr lang="en-US" sz="2400" b="1" dirty="0"/>
              <a:t>Semaphore </a:t>
            </a:r>
            <a:r>
              <a:rPr lang="en-US" sz="2400" dirty="0">
                <a:solidFill>
                  <a:srgbClr val="FF0000"/>
                </a:solidFill>
              </a:rPr>
              <a:t>S is an integer variable </a:t>
            </a:r>
            <a:r>
              <a:rPr lang="en-US" sz="2400" dirty="0"/>
              <a:t>that, apart from initialization, </a:t>
            </a:r>
          </a:p>
          <a:p>
            <a:pPr algn="just"/>
            <a:r>
              <a:rPr lang="en-US" sz="2400" dirty="0"/>
              <a:t>Is accessed only through two standard atomic operations: </a:t>
            </a:r>
            <a:r>
              <a:rPr lang="en-US" sz="2400" dirty="0">
                <a:solidFill>
                  <a:srgbClr val="FF0000"/>
                </a:solidFill>
              </a:rPr>
              <a:t>wait() and signal().</a:t>
            </a:r>
          </a:p>
          <a:p>
            <a:pPr algn="just"/>
            <a:r>
              <a:rPr lang="en-US" sz="2400" dirty="0"/>
              <a:t>Semaphores were </a:t>
            </a:r>
            <a:r>
              <a:rPr lang="en-US" sz="2400" dirty="0">
                <a:solidFill>
                  <a:srgbClr val="FF0000"/>
                </a:solidFill>
              </a:rPr>
              <a:t>introduced by the Dutch computer scientist </a:t>
            </a:r>
            <a:r>
              <a:rPr lang="en-US" sz="2400" dirty="0" err="1">
                <a:solidFill>
                  <a:srgbClr val="FF0000"/>
                </a:solidFill>
              </a:rPr>
              <a:t>Edsger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Dijkstra</a:t>
            </a:r>
            <a:r>
              <a:rPr lang="en-US" sz="2400" dirty="0"/>
              <a:t>,</a:t>
            </a:r>
          </a:p>
          <a:p>
            <a:pPr algn="just"/>
            <a:r>
              <a:rPr lang="en-US" sz="2400" dirty="0"/>
              <a:t>the </a:t>
            </a:r>
            <a:r>
              <a:rPr lang="en-US" sz="2400" dirty="0">
                <a:solidFill>
                  <a:srgbClr val="00B0F0"/>
                </a:solidFill>
              </a:rPr>
              <a:t>wait() </a:t>
            </a:r>
            <a:r>
              <a:rPr lang="en-US" sz="2400" dirty="0"/>
              <a:t>operation was originally </a:t>
            </a:r>
            <a:r>
              <a:rPr lang="en-US" sz="2400" dirty="0">
                <a:solidFill>
                  <a:srgbClr val="00B0F0"/>
                </a:solidFill>
              </a:rPr>
              <a:t>termed P </a:t>
            </a:r>
            <a:r>
              <a:rPr lang="en-US" sz="2400" dirty="0"/>
              <a:t>(from the Dutch </a:t>
            </a:r>
            <a:r>
              <a:rPr lang="en-US" sz="2400" b="1" i="1" dirty="0" err="1">
                <a:solidFill>
                  <a:srgbClr val="00B0F0"/>
                </a:solidFill>
              </a:rPr>
              <a:t>proberen</a:t>
            </a:r>
            <a:r>
              <a:rPr lang="en-US" sz="2400" b="1" i="1" dirty="0"/>
              <a:t>, </a:t>
            </a:r>
            <a:r>
              <a:rPr lang="en-US" sz="2400" dirty="0"/>
              <a:t>“to test”); </a:t>
            </a:r>
          </a:p>
          <a:p>
            <a:pPr algn="just"/>
            <a:r>
              <a:rPr lang="en-US" sz="2400" dirty="0">
                <a:solidFill>
                  <a:srgbClr val="00B0F0"/>
                </a:solidFill>
              </a:rPr>
              <a:t>signal() </a:t>
            </a:r>
            <a:r>
              <a:rPr lang="en-US" sz="2400" dirty="0"/>
              <a:t>was originally </a:t>
            </a:r>
            <a:r>
              <a:rPr lang="en-US" sz="2400" dirty="0">
                <a:solidFill>
                  <a:srgbClr val="00B0F0"/>
                </a:solidFill>
              </a:rPr>
              <a:t>called V</a:t>
            </a:r>
            <a:r>
              <a:rPr lang="en-US" sz="2400" dirty="0"/>
              <a:t> (from </a:t>
            </a:r>
            <a:r>
              <a:rPr lang="en-US" sz="2400" b="1" i="1" dirty="0" err="1">
                <a:solidFill>
                  <a:srgbClr val="00B0F0"/>
                </a:solidFill>
              </a:rPr>
              <a:t>verhogen</a:t>
            </a:r>
            <a:r>
              <a:rPr lang="en-US" sz="2400" b="1" i="1" dirty="0"/>
              <a:t>, </a:t>
            </a:r>
            <a:r>
              <a:rPr lang="en-US" sz="2400" dirty="0"/>
              <a:t>“to increment”).</a:t>
            </a:r>
          </a:p>
          <a:p>
            <a:pPr lvl="1"/>
            <a:r>
              <a:rPr lang="en-US" sz="2175" dirty="0">
                <a:solidFill>
                  <a:srgbClr val="00B0F0"/>
                </a:solidFill>
              </a:rPr>
              <a:t>1. wait or P operation ( to test ) </a:t>
            </a:r>
          </a:p>
          <a:p>
            <a:pPr lvl="1"/>
            <a:r>
              <a:rPr lang="en-US" sz="2175" dirty="0">
                <a:solidFill>
                  <a:srgbClr val="00B0F0"/>
                </a:solidFill>
              </a:rPr>
              <a:t>2. signal or V operation ( to increment )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35834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15962"/>
          </a:xfrm>
        </p:spPr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1. Binary Semaphore</a:t>
            </a:r>
          </a:p>
          <a:p>
            <a:pPr marL="0" indent="0">
              <a:buNone/>
            </a:pPr>
            <a:r>
              <a:rPr lang="en-US" sz="2800" dirty="0"/>
              <a:t>2. Counting Semaphore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13492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091" y="1262933"/>
            <a:ext cx="3810000" cy="25146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5617" y="4405572"/>
            <a:ext cx="3099816" cy="224785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85387" y="810011"/>
            <a:ext cx="39998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B0F0"/>
                </a:solidFill>
              </a:rPr>
              <a:t>The definition of </a:t>
            </a:r>
            <a:r>
              <a:rPr lang="en-US" sz="2800" dirty="0">
                <a:solidFill>
                  <a:srgbClr val="FF0000"/>
                </a:solidFill>
              </a:rPr>
              <a:t>wait()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46092" y="3806243"/>
            <a:ext cx="3677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00B0F0"/>
                </a:solidFill>
              </a:rPr>
              <a:t>The definition of </a:t>
            </a:r>
            <a:r>
              <a:rPr lang="en-US" sz="2400" dirty="0">
                <a:solidFill>
                  <a:srgbClr val="FF0000"/>
                </a:solidFill>
              </a:rPr>
              <a:t>signal()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45800"/>
            <a:ext cx="4038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do {</a:t>
            </a:r>
          </a:p>
          <a:p>
            <a:r>
              <a:rPr lang="en-US" sz="2400" dirty="0"/>
              <a:t>        wait(S)</a:t>
            </a:r>
          </a:p>
          <a:p>
            <a:r>
              <a:rPr lang="en-US" sz="2400" dirty="0"/>
              <a:t>           Critical Section</a:t>
            </a:r>
          </a:p>
          <a:p>
            <a:r>
              <a:rPr lang="en-US" sz="2400" dirty="0"/>
              <a:t>         signal(s)</a:t>
            </a:r>
          </a:p>
          <a:p>
            <a:r>
              <a:rPr lang="en-US" sz="2400" dirty="0"/>
              <a:t>            Remainder section</a:t>
            </a:r>
          </a:p>
          <a:p>
            <a:r>
              <a:rPr lang="en-US" sz="2400" dirty="0"/>
              <a:t>} while(1)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57175"/>
            <a:ext cx="8356600" cy="516467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2667" dirty="0">
                <a:solidFill>
                  <a:srgbClr val="FF0000"/>
                </a:solidFill>
              </a:rPr>
              <a:t>Semaphore Implementation with </a:t>
            </a:r>
            <a:br>
              <a:rPr lang="en-US" sz="2667" dirty="0">
                <a:solidFill>
                  <a:srgbClr val="FF0000"/>
                </a:solidFill>
              </a:rPr>
            </a:br>
            <a:r>
              <a:rPr lang="en-US" sz="2667" b="1" dirty="0">
                <a:solidFill>
                  <a:srgbClr val="00B0F0"/>
                </a:solidFill>
              </a:rPr>
              <a:t>Busy waiting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33399" y="4267908"/>
            <a:ext cx="37233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Disadvantages: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rgbClr val="FF0000"/>
                </a:solidFill>
              </a:rPr>
              <a:t>Busy waiting</a:t>
            </a:r>
          </a:p>
          <a:p>
            <a:r>
              <a:rPr lang="en-US" sz="2400" dirty="0"/>
              <a:t>This is called </a:t>
            </a:r>
            <a:r>
              <a:rPr lang="en-US" sz="2400" dirty="0">
                <a:solidFill>
                  <a:srgbClr val="FF0000"/>
                </a:solidFill>
              </a:rPr>
              <a:t>Spin Lock</a:t>
            </a:r>
          </a:p>
        </p:txBody>
      </p:sp>
    </p:spTree>
    <p:extLst>
      <p:ext uri="{BB962C8B-B14F-4D97-AF65-F5344CB8AC3E}">
        <p14:creationId xmlns:p14="http://schemas.microsoft.com/office/powerpoint/2010/main" val="426525736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457200"/>
            <a:ext cx="8001000" cy="6172200"/>
          </a:xfrm>
        </p:spPr>
        <p:txBody>
          <a:bodyPr>
            <a:normAutofit/>
          </a:bodyPr>
          <a:lstStyle/>
          <a:p>
            <a:r>
              <a:rPr lang="en-US" sz="2000" b="1" dirty="0"/>
              <a:t>Semaphore Implementation</a:t>
            </a:r>
          </a:p>
          <a:p>
            <a:pPr algn="just"/>
            <a:r>
              <a:rPr lang="en-US" sz="2000" dirty="0"/>
              <a:t> </a:t>
            </a:r>
            <a:r>
              <a:rPr lang="en-US" sz="2000" dirty="0">
                <a:solidFill>
                  <a:srgbClr val="00B0F0"/>
                </a:solidFill>
              </a:rPr>
              <a:t>The semaphore discussed so far requires a busy waiting</a:t>
            </a:r>
            <a:r>
              <a:rPr lang="en-US" sz="2000" dirty="0"/>
              <a:t>. That is if a process is in critical-section, the other process that tries to enter its critical-section must loop continuously in the entry code.</a:t>
            </a:r>
          </a:p>
          <a:p>
            <a:pPr algn="just"/>
            <a:r>
              <a:rPr lang="en-US" sz="2000" dirty="0"/>
              <a:t> </a:t>
            </a:r>
            <a:r>
              <a:rPr lang="en-US" sz="2000" dirty="0">
                <a:solidFill>
                  <a:srgbClr val="00B0F0"/>
                </a:solidFill>
              </a:rPr>
              <a:t>To overcome the busy waiting problem, the definition of the semaphore operations wait and signal should be modified.</a:t>
            </a:r>
          </a:p>
          <a:p>
            <a:pPr algn="just"/>
            <a:r>
              <a:rPr lang="en-US" sz="2000" dirty="0"/>
              <a:t> When a process executes the wait operation and finds that the semaphore value is not positive, the process can block itself. The </a:t>
            </a:r>
            <a:r>
              <a:rPr lang="en-US" sz="2000" dirty="0">
                <a:solidFill>
                  <a:srgbClr val="00B0F0"/>
                </a:solidFill>
              </a:rPr>
              <a:t>block operation </a:t>
            </a:r>
            <a:r>
              <a:rPr lang="en-US" sz="2000" dirty="0"/>
              <a:t>places the process into a waiting queue associated with the semaphore.</a:t>
            </a:r>
          </a:p>
          <a:p>
            <a:pPr algn="just"/>
            <a:r>
              <a:rPr lang="en-US" sz="2000" dirty="0"/>
              <a:t> A process that is blocked waiting on a semaphore should be restarted when some other process executes a signal operation. The blocked process should be restarted by a </a:t>
            </a:r>
            <a:r>
              <a:rPr lang="en-US" sz="2000" dirty="0">
                <a:solidFill>
                  <a:srgbClr val="00B0F0"/>
                </a:solidFill>
              </a:rPr>
              <a:t>wakeup operation </a:t>
            </a:r>
            <a:r>
              <a:rPr lang="en-US" sz="2000" dirty="0"/>
              <a:t>which put that process into ready queue.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22193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381000"/>
            <a:ext cx="8915400" cy="541867"/>
          </a:xfrm>
        </p:spPr>
        <p:txBody>
          <a:bodyPr>
            <a:noAutofit/>
          </a:bodyPr>
          <a:lstStyle/>
          <a:p>
            <a:pPr eaLnBrk="1" hangingPunct="1"/>
            <a:r>
              <a:rPr lang="en-US" sz="2800" b="1" dirty="0">
                <a:solidFill>
                  <a:srgbClr val="FF0000"/>
                </a:solidFill>
              </a:rPr>
              <a:t>Classical Problems of Synchronization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Classical problems used to test newly-proposed synchronization schemes</a:t>
            </a:r>
          </a:p>
          <a:p>
            <a:endParaRPr lang="en-US" dirty="0"/>
          </a:p>
          <a:p>
            <a:pPr lvl="1"/>
            <a:r>
              <a:rPr lang="en-US" sz="2800" b="1" dirty="0">
                <a:solidFill>
                  <a:srgbClr val="FF0000"/>
                </a:solidFill>
              </a:rPr>
              <a:t>Bounded-Buffer Problem</a:t>
            </a:r>
          </a:p>
          <a:p>
            <a:endParaRPr lang="en-US" sz="3600" b="1" dirty="0">
              <a:solidFill>
                <a:srgbClr val="FF0000"/>
              </a:solidFill>
            </a:endParaRPr>
          </a:p>
          <a:p>
            <a:pPr lvl="1"/>
            <a:r>
              <a:rPr lang="en-US" sz="2800" b="1" dirty="0">
                <a:solidFill>
                  <a:srgbClr val="FF0000"/>
                </a:solidFill>
              </a:rPr>
              <a:t>Readers and Writers Problem</a:t>
            </a:r>
          </a:p>
          <a:p>
            <a:endParaRPr lang="en-US" sz="3600" b="1" dirty="0">
              <a:solidFill>
                <a:srgbClr val="FF0000"/>
              </a:solidFill>
            </a:endParaRPr>
          </a:p>
          <a:p>
            <a:pPr lvl="1"/>
            <a:r>
              <a:rPr lang="en-US" sz="2800" b="1" dirty="0">
                <a:solidFill>
                  <a:srgbClr val="FF0000"/>
                </a:solidFill>
              </a:rPr>
              <a:t>Dining-Philosophers Problem</a:t>
            </a:r>
          </a:p>
        </p:txBody>
      </p:sp>
    </p:spTree>
    <p:extLst>
      <p:ext uri="{BB962C8B-B14F-4D97-AF65-F5344CB8AC3E}">
        <p14:creationId xmlns:p14="http://schemas.microsoft.com/office/powerpoint/2010/main" val="13945913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7467600" cy="1143000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Bounded Buffer Problem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62997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1279525" y="627592"/>
            <a:ext cx="7407275" cy="512233"/>
          </a:xfrm>
        </p:spPr>
        <p:txBody>
          <a:bodyPr>
            <a:normAutofit/>
          </a:bodyPr>
          <a:lstStyle/>
          <a:p>
            <a:pPr eaLnBrk="1" hangingPunct="1"/>
            <a:r>
              <a:rPr lang="en-US"/>
              <a:t>Bounded-Buffer Problem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2667000"/>
            <a:ext cx="7210425" cy="3311525"/>
          </a:xfrm>
        </p:spPr>
        <p:txBody>
          <a:bodyPr/>
          <a:lstStyle/>
          <a:p>
            <a:r>
              <a:rPr lang="en-US" i="1" dirty="0"/>
              <a:t>N</a:t>
            </a:r>
            <a:r>
              <a:rPr lang="en-US" dirty="0"/>
              <a:t> buffers, each can hold one item</a:t>
            </a:r>
          </a:p>
          <a:p>
            <a:endParaRPr lang="en-US" dirty="0"/>
          </a:p>
          <a:p>
            <a:r>
              <a:rPr lang="en-US" dirty="0"/>
              <a:t>Semaphore </a:t>
            </a:r>
            <a:r>
              <a:rPr lang="en-US" dirty="0" err="1">
                <a:solidFill>
                  <a:srgbClr val="FF0000"/>
                </a:solidFill>
              </a:rPr>
              <a:t>mutex</a:t>
            </a:r>
            <a:r>
              <a:rPr lang="en-US" dirty="0"/>
              <a:t> initialized to the value 1</a:t>
            </a:r>
          </a:p>
          <a:p>
            <a:endParaRPr lang="en-US" dirty="0"/>
          </a:p>
          <a:p>
            <a:r>
              <a:rPr lang="en-US" dirty="0"/>
              <a:t>Semaphore </a:t>
            </a:r>
            <a:r>
              <a:rPr lang="en-US" dirty="0">
                <a:solidFill>
                  <a:srgbClr val="FF0000"/>
                </a:solidFill>
              </a:rPr>
              <a:t>full </a:t>
            </a:r>
            <a:r>
              <a:rPr lang="en-US" dirty="0"/>
              <a:t>initialized to the value 0</a:t>
            </a:r>
          </a:p>
          <a:p>
            <a:endParaRPr lang="en-US" dirty="0"/>
          </a:p>
          <a:p>
            <a:r>
              <a:rPr lang="en-US" dirty="0"/>
              <a:t>Semaphore </a:t>
            </a:r>
            <a:r>
              <a:rPr lang="en-US" dirty="0">
                <a:solidFill>
                  <a:srgbClr val="FF0000"/>
                </a:solidFill>
              </a:rPr>
              <a:t>empty</a:t>
            </a:r>
            <a:r>
              <a:rPr lang="en-US" dirty="0"/>
              <a:t> initialized to the value N</a:t>
            </a:r>
          </a:p>
          <a:p>
            <a:endParaRPr lang="en-US" dirty="0"/>
          </a:p>
        </p:txBody>
      </p:sp>
      <p:sp>
        <p:nvSpPr>
          <p:cNvPr id="29700" name="Rectangle 5"/>
          <p:cNvSpPr>
            <a:spLocks noChangeArrowheads="1"/>
          </p:cNvSpPr>
          <p:nvPr/>
        </p:nvSpPr>
        <p:spPr bwMode="auto">
          <a:xfrm>
            <a:off x="2492376" y="3267076"/>
            <a:ext cx="175919" cy="272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7077" tIns="43539" rIns="87077" bIns="43539">
            <a:spAutoFit/>
          </a:bodyPr>
          <a:lstStyle/>
          <a:p>
            <a:endParaRPr kumimoji="1" lang="en-US" sz="1200">
              <a:latin typeface="Helvetica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09600" y="1524000"/>
            <a:ext cx="8077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PalatinoLTStd-Roman"/>
              </a:rPr>
              <a:t>The producer and consumer processes share the following</a:t>
            </a:r>
          </a:p>
          <a:p>
            <a:r>
              <a:rPr lang="en-US" dirty="0">
                <a:latin typeface="PalatinoLTStd-Roman"/>
              </a:rPr>
              <a:t>data structures: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1695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304800"/>
            <a:ext cx="8229600" cy="6400800"/>
          </a:xfrm>
        </p:spPr>
        <p:txBody>
          <a:bodyPr>
            <a:normAutofit/>
          </a:bodyPr>
          <a:lstStyle/>
          <a:p>
            <a:pPr algn="just"/>
            <a:r>
              <a:rPr lang="en-US" sz="2400" b="1" dirty="0"/>
              <a:t>The bounded buffer problem, also known as the producer-consumer problem, is a classic synchronization issue in operating systems. It shows how producers and consumers can safely share a fixed-size buffer using semaphores and </a:t>
            </a:r>
            <a:r>
              <a:rPr lang="en-US" sz="2400" b="1" dirty="0" err="1"/>
              <a:t>mutexe</a:t>
            </a:r>
            <a:r>
              <a:rPr lang="en-US" sz="2400" b="1" dirty="0"/>
              <a:t>.</a:t>
            </a:r>
          </a:p>
          <a:p>
            <a:pPr algn="just"/>
            <a:r>
              <a:rPr lang="en-US" sz="2400" b="1" dirty="0"/>
              <a:t>Producer</a:t>
            </a:r>
            <a:r>
              <a:rPr lang="en-US" sz="2400" dirty="0"/>
              <a:t>: Generates data items and puts them into a shared buffer.</a:t>
            </a:r>
          </a:p>
          <a:p>
            <a:pPr algn="just"/>
            <a:r>
              <a:rPr lang="en-US" sz="2400" b="1" dirty="0"/>
              <a:t>Consumer</a:t>
            </a:r>
            <a:r>
              <a:rPr lang="en-US" sz="2400" dirty="0"/>
              <a:t>: Takes data items from the buffer and processes them.</a:t>
            </a:r>
          </a:p>
          <a:p>
            <a:pPr algn="just"/>
            <a:r>
              <a:rPr lang="en-US" sz="2400" b="1" dirty="0"/>
              <a:t>Bounded Buffer</a:t>
            </a:r>
            <a:r>
              <a:rPr lang="en-US" sz="2400" dirty="0"/>
              <a:t>: The buffer has a </a:t>
            </a:r>
            <a:r>
              <a:rPr lang="en-US" sz="2400" b="1" dirty="0"/>
              <a:t>fixed capacity</a:t>
            </a:r>
            <a:r>
              <a:rPr lang="en-US" sz="2400" dirty="0"/>
              <a:t>.</a:t>
            </a:r>
          </a:p>
          <a:p>
            <a:pPr algn="just"/>
            <a:r>
              <a:rPr lang="en-US" sz="2400" b="1" dirty="0"/>
              <a:t>Constraints</a:t>
            </a:r>
            <a:r>
              <a:rPr lang="en-US" sz="2400" dirty="0"/>
              <a:t>:</a:t>
            </a:r>
          </a:p>
          <a:p>
            <a:pPr lvl="1" algn="just"/>
            <a:r>
              <a:rPr lang="en-US" sz="1800" dirty="0"/>
              <a:t>Producer must </a:t>
            </a:r>
            <a:r>
              <a:rPr lang="en-US" sz="1800" b="1" dirty="0"/>
              <a:t>wait</a:t>
            </a:r>
            <a:r>
              <a:rPr lang="en-US" sz="1800" dirty="0"/>
              <a:t> if the buffer is </a:t>
            </a:r>
            <a:r>
              <a:rPr lang="en-US" sz="1800" b="1" dirty="0"/>
              <a:t>full</a:t>
            </a:r>
            <a:r>
              <a:rPr lang="en-US" sz="1800" dirty="0"/>
              <a:t>.</a:t>
            </a:r>
          </a:p>
          <a:p>
            <a:pPr lvl="1" algn="just"/>
            <a:r>
              <a:rPr lang="en-US" sz="1800" dirty="0"/>
              <a:t>Consumer must </a:t>
            </a:r>
            <a:r>
              <a:rPr lang="en-US" sz="1800" b="1" dirty="0"/>
              <a:t>wait</a:t>
            </a:r>
            <a:r>
              <a:rPr lang="en-US" sz="1800" dirty="0"/>
              <a:t> if the buffer is </a:t>
            </a:r>
            <a:r>
              <a:rPr lang="en-US" sz="1800" b="1" dirty="0"/>
              <a:t>empty</a:t>
            </a:r>
            <a:r>
              <a:rPr lang="en-US" sz="1800" dirty="0"/>
              <a:t>.</a:t>
            </a:r>
          </a:p>
          <a:p>
            <a:pPr lvl="1" algn="just"/>
            <a:r>
              <a:rPr lang="en-US" sz="1800" dirty="0"/>
              <a:t>Access to the buffer must be </a:t>
            </a:r>
            <a:r>
              <a:rPr lang="en-US" sz="1800" b="1" dirty="0"/>
              <a:t>mutually exclusive</a:t>
            </a:r>
            <a:r>
              <a:rPr lang="en-US" sz="1800" dirty="0"/>
              <a:t> to avoid race conditions.</a:t>
            </a:r>
          </a:p>
          <a:p>
            <a:pPr algn="just"/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5853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5" name="Rectangle 1"/>
          <p:cNvSpPr>
            <a:spLocks noGrp="1" noChangeArrowheads="1"/>
          </p:cNvSpPr>
          <p:nvPr>
            <p:ph sz="quarter" idx="1"/>
          </p:nvPr>
        </p:nvSpPr>
        <p:spPr bwMode="auto">
          <a:xfrm>
            <a:off x="304800" y="1841957"/>
            <a:ext cx="7620000" cy="32316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 panose="020B0604020202020204" pitchFamily="34" charset="-128"/>
              </a:rPr>
              <a:t>empty</a:t>
            </a:r>
            <a:r>
              <a:rPr kumimoji="0" 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/>
              </a:rPr>
              <a:t> semaphore</a:t>
            </a: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/>
              </a:rPr>
              <a:t> tracks available slots in the buffer.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 panose="020B0604020202020204" pitchFamily="34" charset="-128"/>
              </a:rPr>
              <a:t>full</a:t>
            </a:r>
            <a:r>
              <a:rPr kumimoji="0" 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/>
              </a:rPr>
              <a:t> semaphore</a:t>
            </a: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/>
              </a:rPr>
              <a:t> tracks filled slots.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sz="24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 Unicode MS" panose="020B0604020202020204" pitchFamily="34" charset="-128"/>
              </a:rPr>
              <a:t>mutex</a:t>
            </a: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/>
              </a:rPr>
              <a:t> ensures only one thread accesses the buffer at a time (ensures the status of the critical section).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399014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637116" y="28575"/>
            <a:ext cx="7575550" cy="512233"/>
          </a:xfrm>
        </p:spPr>
        <p:txBody>
          <a:bodyPr>
            <a:normAutofit/>
          </a:bodyPr>
          <a:lstStyle/>
          <a:p>
            <a:pPr eaLnBrk="1" hangingPunct="1"/>
            <a:r>
              <a:rPr lang="en-US" b="1" dirty="0">
                <a:solidFill>
                  <a:schemeClr val="tx1"/>
                </a:solidFill>
              </a:rPr>
              <a:t>Bounded Buffer Problem (Cont.)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240241" y="457200"/>
            <a:ext cx="4049183" cy="4334933"/>
          </a:xfrm>
          <a:solidFill>
            <a:srgbClr val="FFFF00"/>
          </a:solidFill>
        </p:spPr>
        <p:txBody>
          <a:bodyPr>
            <a:noAutofit/>
          </a:bodyPr>
          <a:lstStyle/>
          <a:p>
            <a:r>
              <a:rPr lang="en-US" sz="1600" dirty="0"/>
              <a:t>The structure of the </a:t>
            </a:r>
            <a:r>
              <a:rPr lang="en-US" sz="1600" b="1" dirty="0">
                <a:solidFill>
                  <a:srgbClr val="FF0000"/>
                </a:solidFill>
              </a:rPr>
              <a:t>producer </a:t>
            </a:r>
            <a:r>
              <a:rPr lang="en-US" sz="1200" b="1" dirty="0">
                <a:solidFill>
                  <a:srgbClr val="FF0000"/>
                </a:solidFill>
              </a:rPr>
              <a:t>process</a:t>
            </a:r>
          </a:p>
          <a:p>
            <a:pPr>
              <a:buFont typeface="Monotype Sorts" charset="2"/>
              <a:buNone/>
            </a:pPr>
            <a:r>
              <a:rPr lang="en-US" sz="1600" dirty="0">
                <a:solidFill>
                  <a:srgbClr val="0000FF"/>
                </a:solidFill>
              </a:rPr>
              <a:t>	</a:t>
            </a:r>
            <a:r>
              <a:rPr lang="en-US" sz="1600" b="1" dirty="0"/>
              <a:t>do  {</a:t>
            </a:r>
            <a:br>
              <a:rPr lang="en-US" sz="1600" b="1" dirty="0"/>
            </a:br>
            <a:endParaRPr lang="en-US" sz="1600" b="1" dirty="0"/>
          </a:p>
          <a:p>
            <a:pPr>
              <a:buFont typeface="Monotype Sorts" charset="2"/>
              <a:buNone/>
            </a:pPr>
            <a:r>
              <a:rPr lang="en-US" sz="1600" b="1" dirty="0"/>
              <a:t>             //   produce an item in </a:t>
            </a:r>
            <a:r>
              <a:rPr lang="en-US" sz="1600" b="1" dirty="0" err="1"/>
              <a:t>nextp</a:t>
            </a:r>
            <a:endParaRPr lang="en-US" sz="1600" b="1" dirty="0"/>
          </a:p>
          <a:p>
            <a:pPr>
              <a:buFont typeface="Monotype Sorts" charset="2"/>
              <a:buNone/>
            </a:pPr>
            <a:endParaRPr lang="en-US" sz="1600" b="1" dirty="0"/>
          </a:p>
          <a:p>
            <a:pPr>
              <a:buFont typeface="Monotype Sorts" charset="2"/>
              <a:buNone/>
            </a:pPr>
            <a:r>
              <a:rPr lang="en-US" sz="1600" b="1" dirty="0"/>
              <a:t>                               </a:t>
            </a:r>
            <a:r>
              <a:rPr lang="en-US" sz="2000" b="1" dirty="0"/>
              <a:t>wait (empty);</a:t>
            </a:r>
          </a:p>
          <a:p>
            <a:pPr>
              <a:buFont typeface="Monotype Sorts" charset="2"/>
              <a:buNone/>
            </a:pPr>
            <a:r>
              <a:rPr lang="en-US" sz="1600" b="1" dirty="0"/>
              <a:t>                               </a:t>
            </a:r>
            <a:r>
              <a:rPr lang="en-US" sz="2000" b="1" dirty="0"/>
              <a:t>wait (</a:t>
            </a:r>
            <a:r>
              <a:rPr lang="en-US" sz="2000" b="1" dirty="0" err="1"/>
              <a:t>mutex</a:t>
            </a:r>
            <a:r>
              <a:rPr lang="en-US" sz="2000" b="1" dirty="0"/>
              <a:t>);</a:t>
            </a:r>
          </a:p>
          <a:p>
            <a:pPr>
              <a:buFont typeface="Monotype Sorts" charset="2"/>
              <a:buNone/>
            </a:pPr>
            <a:endParaRPr lang="en-US" sz="1600" b="1" dirty="0"/>
          </a:p>
          <a:p>
            <a:pPr>
              <a:buFont typeface="Monotype Sorts" charset="2"/>
              <a:buNone/>
            </a:pPr>
            <a:r>
              <a:rPr lang="en-US" sz="1600" b="1" dirty="0"/>
              <a:t>              //  add the item to the  buffer</a:t>
            </a:r>
          </a:p>
          <a:p>
            <a:pPr>
              <a:buFont typeface="Monotype Sorts" charset="2"/>
              <a:buNone/>
            </a:pPr>
            <a:r>
              <a:rPr lang="en-US" sz="1600" b="1" dirty="0"/>
              <a:t>                    </a:t>
            </a:r>
          </a:p>
          <a:p>
            <a:pPr>
              <a:buFont typeface="Monotype Sorts" charset="2"/>
              <a:buNone/>
            </a:pPr>
            <a:r>
              <a:rPr lang="en-US" sz="1600" b="1" dirty="0"/>
              <a:t>                    </a:t>
            </a:r>
            <a:r>
              <a:rPr lang="en-US" sz="2000" b="1" dirty="0"/>
              <a:t>signal (</a:t>
            </a:r>
            <a:r>
              <a:rPr lang="en-US" sz="2000" b="1" dirty="0" err="1"/>
              <a:t>mutex</a:t>
            </a:r>
            <a:r>
              <a:rPr lang="en-US" sz="2000" b="1" dirty="0"/>
              <a:t>);</a:t>
            </a:r>
          </a:p>
          <a:p>
            <a:pPr>
              <a:buFont typeface="Monotype Sorts" charset="2"/>
              <a:buNone/>
            </a:pPr>
            <a:r>
              <a:rPr lang="en-US" sz="1600" b="1" dirty="0"/>
              <a:t>                    </a:t>
            </a:r>
            <a:r>
              <a:rPr lang="en-US" sz="2000" b="1" dirty="0"/>
              <a:t>signal (full);</a:t>
            </a:r>
          </a:p>
          <a:p>
            <a:pPr>
              <a:buFont typeface="Monotype Sorts" charset="2"/>
              <a:buNone/>
            </a:pPr>
            <a:r>
              <a:rPr lang="en-US" sz="1600" b="1" dirty="0"/>
              <a:t>           } while (TRUE);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4767791" y="466724"/>
            <a:ext cx="3951817" cy="4334933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vert="horz">
            <a:noAutofit/>
          </a:bodyPr>
          <a:lstStyle>
            <a:lvl1pPr marL="205740" indent="-205740" algn="l" rtl="0" eaLnBrk="1" latinLnBrk="0" hangingPunct="1">
              <a:spcBef>
                <a:spcPts val="450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0060" indent="-20574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3716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91540" indent="-13716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13716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03020" indent="-13716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508760" indent="-13716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105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714500" indent="-13716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1050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920240" indent="-13716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105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The structure of the </a:t>
            </a:r>
            <a:r>
              <a:rPr lang="en-US" sz="1600" b="1" dirty="0">
                <a:solidFill>
                  <a:srgbClr val="FF0000"/>
                </a:solidFill>
              </a:rPr>
              <a:t>consumer</a:t>
            </a:r>
            <a:r>
              <a:rPr lang="en-US" sz="1600" dirty="0"/>
              <a:t> process</a:t>
            </a:r>
          </a:p>
          <a:p>
            <a:pPr>
              <a:buFont typeface="Monotype Sorts" charset="2"/>
              <a:buNone/>
            </a:pPr>
            <a:r>
              <a:rPr lang="en-US" sz="1600" b="1" dirty="0">
                <a:solidFill>
                  <a:srgbClr val="FF0000"/>
                </a:solidFill>
              </a:rPr>
              <a:t>           </a:t>
            </a:r>
            <a:r>
              <a:rPr lang="en-US" sz="1600" b="1" dirty="0"/>
              <a:t>do {</a:t>
            </a:r>
          </a:p>
          <a:p>
            <a:pPr>
              <a:buFont typeface="Monotype Sorts" charset="2"/>
              <a:buNone/>
            </a:pPr>
            <a:r>
              <a:rPr lang="en-US" sz="1600" b="1" dirty="0"/>
              <a:t>                      </a:t>
            </a:r>
            <a:r>
              <a:rPr lang="en-US" sz="2000" b="1" dirty="0"/>
              <a:t>wait (full);</a:t>
            </a:r>
          </a:p>
          <a:p>
            <a:pPr>
              <a:buFont typeface="Monotype Sorts" charset="2"/>
              <a:buNone/>
            </a:pPr>
            <a:r>
              <a:rPr lang="en-US" sz="2000" b="1" dirty="0"/>
              <a:t>                      wait (</a:t>
            </a:r>
            <a:r>
              <a:rPr lang="en-US" sz="2000" b="1" dirty="0" err="1"/>
              <a:t>mutex</a:t>
            </a:r>
            <a:r>
              <a:rPr lang="en-US" sz="2000" b="1" dirty="0"/>
              <a:t>);</a:t>
            </a:r>
          </a:p>
          <a:p>
            <a:pPr>
              <a:buFont typeface="Monotype Sorts" charset="2"/>
              <a:buNone/>
            </a:pPr>
            <a:r>
              <a:rPr lang="en-US" sz="1600" b="1" dirty="0"/>
              <a:t>         //  remove an item from  buffer to </a:t>
            </a:r>
            <a:r>
              <a:rPr lang="en-US" sz="1600" b="1" dirty="0" err="1"/>
              <a:t>nextc</a:t>
            </a:r>
            <a:endParaRPr lang="en-US" sz="1600" b="1" dirty="0"/>
          </a:p>
          <a:p>
            <a:pPr>
              <a:buFont typeface="Monotype Sorts" charset="2"/>
              <a:buNone/>
            </a:pPr>
            <a:endParaRPr lang="en-US" sz="1600" b="1" dirty="0"/>
          </a:p>
          <a:p>
            <a:pPr>
              <a:buFont typeface="Monotype Sorts" charset="2"/>
              <a:buNone/>
            </a:pPr>
            <a:r>
              <a:rPr lang="en-US" sz="1600" b="1" dirty="0"/>
              <a:t>                    </a:t>
            </a:r>
            <a:r>
              <a:rPr lang="en-US" sz="2000" b="1" dirty="0"/>
              <a:t>signal (</a:t>
            </a:r>
            <a:r>
              <a:rPr lang="en-US" sz="2000" b="1" dirty="0" err="1"/>
              <a:t>mutex</a:t>
            </a:r>
            <a:r>
              <a:rPr lang="en-US" sz="2000" b="1" dirty="0"/>
              <a:t>);</a:t>
            </a:r>
          </a:p>
          <a:p>
            <a:pPr>
              <a:buFont typeface="Monotype Sorts" charset="2"/>
              <a:buNone/>
            </a:pPr>
            <a:r>
              <a:rPr lang="en-US" sz="2000" b="1" dirty="0"/>
              <a:t>                 signal (empty);</a:t>
            </a:r>
          </a:p>
          <a:p>
            <a:pPr>
              <a:buFont typeface="Monotype Sorts" charset="2"/>
              <a:buNone/>
            </a:pPr>
            <a:r>
              <a:rPr lang="en-US" sz="1600" b="1" dirty="0"/>
              <a:t>           </a:t>
            </a:r>
          </a:p>
          <a:p>
            <a:pPr>
              <a:buFont typeface="Monotype Sorts" charset="2"/>
              <a:buNone/>
            </a:pPr>
            <a:r>
              <a:rPr lang="en-US" sz="1600" b="1" dirty="0"/>
              <a:t>            //  consume the item in </a:t>
            </a:r>
            <a:r>
              <a:rPr lang="en-US" sz="1600" b="1" dirty="0" err="1"/>
              <a:t>nextc</a:t>
            </a:r>
            <a:endParaRPr lang="en-US" sz="1600" b="1" dirty="0"/>
          </a:p>
          <a:p>
            <a:pPr>
              <a:buFont typeface="Monotype Sorts" charset="2"/>
              <a:buNone/>
            </a:pPr>
            <a:r>
              <a:rPr lang="en-US" sz="1600" b="1" dirty="0"/>
              <a:t>   } while (TRUE);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4430182" y="540808"/>
            <a:ext cx="0" cy="433493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7519914"/>
              </p:ext>
            </p:extLst>
          </p:nvPr>
        </p:nvGraphicFramePr>
        <p:xfrm>
          <a:off x="1262591" y="4915322"/>
          <a:ext cx="2623608" cy="8758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45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5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45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7587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78341" y="5030258"/>
            <a:ext cx="1295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Buffer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89424" y="5018642"/>
            <a:ext cx="2362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rgbClr val="00B0F0"/>
                </a:solidFill>
              </a:rPr>
              <a:t>Mutex</a:t>
            </a:r>
            <a:r>
              <a:rPr lang="en-US" sz="2400" b="1" dirty="0">
                <a:solidFill>
                  <a:srgbClr val="00B0F0"/>
                </a:solidFill>
              </a:rPr>
              <a:t> = 1</a:t>
            </a:r>
          </a:p>
          <a:p>
            <a:r>
              <a:rPr lang="en-US" sz="2400" b="1" dirty="0">
                <a:solidFill>
                  <a:srgbClr val="00B0F0"/>
                </a:solidFill>
              </a:rPr>
              <a:t>Empty = n =</a:t>
            </a:r>
          </a:p>
          <a:p>
            <a:r>
              <a:rPr lang="en-US" sz="2400" b="1" dirty="0">
                <a:solidFill>
                  <a:srgbClr val="00B0F0"/>
                </a:solidFill>
              </a:rPr>
              <a:t>Full = 0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0716" y="1905000"/>
            <a:ext cx="15885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Wait – decrement</a:t>
            </a:r>
          </a:p>
          <a:p>
            <a:r>
              <a:rPr lang="en-US" b="1" dirty="0">
                <a:solidFill>
                  <a:srgbClr val="FF0000"/>
                </a:solidFill>
              </a:rPr>
              <a:t>Signal - increment</a:t>
            </a:r>
          </a:p>
        </p:txBody>
      </p:sp>
    </p:spTree>
    <p:extLst>
      <p:ext uri="{BB962C8B-B14F-4D97-AF65-F5344CB8AC3E}">
        <p14:creationId xmlns:p14="http://schemas.microsoft.com/office/powerpoint/2010/main" val="144675160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5029200" cy="1143000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Readers/Writers Problem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00174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2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467600" cy="587553"/>
          </a:xfrm>
        </p:spPr>
        <p:txBody>
          <a:bodyPr/>
          <a:lstStyle/>
          <a:p>
            <a:pPr eaLnBrk="1" hangingPunct="1"/>
            <a:r>
              <a:rPr lang="en-US" b="1" dirty="0">
                <a:solidFill>
                  <a:srgbClr val="FF0000"/>
                </a:solidFill>
              </a:rPr>
              <a:t>Readers/Writers Problem</a:t>
            </a:r>
          </a:p>
        </p:txBody>
      </p:sp>
      <p:sp>
        <p:nvSpPr>
          <p:cNvPr id="13314" name="Rectangle 2"/>
          <p:cNvSpPr>
            <a:spLocks noGrp="1" noChangeArrowheads="1"/>
          </p:cNvSpPr>
          <p:nvPr>
            <p:ph idx="1"/>
          </p:nvPr>
        </p:nvSpPr>
        <p:spPr>
          <a:xfrm>
            <a:off x="228600" y="2819400"/>
            <a:ext cx="8496300" cy="2844800"/>
          </a:xfrm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vert="horz" lIns="86053" tIns="42169" rIns="86053" bIns="42169">
            <a:normAutofit/>
          </a:bodyPr>
          <a:lstStyle/>
          <a:p>
            <a:pPr>
              <a:spcBef>
                <a:spcPts val="857"/>
              </a:spcBef>
              <a:tabLst>
                <a:tab pos="432405" algn="l"/>
                <a:tab pos="867833" algn="l"/>
                <a:tab pos="1303262" algn="l"/>
                <a:tab pos="1738690" algn="l"/>
                <a:tab pos="2174119" algn="l"/>
                <a:tab pos="2609548" algn="l"/>
                <a:tab pos="3044976" algn="l"/>
                <a:tab pos="3480405" algn="l"/>
                <a:tab pos="3915833" algn="l"/>
                <a:tab pos="4351262" algn="l"/>
                <a:tab pos="4786691" algn="l"/>
                <a:tab pos="5222119" algn="l"/>
                <a:tab pos="5657548" algn="l"/>
                <a:tab pos="6092976" algn="l"/>
                <a:tab pos="6528405" algn="l"/>
                <a:tab pos="6963834" algn="l"/>
                <a:tab pos="7399262" algn="l"/>
                <a:tab pos="7834690" algn="l"/>
                <a:tab pos="8270119" algn="l"/>
                <a:tab pos="8705548" algn="l"/>
              </a:tabLst>
            </a:pPr>
            <a:r>
              <a:rPr lang="en-GB" sz="2267" dirty="0"/>
              <a:t>Motivation: Consider a shared database</a:t>
            </a:r>
          </a:p>
          <a:p>
            <a:pPr lvl="1">
              <a:spcBef>
                <a:spcPts val="786"/>
              </a:spcBef>
              <a:tabLst>
                <a:tab pos="432405" algn="l"/>
                <a:tab pos="867833" algn="l"/>
                <a:tab pos="1303262" algn="l"/>
                <a:tab pos="1738690" algn="l"/>
                <a:tab pos="2174119" algn="l"/>
                <a:tab pos="2609548" algn="l"/>
                <a:tab pos="3044976" algn="l"/>
                <a:tab pos="3480405" algn="l"/>
                <a:tab pos="3915833" algn="l"/>
                <a:tab pos="4351262" algn="l"/>
                <a:tab pos="4786691" algn="l"/>
                <a:tab pos="5222119" algn="l"/>
                <a:tab pos="5657548" algn="l"/>
                <a:tab pos="6092976" algn="l"/>
                <a:tab pos="6528405" algn="l"/>
                <a:tab pos="6963834" algn="l"/>
                <a:tab pos="7399262" algn="l"/>
                <a:tab pos="7834690" algn="l"/>
                <a:tab pos="8270119" algn="l"/>
                <a:tab pos="8705548" algn="l"/>
              </a:tabLst>
            </a:pPr>
            <a:r>
              <a:rPr lang="en-GB" sz="2400" dirty="0"/>
              <a:t>Two classes of users:</a:t>
            </a:r>
          </a:p>
          <a:p>
            <a:pPr lvl="2">
              <a:spcBef>
                <a:spcPts val="714"/>
              </a:spcBef>
              <a:tabLst>
                <a:tab pos="432405" algn="l"/>
                <a:tab pos="867833" algn="l"/>
                <a:tab pos="1303262" algn="l"/>
                <a:tab pos="1738690" algn="l"/>
                <a:tab pos="2174119" algn="l"/>
                <a:tab pos="2609548" algn="l"/>
                <a:tab pos="3044976" algn="l"/>
                <a:tab pos="3480405" algn="l"/>
                <a:tab pos="3915833" algn="l"/>
                <a:tab pos="4351262" algn="l"/>
                <a:tab pos="4786691" algn="l"/>
                <a:tab pos="5222119" algn="l"/>
                <a:tab pos="5657548" algn="l"/>
                <a:tab pos="6092976" algn="l"/>
                <a:tab pos="6528405" algn="l"/>
                <a:tab pos="6963834" algn="l"/>
                <a:tab pos="7399262" algn="l"/>
                <a:tab pos="7834690" algn="l"/>
                <a:tab pos="8270119" algn="l"/>
                <a:tab pos="8705548" algn="l"/>
              </a:tabLst>
            </a:pPr>
            <a:r>
              <a:rPr lang="en-GB" sz="2000" b="1" dirty="0">
                <a:solidFill>
                  <a:srgbClr val="00B0F0"/>
                </a:solidFill>
              </a:rPr>
              <a:t>Readers – never modify database</a:t>
            </a:r>
          </a:p>
          <a:p>
            <a:pPr lvl="2">
              <a:spcBef>
                <a:spcPts val="714"/>
              </a:spcBef>
              <a:tabLst>
                <a:tab pos="432405" algn="l"/>
                <a:tab pos="867833" algn="l"/>
                <a:tab pos="1303262" algn="l"/>
                <a:tab pos="1738690" algn="l"/>
                <a:tab pos="2174119" algn="l"/>
                <a:tab pos="2609548" algn="l"/>
                <a:tab pos="3044976" algn="l"/>
                <a:tab pos="3480405" algn="l"/>
                <a:tab pos="3915833" algn="l"/>
                <a:tab pos="4351262" algn="l"/>
                <a:tab pos="4786691" algn="l"/>
                <a:tab pos="5222119" algn="l"/>
                <a:tab pos="5657548" algn="l"/>
                <a:tab pos="6092976" algn="l"/>
                <a:tab pos="6528405" algn="l"/>
                <a:tab pos="6963834" algn="l"/>
                <a:tab pos="7399262" algn="l"/>
                <a:tab pos="7834690" algn="l"/>
                <a:tab pos="8270119" algn="l"/>
                <a:tab pos="8705548" algn="l"/>
              </a:tabLst>
            </a:pPr>
            <a:r>
              <a:rPr lang="en-GB" sz="2000" b="1" dirty="0">
                <a:solidFill>
                  <a:srgbClr val="00B0F0"/>
                </a:solidFill>
              </a:rPr>
              <a:t>Writers – read and modify database</a:t>
            </a:r>
          </a:p>
          <a:p>
            <a:pPr lvl="1">
              <a:spcBef>
                <a:spcPts val="786"/>
              </a:spcBef>
              <a:tabLst>
                <a:tab pos="432405" algn="l"/>
                <a:tab pos="867833" algn="l"/>
                <a:tab pos="1303262" algn="l"/>
                <a:tab pos="1738690" algn="l"/>
                <a:tab pos="2174119" algn="l"/>
                <a:tab pos="2609548" algn="l"/>
                <a:tab pos="3044976" algn="l"/>
                <a:tab pos="3480405" algn="l"/>
                <a:tab pos="3915833" algn="l"/>
                <a:tab pos="4351262" algn="l"/>
                <a:tab pos="4786691" algn="l"/>
                <a:tab pos="5222119" algn="l"/>
                <a:tab pos="5657548" algn="l"/>
                <a:tab pos="6092976" algn="l"/>
                <a:tab pos="6528405" algn="l"/>
                <a:tab pos="6963834" algn="l"/>
                <a:tab pos="7399262" algn="l"/>
                <a:tab pos="7834690" algn="l"/>
                <a:tab pos="8270119" algn="l"/>
                <a:tab pos="8705548" algn="l"/>
              </a:tabLst>
            </a:pPr>
            <a:r>
              <a:rPr lang="en-GB" sz="1933" dirty="0"/>
              <a:t>Is using a single lock on the whole database sufficient?</a:t>
            </a:r>
          </a:p>
          <a:p>
            <a:pPr lvl="2">
              <a:spcBef>
                <a:spcPts val="714"/>
              </a:spcBef>
              <a:tabLst>
                <a:tab pos="432405" algn="l"/>
                <a:tab pos="867833" algn="l"/>
                <a:tab pos="1303262" algn="l"/>
                <a:tab pos="1738690" algn="l"/>
                <a:tab pos="2174119" algn="l"/>
                <a:tab pos="2609548" algn="l"/>
                <a:tab pos="3044976" algn="l"/>
                <a:tab pos="3480405" algn="l"/>
                <a:tab pos="3915833" algn="l"/>
                <a:tab pos="4351262" algn="l"/>
                <a:tab pos="4786691" algn="l"/>
                <a:tab pos="5222119" algn="l"/>
                <a:tab pos="5657548" algn="l"/>
                <a:tab pos="6092976" algn="l"/>
                <a:tab pos="6528405" algn="l"/>
                <a:tab pos="6963834" algn="l"/>
                <a:tab pos="7399262" algn="l"/>
                <a:tab pos="7834690" algn="l"/>
                <a:tab pos="8270119" algn="l"/>
                <a:tab pos="8705548" algn="l"/>
              </a:tabLst>
            </a:pPr>
            <a:r>
              <a:rPr lang="en-GB" sz="1733" dirty="0"/>
              <a:t>Like to have many readers at the same time</a:t>
            </a:r>
          </a:p>
          <a:p>
            <a:pPr lvl="2">
              <a:spcBef>
                <a:spcPts val="714"/>
              </a:spcBef>
              <a:tabLst>
                <a:tab pos="432405" algn="l"/>
                <a:tab pos="867833" algn="l"/>
                <a:tab pos="1303262" algn="l"/>
                <a:tab pos="1738690" algn="l"/>
                <a:tab pos="2174119" algn="l"/>
                <a:tab pos="2609548" algn="l"/>
                <a:tab pos="3044976" algn="l"/>
                <a:tab pos="3480405" algn="l"/>
                <a:tab pos="3915833" algn="l"/>
                <a:tab pos="4351262" algn="l"/>
                <a:tab pos="4786691" algn="l"/>
                <a:tab pos="5222119" algn="l"/>
                <a:tab pos="5657548" algn="l"/>
                <a:tab pos="6092976" algn="l"/>
                <a:tab pos="6528405" algn="l"/>
                <a:tab pos="6963834" algn="l"/>
                <a:tab pos="7399262" algn="l"/>
                <a:tab pos="7834690" algn="l"/>
                <a:tab pos="8270119" algn="l"/>
                <a:tab pos="8705548" algn="l"/>
              </a:tabLst>
            </a:pPr>
            <a:r>
              <a:rPr lang="en-GB" sz="1733" dirty="0"/>
              <a:t>Only one writer at a time</a:t>
            </a:r>
          </a:p>
        </p:txBody>
      </p:sp>
      <p:sp>
        <p:nvSpPr>
          <p:cNvPr id="2" name="Rectangle 1"/>
          <p:cNvSpPr/>
          <p:nvPr/>
        </p:nvSpPr>
        <p:spPr>
          <a:xfrm>
            <a:off x="476250" y="1240631"/>
            <a:ext cx="74485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PalatinoLTStd-Roman"/>
              </a:rPr>
              <a:t>Some of these processes may want only to read the database, whereas others may want to update (that is, read and write) the database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991596"/>
      </p:ext>
    </p:extLst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-9525"/>
            <a:ext cx="7661275" cy="39052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Readers-Writers Problem (Cont.)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685800"/>
            <a:ext cx="3581400" cy="2895600"/>
          </a:xfrm>
          <a:solidFill>
            <a:schemeClr val="bg2">
              <a:lumMod val="75000"/>
            </a:schemeClr>
          </a:solidFill>
        </p:spPr>
        <p:txBody>
          <a:bodyPr>
            <a:normAutofit fontScale="85000" lnSpcReduction="10000"/>
          </a:bodyPr>
          <a:lstStyle/>
          <a:p>
            <a:r>
              <a:rPr lang="en-US" dirty="0"/>
              <a:t>The structure of a </a:t>
            </a:r>
            <a:r>
              <a:rPr lang="en-US" b="1" dirty="0">
                <a:solidFill>
                  <a:srgbClr val="FF0000"/>
                </a:solidFill>
              </a:rPr>
              <a:t>writer process</a:t>
            </a:r>
          </a:p>
          <a:p>
            <a:pPr>
              <a:buFont typeface="Monotype Sorts" charset="2"/>
              <a:buNone/>
            </a:pPr>
            <a:r>
              <a:rPr lang="en-US" dirty="0">
                <a:solidFill>
                  <a:srgbClr val="0000FF"/>
                </a:solidFill>
              </a:rPr>
              <a:t>        </a:t>
            </a:r>
          </a:p>
          <a:p>
            <a:pPr>
              <a:buFont typeface="Monotype Sorts" charset="2"/>
              <a:buNone/>
            </a:pPr>
            <a:r>
              <a:rPr lang="en-US" sz="1600" dirty="0">
                <a:solidFill>
                  <a:srgbClr val="0000FF"/>
                </a:solidFill>
              </a:rPr>
              <a:t>              </a:t>
            </a:r>
            <a:r>
              <a:rPr lang="en-US" b="1" dirty="0"/>
              <a:t>do {</a:t>
            </a:r>
          </a:p>
          <a:p>
            <a:pPr>
              <a:buFont typeface="Monotype Sorts" charset="2"/>
              <a:buNone/>
            </a:pPr>
            <a:r>
              <a:rPr lang="en-US" sz="2000" b="1" dirty="0"/>
              <a:t>                        wait (</a:t>
            </a:r>
            <a:r>
              <a:rPr lang="en-US" sz="2000" b="1" dirty="0" err="1"/>
              <a:t>wrt</a:t>
            </a:r>
            <a:r>
              <a:rPr lang="en-US" sz="2000" b="1" dirty="0"/>
              <a:t>) ;</a:t>
            </a:r>
          </a:p>
          <a:p>
            <a:pPr>
              <a:buFont typeface="Monotype Sorts" charset="2"/>
              <a:buNone/>
            </a:pPr>
            <a:r>
              <a:rPr lang="en-US" b="1" dirty="0"/>
              <a:t>                </a:t>
            </a:r>
          </a:p>
          <a:p>
            <a:pPr>
              <a:buFont typeface="Monotype Sorts" charset="2"/>
              <a:buNone/>
            </a:pPr>
            <a:r>
              <a:rPr lang="en-US" b="1" dirty="0"/>
              <a:t>              //    writing is performed</a:t>
            </a:r>
          </a:p>
          <a:p>
            <a:pPr>
              <a:buFont typeface="Monotype Sorts" charset="2"/>
              <a:buNone/>
            </a:pPr>
            <a:endParaRPr lang="en-US" b="1" dirty="0"/>
          </a:p>
          <a:p>
            <a:pPr>
              <a:buFont typeface="Monotype Sorts" charset="2"/>
              <a:buNone/>
            </a:pPr>
            <a:r>
              <a:rPr lang="en-US" b="1" dirty="0"/>
              <a:t>                        </a:t>
            </a:r>
            <a:r>
              <a:rPr lang="en-US" sz="2000" b="1" dirty="0"/>
              <a:t>signal (</a:t>
            </a:r>
            <a:r>
              <a:rPr lang="en-US" sz="2000" b="1" dirty="0" err="1"/>
              <a:t>wrt</a:t>
            </a:r>
            <a:r>
              <a:rPr lang="en-US" sz="2000" b="1" dirty="0"/>
              <a:t>) ;</a:t>
            </a:r>
          </a:p>
          <a:p>
            <a:pPr>
              <a:buFont typeface="Monotype Sorts" charset="2"/>
              <a:buNone/>
            </a:pPr>
            <a:r>
              <a:rPr lang="en-US" b="1" dirty="0"/>
              <a:t>         } while (TRUE);</a:t>
            </a:r>
            <a:endParaRPr lang="en-US" sz="2000" dirty="0">
              <a:solidFill>
                <a:srgbClr val="0000FF"/>
              </a:solidFill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4573058" y="381000"/>
            <a:ext cx="4155017" cy="60960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vert="horz">
            <a:normAutofit fontScale="92500"/>
          </a:bodyPr>
          <a:lstStyle>
            <a:lvl1pPr marL="205740" indent="-205740" algn="l" rtl="0" eaLnBrk="1" latinLnBrk="0" hangingPunct="1">
              <a:spcBef>
                <a:spcPts val="450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0060" indent="-20574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3716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91540" indent="-13716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13716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03020" indent="-13716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508760" indent="-13716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105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714500" indent="-13716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1050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920240" indent="-13716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105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1700" b="1" dirty="0"/>
              <a:t>The structure of a </a:t>
            </a:r>
            <a:r>
              <a:rPr lang="en-US" sz="1700" b="1" dirty="0">
                <a:solidFill>
                  <a:srgbClr val="FF0000"/>
                </a:solidFill>
              </a:rPr>
              <a:t>reader process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1533" dirty="0">
                <a:solidFill>
                  <a:srgbClr val="0000FF"/>
                </a:solidFill>
              </a:rPr>
              <a:t>        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1533" dirty="0">
                <a:solidFill>
                  <a:srgbClr val="0000FF"/>
                </a:solidFill>
              </a:rPr>
              <a:t>	</a:t>
            </a:r>
            <a:r>
              <a:rPr lang="en-US" sz="1900" b="1" dirty="0"/>
              <a:t>do {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1900" b="1" dirty="0"/>
              <a:t>                  </a:t>
            </a:r>
            <a:r>
              <a:rPr lang="en-US" sz="2200" b="1" dirty="0"/>
              <a:t>wait (</a:t>
            </a:r>
            <a:r>
              <a:rPr lang="en-US" sz="2200" b="1" dirty="0" err="1"/>
              <a:t>mutex</a:t>
            </a:r>
            <a:r>
              <a:rPr lang="en-US" sz="2200" b="1" dirty="0"/>
              <a:t>) ;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2200" b="1" dirty="0"/>
              <a:t>                  </a:t>
            </a:r>
            <a:r>
              <a:rPr lang="en-US" sz="2200" b="1" dirty="0" err="1"/>
              <a:t>readcount</a:t>
            </a:r>
            <a:r>
              <a:rPr lang="en-US" sz="2200" b="1" dirty="0"/>
              <a:t> ++ ;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2200" b="1" dirty="0"/>
              <a:t>                  if (</a:t>
            </a:r>
            <a:r>
              <a:rPr lang="en-US" sz="2200" b="1" dirty="0" err="1"/>
              <a:t>readcount</a:t>
            </a:r>
            <a:r>
              <a:rPr lang="en-US" sz="2200" b="1" dirty="0"/>
              <a:t> == 1)  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2200" b="1" dirty="0"/>
              <a:t>			wait (</a:t>
            </a:r>
            <a:r>
              <a:rPr lang="en-US" sz="2200" b="1" dirty="0" err="1"/>
              <a:t>wrt</a:t>
            </a:r>
            <a:r>
              <a:rPr lang="en-US" sz="2200" b="1" dirty="0"/>
              <a:t>) ;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2200" b="1" dirty="0"/>
              <a:t>                  signal (</a:t>
            </a:r>
            <a:r>
              <a:rPr lang="en-US" sz="2200" b="1" dirty="0" err="1"/>
              <a:t>mutex</a:t>
            </a:r>
            <a:r>
              <a:rPr lang="en-US" sz="2200" b="1" dirty="0"/>
              <a:t>)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2200" b="1" dirty="0"/>
              <a:t>                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2200" b="1" dirty="0"/>
              <a:t>            // reading is performed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endParaRPr lang="en-US" sz="2200" b="1" dirty="0"/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2200" b="1" dirty="0"/>
              <a:t>                  wait (</a:t>
            </a:r>
            <a:r>
              <a:rPr lang="en-US" sz="2200" b="1" dirty="0" err="1"/>
              <a:t>mutex</a:t>
            </a:r>
            <a:r>
              <a:rPr lang="en-US" sz="2200" b="1" dirty="0"/>
              <a:t>) ;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2200" b="1" dirty="0"/>
              <a:t>                  </a:t>
            </a:r>
            <a:r>
              <a:rPr lang="en-US" sz="2200" b="1" dirty="0" err="1"/>
              <a:t>readcount</a:t>
            </a:r>
            <a:r>
              <a:rPr lang="en-US" sz="2200" b="1" dirty="0"/>
              <a:t>  - - ;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2200" b="1" dirty="0"/>
              <a:t>                  if (</a:t>
            </a:r>
            <a:r>
              <a:rPr lang="en-US" sz="2200" b="1" dirty="0" err="1"/>
              <a:t>readcount</a:t>
            </a:r>
            <a:r>
              <a:rPr lang="en-US" sz="2200" b="1" dirty="0"/>
              <a:t>  == 0)  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2200" b="1" dirty="0"/>
              <a:t>			signal (</a:t>
            </a:r>
            <a:r>
              <a:rPr lang="en-US" sz="2200" b="1" dirty="0" err="1"/>
              <a:t>wrt</a:t>
            </a:r>
            <a:r>
              <a:rPr lang="en-US" sz="2200" b="1" dirty="0"/>
              <a:t>) ;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2200" b="1" dirty="0"/>
              <a:t>                   signal (</a:t>
            </a:r>
            <a:r>
              <a:rPr lang="en-US" sz="2200" b="1" dirty="0" err="1"/>
              <a:t>mutex</a:t>
            </a:r>
            <a:r>
              <a:rPr lang="en-US" sz="2200" b="1" dirty="0"/>
              <a:t>) ;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endParaRPr lang="en-US" sz="2200" b="1" dirty="0"/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2200" b="1" dirty="0"/>
              <a:t>    } while (TRUE);</a:t>
            </a:r>
            <a:endParaRPr lang="en-US" sz="1900" b="1" dirty="0"/>
          </a:p>
          <a:p>
            <a:pPr>
              <a:lnSpc>
                <a:spcPct val="80000"/>
              </a:lnSpc>
              <a:buFont typeface="Monotype Sorts" charset="2"/>
              <a:buNone/>
            </a:pPr>
            <a:endParaRPr lang="en-US" sz="1533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sz="1533" dirty="0">
                <a:solidFill>
                  <a:srgbClr val="0000FF"/>
                </a:solidFill>
              </a:rPr>
              <a:t>     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1484" y="3581400"/>
            <a:ext cx="2362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rgbClr val="00B0F0"/>
                </a:solidFill>
              </a:rPr>
              <a:t>wrt</a:t>
            </a:r>
            <a:r>
              <a:rPr lang="en-US" sz="2400" b="1" dirty="0">
                <a:solidFill>
                  <a:srgbClr val="00B0F0"/>
                </a:solidFill>
              </a:rPr>
              <a:t> = 1</a:t>
            </a:r>
          </a:p>
          <a:p>
            <a:r>
              <a:rPr lang="en-US" sz="2400" b="1" dirty="0" err="1">
                <a:solidFill>
                  <a:srgbClr val="00B0F0"/>
                </a:solidFill>
              </a:rPr>
              <a:t>Mutex</a:t>
            </a:r>
            <a:r>
              <a:rPr lang="en-US" sz="2400" b="1" dirty="0">
                <a:solidFill>
                  <a:srgbClr val="00B0F0"/>
                </a:solidFill>
              </a:rPr>
              <a:t> = 1</a:t>
            </a:r>
          </a:p>
          <a:p>
            <a:r>
              <a:rPr lang="en-US" sz="2400" b="1" dirty="0" err="1">
                <a:solidFill>
                  <a:srgbClr val="00B0F0"/>
                </a:solidFill>
              </a:rPr>
              <a:t>readcount</a:t>
            </a:r>
            <a:r>
              <a:rPr lang="en-US" sz="2400" b="1" dirty="0">
                <a:solidFill>
                  <a:srgbClr val="00B0F0"/>
                </a:solidFill>
              </a:rPr>
              <a:t> = 0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4A7A9E-C028-9125-A035-DC41C5F7A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937" y="4781729"/>
            <a:ext cx="3238500" cy="192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05616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1" y="656168"/>
            <a:ext cx="8220075" cy="1025877"/>
          </a:xfrm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vert="horz" lIns="0" tIns="0" rIns="0" bIns="0" anchor="b">
            <a:normAutofit/>
          </a:bodyPr>
          <a:lstStyle/>
          <a:p>
            <a:pPr>
              <a:tabLst>
                <a:tab pos="0" algn="l"/>
                <a:tab pos="435428" algn="l"/>
                <a:tab pos="870857" algn="l"/>
                <a:tab pos="1306286" algn="l"/>
                <a:tab pos="1741714" algn="l"/>
                <a:tab pos="2177143" algn="l"/>
                <a:tab pos="2612571" algn="l"/>
                <a:tab pos="3048000" algn="l"/>
                <a:tab pos="3483429" algn="l"/>
                <a:tab pos="3918857" algn="l"/>
                <a:tab pos="4354286" algn="l"/>
                <a:tab pos="4789714" algn="l"/>
                <a:tab pos="5225143" algn="l"/>
                <a:tab pos="5660572" algn="l"/>
                <a:tab pos="6096000" algn="l"/>
                <a:tab pos="6531429" algn="l"/>
                <a:tab pos="6966857" algn="l"/>
                <a:tab pos="7402285" algn="l"/>
                <a:tab pos="7837715" algn="l"/>
                <a:tab pos="8273143" algn="l"/>
                <a:tab pos="8708571" algn="l"/>
              </a:tabLst>
              <a:defRPr/>
            </a:pPr>
            <a:r>
              <a:rPr lang="en-GB">
                <a:ea typeface="+mj-ea"/>
                <a:cs typeface="+mj-cs"/>
              </a:rPr>
              <a:t>Readers/Writers Problem</a:t>
            </a:r>
          </a:p>
        </p:txBody>
      </p:sp>
      <p:sp>
        <p:nvSpPr>
          <p:cNvPr id="14338" name="Rectangle 2"/>
          <p:cNvSpPr>
            <a:spLocks noGrp="1" noChangeArrowheads="1"/>
          </p:cNvSpPr>
          <p:nvPr>
            <p:ph idx="1"/>
          </p:nvPr>
        </p:nvSpPr>
        <p:spPr>
          <a:xfrm>
            <a:off x="457201" y="1803400"/>
            <a:ext cx="8220075" cy="5232400"/>
          </a:xfrm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vert="horz" lIns="0" tIns="0" rIns="0" bIns="0">
            <a:normAutofit/>
          </a:bodyPr>
          <a:lstStyle/>
          <a:p>
            <a:pPr>
              <a:lnSpc>
                <a:spcPct val="126000"/>
              </a:lnSpc>
              <a:spcBef>
                <a:spcPts val="751"/>
              </a:spcBef>
              <a:buFont typeface="Arial"/>
              <a:buChar char="•"/>
              <a:tabLst>
                <a:tab pos="432405" algn="l"/>
                <a:tab pos="867833" algn="l"/>
                <a:tab pos="1303262" algn="l"/>
                <a:tab pos="1738690" algn="l"/>
                <a:tab pos="2174119" algn="l"/>
                <a:tab pos="2609548" algn="l"/>
                <a:tab pos="3044976" algn="l"/>
                <a:tab pos="3480405" algn="l"/>
                <a:tab pos="3915833" algn="l"/>
                <a:tab pos="4351262" algn="l"/>
                <a:tab pos="4786691" algn="l"/>
                <a:tab pos="5222119" algn="l"/>
                <a:tab pos="5657548" algn="l"/>
                <a:tab pos="6092976" algn="l"/>
                <a:tab pos="6528405" algn="l"/>
                <a:tab pos="6963834" algn="l"/>
                <a:tab pos="7399262" algn="l"/>
                <a:tab pos="7834690" algn="l"/>
                <a:tab pos="8270119" algn="l"/>
                <a:tab pos="8705548" algn="l"/>
              </a:tabLst>
              <a:defRPr/>
            </a:pPr>
            <a:r>
              <a:rPr lang="en-GB" sz="1933"/>
              <a:t>A database is to be shared among several concurrent processes. Some of these processes may want only to read the database, whereas others may want to update the database</a:t>
            </a:r>
          </a:p>
          <a:p>
            <a:pPr>
              <a:lnSpc>
                <a:spcPct val="126000"/>
              </a:lnSpc>
              <a:spcBef>
                <a:spcPts val="751"/>
              </a:spcBef>
              <a:buFont typeface="Arial"/>
              <a:buChar char="•"/>
              <a:tabLst>
                <a:tab pos="432405" algn="l"/>
                <a:tab pos="867833" algn="l"/>
                <a:tab pos="1303262" algn="l"/>
                <a:tab pos="1738690" algn="l"/>
                <a:tab pos="2174119" algn="l"/>
                <a:tab pos="2609548" algn="l"/>
                <a:tab pos="3044976" algn="l"/>
                <a:tab pos="3480405" algn="l"/>
                <a:tab pos="3915833" algn="l"/>
                <a:tab pos="4351262" algn="l"/>
                <a:tab pos="4786691" algn="l"/>
                <a:tab pos="5222119" algn="l"/>
                <a:tab pos="5657548" algn="l"/>
                <a:tab pos="6092976" algn="l"/>
                <a:tab pos="6528405" algn="l"/>
                <a:tab pos="6963834" algn="l"/>
                <a:tab pos="7399262" algn="l"/>
                <a:tab pos="7834690" algn="l"/>
                <a:tab pos="8270119" algn="l"/>
                <a:tab pos="8705548" algn="l"/>
              </a:tabLst>
              <a:defRPr/>
            </a:pPr>
            <a:r>
              <a:rPr lang="en-GB" sz="1933"/>
              <a:t>We distinguish between these two types of processes by referring to the former as</a:t>
            </a:r>
            <a:r>
              <a:rPr lang="en-GB" sz="1933" b="1">
                <a:solidFill>
                  <a:srgbClr val="0000FF"/>
                </a:solidFill>
              </a:rPr>
              <a:t> </a:t>
            </a:r>
            <a:r>
              <a:rPr lang="en-GB" sz="1933">
                <a:solidFill>
                  <a:srgbClr val="0000FF"/>
                </a:solidFill>
              </a:rPr>
              <a:t>readers</a:t>
            </a:r>
            <a:r>
              <a:rPr lang="en-GB" sz="1933"/>
              <a:t> and to the latter as </a:t>
            </a:r>
            <a:r>
              <a:rPr lang="en-GB" sz="1933">
                <a:solidFill>
                  <a:srgbClr val="0000FF"/>
                </a:solidFill>
              </a:rPr>
              <a:t>writers</a:t>
            </a:r>
          </a:p>
          <a:p>
            <a:pPr>
              <a:lnSpc>
                <a:spcPct val="126000"/>
              </a:lnSpc>
              <a:spcBef>
                <a:spcPts val="751"/>
              </a:spcBef>
              <a:buFont typeface="Arial"/>
              <a:buChar char="•"/>
              <a:tabLst>
                <a:tab pos="432405" algn="l"/>
                <a:tab pos="867833" algn="l"/>
                <a:tab pos="1303262" algn="l"/>
                <a:tab pos="1738690" algn="l"/>
                <a:tab pos="2174119" algn="l"/>
                <a:tab pos="2609548" algn="l"/>
                <a:tab pos="3044976" algn="l"/>
                <a:tab pos="3480405" algn="l"/>
                <a:tab pos="3915833" algn="l"/>
                <a:tab pos="4351262" algn="l"/>
                <a:tab pos="4786691" algn="l"/>
                <a:tab pos="5222119" algn="l"/>
                <a:tab pos="5657548" algn="l"/>
                <a:tab pos="6092976" algn="l"/>
                <a:tab pos="6528405" algn="l"/>
                <a:tab pos="6963834" algn="l"/>
                <a:tab pos="7399262" algn="l"/>
                <a:tab pos="7834690" algn="l"/>
                <a:tab pos="8270119" algn="l"/>
                <a:tab pos="8705548" algn="l"/>
              </a:tabLst>
              <a:defRPr/>
            </a:pPr>
            <a:r>
              <a:rPr lang="en-GB" sz="1933"/>
              <a:t>Obviously, if two readers access the shared data simultaneously, nothing bad will happen</a:t>
            </a:r>
          </a:p>
          <a:p>
            <a:pPr>
              <a:lnSpc>
                <a:spcPct val="126000"/>
              </a:lnSpc>
              <a:spcBef>
                <a:spcPts val="751"/>
              </a:spcBef>
              <a:buFont typeface="Arial"/>
              <a:buChar char="•"/>
              <a:tabLst>
                <a:tab pos="432405" algn="l"/>
                <a:tab pos="867833" algn="l"/>
                <a:tab pos="1303262" algn="l"/>
                <a:tab pos="1738690" algn="l"/>
                <a:tab pos="2174119" algn="l"/>
                <a:tab pos="2609548" algn="l"/>
                <a:tab pos="3044976" algn="l"/>
                <a:tab pos="3480405" algn="l"/>
                <a:tab pos="3915833" algn="l"/>
                <a:tab pos="4351262" algn="l"/>
                <a:tab pos="4786691" algn="l"/>
                <a:tab pos="5222119" algn="l"/>
                <a:tab pos="5657548" algn="l"/>
                <a:tab pos="6092976" algn="l"/>
                <a:tab pos="6528405" algn="l"/>
                <a:tab pos="6963834" algn="l"/>
                <a:tab pos="7399262" algn="l"/>
                <a:tab pos="7834690" algn="l"/>
                <a:tab pos="8270119" algn="l"/>
                <a:tab pos="8705548" algn="l"/>
              </a:tabLst>
              <a:defRPr/>
            </a:pPr>
            <a:r>
              <a:rPr lang="en-GB" sz="1933"/>
              <a:t>However, if a writer and some other process (either a reader or a writer) access the database simultaneously, chaos may ensue</a:t>
            </a:r>
          </a:p>
        </p:txBody>
      </p:sp>
    </p:spTree>
    <p:extLst>
      <p:ext uri="{BB962C8B-B14F-4D97-AF65-F5344CB8AC3E}">
        <p14:creationId xmlns:p14="http://schemas.microsoft.com/office/powerpoint/2010/main" val="114148153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1" y="656168"/>
            <a:ext cx="8220075" cy="1025877"/>
          </a:xfrm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vert="horz" lIns="0" tIns="0" rIns="0" bIns="0" anchor="b">
            <a:normAutofit/>
          </a:bodyPr>
          <a:lstStyle/>
          <a:p>
            <a:pPr>
              <a:tabLst>
                <a:tab pos="0" algn="l"/>
                <a:tab pos="435428" algn="l"/>
                <a:tab pos="870857" algn="l"/>
                <a:tab pos="1306286" algn="l"/>
                <a:tab pos="1741714" algn="l"/>
                <a:tab pos="2177143" algn="l"/>
                <a:tab pos="2612571" algn="l"/>
                <a:tab pos="3048000" algn="l"/>
                <a:tab pos="3483429" algn="l"/>
                <a:tab pos="3918857" algn="l"/>
                <a:tab pos="4354286" algn="l"/>
                <a:tab pos="4789714" algn="l"/>
                <a:tab pos="5225143" algn="l"/>
                <a:tab pos="5660572" algn="l"/>
                <a:tab pos="6096000" algn="l"/>
                <a:tab pos="6531429" algn="l"/>
                <a:tab pos="6966857" algn="l"/>
                <a:tab pos="7402285" algn="l"/>
                <a:tab pos="7837715" algn="l"/>
                <a:tab pos="8273143" algn="l"/>
                <a:tab pos="8708571" algn="l"/>
              </a:tabLst>
              <a:defRPr/>
            </a:pPr>
            <a:r>
              <a:rPr lang="en-GB">
                <a:ea typeface="+mj-ea"/>
                <a:cs typeface="+mj-cs"/>
              </a:rPr>
              <a:t>Readers/Writers Problem</a:t>
            </a:r>
          </a:p>
        </p:txBody>
      </p:sp>
      <p:sp>
        <p:nvSpPr>
          <p:cNvPr id="15362" name="Rectangle 2"/>
          <p:cNvSpPr>
            <a:spLocks noGrp="1" noChangeArrowheads="1"/>
          </p:cNvSpPr>
          <p:nvPr>
            <p:ph idx="1"/>
          </p:nvPr>
        </p:nvSpPr>
        <p:spPr>
          <a:xfrm>
            <a:off x="457201" y="1803400"/>
            <a:ext cx="8220075" cy="5232400"/>
          </a:xfrm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vert="horz" lIns="0" tIns="0" rIns="0" bIns="0">
            <a:normAutofit/>
          </a:bodyPr>
          <a:lstStyle/>
          <a:p>
            <a:pPr>
              <a:lnSpc>
                <a:spcPct val="126000"/>
              </a:lnSpc>
              <a:spcBef>
                <a:spcPts val="751"/>
              </a:spcBef>
              <a:buFont typeface="Arial"/>
              <a:buChar char="•"/>
              <a:tabLst>
                <a:tab pos="432405" algn="l"/>
                <a:tab pos="867833" algn="l"/>
                <a:tab pos="1303262" algn="l"/>
                <a:tab pos="1738690" algn="l"/>
                <a:tab pos="2174119" algn="l"/>
                <a:tab pos="2609548" algn="l"/>
                <a:tab pos="3044976" algn="l"/>
                <a:tab pos="3480405" algn="l"/>
                <a:tab pos="3915833" algn="l"/>
                <a:tab pos="4351262" algn="l"/>
                <a:tab pos="4786691" algn="l"/>
                <a:tab pos="5222119" algn="l"/>
                <a:tab pos="5657548" algn="l"/>
                <a:tab pos="6092976" algn="l"/>
                <a:tab pos="6528405" algn="l"/>
                <a:tab pos="6963834" algn="l"/>
                <a:tab pos="7399262" algn="l"/>
                <a:tab pos="7834690" algn="l"/>
                <a:tab pos="8270119" algn="l"/>
                <a:tab pos="8705548" algn="l"/>
              </a:tabLst>
              <a:defRPr/>
            </a:pPr>
            <a:r>
              <a:rPr lang="en-GB" sz="1933" dirty="0"/>
              <a:t>To ensure that these difficulties do not arise, we </a:t>
            </a:r>
            <a:r>
              <a:rPr lang="en-GB" sz="1933" dirty="0">
                <a:solidFill>
                  <a:srgbClr val="CC3300"/>
                </a:solidFill>
              </a:rPr>
              <a:t>require that the</a:t>
            </a:r>
            <a:r>
              <a:rPr lang="en-GB" sz="1933" dirty="0"/>
              <a:t> </a:t>
            </a:r>
            <a:r>
              <a:rPr lang="en-GB" sz="1933" dirty="0">
                <a:solidFill>
                  <a:srgbClr val="CC3300"/>
                </a:solidFill>
              </a:rPr>
              <a:t>writers have exclusive access</a:t>
            </a:r>
            <a:r>
              <a:rPr lang="en-GB" sz="1933" dirty="0"/>
              <a:t> to the shared database</a:t>
            </a:r>
          </a:p>
          <a:p>
            <a:pPr>
              <a:lnSpc>
                <a:spcPct val="126000"/>
              </a:lnSpc>
              <a:spcBef>
                <a:spcPts val="751"/>
              </a:spcBef>
              <a:buFont typeface="Arial"/>
              <a:buChar char="•"/>
              <a:tabLst>
                <a:tab pos="432405" algn="l"/>
                <a:tab pos="867833" algn="l"/>
                <a:tab pos="1303262" algn="l"/>
                <a:tab pos="1738690" algn="l"/>
                <a:tab pos="2174119" algn="l"/>
                <a:tab pos="2609548" algn="l"/>
                <a:tab pos="3044976" algn="l"/>
                <a:tab pos="3480405" algn="l"/>
                <a:tab pos="3915833" algn="l"/>
                <a:tab pos="4351262" algn="l"/>
                <a:tab pos="4786691" algn="l"/>
                <a:tab pos="5222119" algn="l"/>
                <a:tab pos="5657548" algn="l"/>
                <a:tab pos="6092976" algn="l"/>
                <a:tab pos="6528405" algn="l"/>
                <a:tab pos="6963834" algn="l"/>
                <a:tab pos="7399262" algn="l"/>
                <a:tab pos="7834690" algn="l"/>
                <a:tab pos="8270119" algn="l"/>
                <a:tab pos="8705548" algn="l"/>
              </a:tabLst>
              <a:defRPr/>
            </a:pPr>
            <a:r>
              <a:rPr lang="en-GB" sz="1933" dirty="0"/>
              <a:t>There are several variations of this problem, all involving priorities</a:t>
            </a:r>
          </a:p>
          <a:p>
            <a:pPr lvl="1">
              <a:lnSpc>
                <a:spcPct val="126000"/>
              </a:lnSpc>
              <a:spcBef>
                <a:spcPts val="751"/>
              </a:spcBef>
              <a:buFont typeface="Arial"/>
              <a:buChar char="–"/>
              <a:tabLst>
                <a:tab pos="432405" algn="l"/>
                <a:tab pos="867833" algn="l"/>
                <a:tab pos="1303262" algn="l"/>
                <a:tab pos="1738690" algn="l"/>
                <a:tab pos="2174119" algn="l"/>
                <a:tab pos="2609548" algn="l"/>
                <a:tab pos="3044976" algn="l"/>
                <a:tab pos="3480405" algn="l"/>
                <a:tab pos="3915833" algn="l"/>
                <a:tab pos="4351262" algn="l"/>
                <a:tab pos="4786691" algn="l"/>
                <a:tab pos="5222119" algn="l"/>
                <a:tab pos="5657548" algn="l"/>
                <a:tab pos="6092976" algn="l"/>
                <a:tab pos="6528405" algn="l"/>
                <a:tab pos="6963834" algn="l"/>
                <a:tab pos="7399262" algn="l"/>
                <a:tab pos="7834690" algn="l"/>
                <a:tab pos="8270119" algn="l"/>
                <a:tab pos="8705548" algn="l"/>
              </a:tabLst>
              <a:defRPr/>
            </a:pPr>
            <a:r>
              <a:rPr lang="en-GB" sz="1600" dirty="0"/>
              <a:t>The first and simplest one, referred to as the </a:t>
            </a:r>
            <a:r>
              <a:rPr lang="en-GB" sz="1600" dirty="0">
                <a:solidFill>
                  <a:srgbClr val="0000FF"/>
                </a:solidFill>
              </a:rPr>
              <a:t>first readers/writers problem</a:t>
            </a:r>
            <a:r>
              <a:rPr lang="en-GB" sz="1600" dirty="0"/>
              <a:t>, requires that no reader will be kept waiting unless a writer has already obtained permission to use the shared object (i.e., no reader should wait for other readers to finish simply because a writer is waiting) </a:t>
            </a:r>
            <a:r>
              <a:rPr lang="en-GB" sz="1600" u="sng" dirty="0"/>
              <a:t>NOTE:</a:t>
            </a:r>
            <a:r>
              <a:rPr lang="en-GB" sz="1600" dirty="0"/>
              <a:t> </a:t>
            </a:r>
            <a:r>
              <a:rPr lang="en-GB" sz="1600" dirty="0">
                <a:solidFill>
                  <a:srgbClr val="CC3300"/>
                </a:solidFill>
              </a:rPr>
              <a:t>writers may starve</a:t>
            </a:r>
          </a:p>
          <a:p>
            <a:pPr lvl="1">
              <a:lnSpc>
                <a:spcPct val="126000"/>
              </a:lnSpc>
              <a:spcBef>
                <a:spcPts val="751"/>
              </a:spcBef>
              <a:buFont typeface="Arial"/>
              <a:buChar char="–"/>
              <a:tabLst>
                <a:tab pos="432405" algn="l"/>
                <a:tab pos="867833" algn="l"/>
                <a:tab pos="1303262" algn="l"/>
                <a:tab pos="1738690" algn="l"/>
                <a:tab pos="2174119" algn="l"/>
                <a:tab pos="2609548" algn="l"/>
                <a:tab pos="3044976" algn="l"/>
                <a:tab pos="3480405" algn="l"/>
                <a:tab pos="3915833" algn="l"/>
                <a:tab pos="4351262" algn="l"/>
                <a:tab pos="4786691" algn="l"/>
                <a:tab pos="5222119" algn="l"/>
                <a:tab pos="5657548" algn="l"/>
                <a:tab pos="6092976" algn="l"/>
                <a:tab pos="6528405" algn="l"/>
                <a:tab pos="6963834" algn="l"/>
                <a:tab pos="7399262" algn="l"/>
                <a:tab pos="7834690" algn="l"/>
                <a:tab pos="8270119" algn="l"/>
                <a:tab pos="8705548" algn="l"/>
              </a:tabLst>
              <a:defRPr/>
            </a:pPr>
            <a:r>
              <a:rPr lang="en-GB" sz="1600" dirty="0"/>
              <a:t>The </a:t>
            </a:r>
            <a:r>
              <a:rPr lang="en-GB" sz="1600" dirty="0">
                <a:solidFill>
                  <a:srgbClr val="0000FF"/>
                </a:solidFill>
              </a:rPr>
              <a:t>second readers/writers problem</a:t>
            </a:r>
            <a:r>
              <a:rPr lang="en-GB" sz="1600" dirty="0"/>
              <a:t> requires that, once a writer is ready, that writer performs its write as soon as possible (i.e., if a writer is waiting, no new readers may start reading) </a:t>
            </a:r>
            <a:r>
              <a:rPr lang="en-GB" sz="1600" u="sng" dirty="0"/>
              <a:t>NOTE:</a:t>
            </a:r>
            <a:r>
              <a:rPr lang="en-GB" sz="1600" dirty="0"/>
              <a:t> </a:t>
            </a:r>
            <a:r>
              <a:rPr lang="en-GB" sz="1600" dirty="0">
                <a:solidFill>
                  <a:srgbClr val="CC3300"/>
                </a:solidFill>
              </a:rPr>
              <a:t>readers may starve</a:t>
            </a:r>
          </a:p>
        </p:txBody>
      </p:sp>
    </p:spTree>
    <p:extLst>
      <p:ext uri="{BB962C8B-B14F-4D97-AF65-F5344CB8AC3E}">
        <p14:creationId xmlns:p14="http://schemas.microsoft.com/office/powerpoint/2010/main" val="61544238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5486400" cy="1143000"/>
          </a:xfrm>
        </p:spPr>
        <p:txBody>
          <a:bodyPr/>
          <a:lstStyle/>
          <a:p>
            <a:r>
              <a:rPr lang="en-US" sz="2400" b="1" dirty="0">
                <a:solidFill>
                  <a:srgbClr val="FF0000"/>
                </a:solidFill>
              </a:rPr>
              <a:t>Dining-Philosophers Problem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46998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76200" y="190500"/>
            <a:ext cx="5486400" cy="674370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sz="2000" dirty="0"/>
              <a:t>Consider </a:t>
            </a:r>
            <a:r>
              <a:rPr lang="en-US" sz="2000" dirty="0">
                <a:solidFill>
                  <a:srgbClr val="FF0000"/>
                </a:solidFill>
              </a:rPr>
              <a:t>five philosophers </a:t>
            </a:r>
            <a:r>
              <a:rPr lang="en-US" sz="2000" dirty="0"/>
              <a:t>who spend their lives </a:t>
            </a:r>
            <a:r>
              <a:rPr lang="en-US" sz="2000" dirty="0">
                <a:solidFill>
                  <a:srgbClr val="FF0000"/>
                </a:solidFill>
              </a:rPr>
              <a:t>thinking and eating</a:t>
            </a:r>
            <a:r>
              <a:rPr lang="en-US" sz="2000" dirty="0"/>
              <a:t>. </a:t>
            </a:r>
          </a:p>
          <a:p>
            <a:pPr algn="just"/>
            <a:r>
              <a:rPr lang="en-US" sz="2000" dirty="0"/>
              <a:t>The philosophers </a:t>
            </a:r>
            <a:r>
              <a:rPr lang="en-US" sz="2000" dirty="0">
                <a:solidFill>
                  <a:srgbClr val="FF0000"/>
                </a:solidFill>
              </a:rPr>
              <a:t>share a circular table </a:t>
            </a:r>
            <a:r>
              <a:rPr lang="en-US" sz="2000" dirty="0"/>
              <a:t>surrounded </a:t>
            </a:r>
            <a:r>
              <a:rPr lang="en-US" sz="2000" dirty="0">
                <a:solidFill>
                  <a:srgbClr val="FF0000"/>
                </a:solidFill>
              </a:rPr>
              <a:t>by five chairs</a:t>
            </a:r>
            <a:r>
              <a:rPr lang="en-US" sz="2000" dirty="0"/>
              <a:t>, each belonging to one philosopher. </a:t>
            </a:r>
          </a:p>
          <a:p>
            <a:pPr algn="just"/>
            <a:r>
              <a:rPr lang="en-US" sz="2000" dirty="0"/>
              <a:t>In the center of the table is a </a:t>
            </a:r>
            <a:r>
              <a:rPr lang="en-US" sz="2000" dirty="0">
                <a:solidFill>
                  <a:srgbClr val="FF0000"/>
                </a:solidFill>
              </a:rPr>
              <a:t>bowl of rice</a:t>
            </a:r>
            <a:r>
              <a:rPr lang="en-US" sz="2000" dirty="0"/>
              <a:t>, and the table is laid with </a:t>
            </a:r>
            <a:r>
              <a:rPr lang="en-US" sz="2000" dirty="0">
                <a:solidFill>
                  <a:srgbClr val="FF0000"/>
                </a:solidFill>
              </a:rPr>
              <a:t>five single chopsticks</a:t>
            </a:r>
            <a:r>
              <a:rPr lang="en-US" sz="2000" dirty="0"/>
              <a:t> </a:t>
            </a:r>
          </a:p>
          <a:p>
            <a:pPr algn="just"/>
            <a:r>
              <a:rPr lang="en-US" sz="2000" dirty="0"/>
              <a:t>When a philosopher thinks, she does not interact with her colleagues. </a:t>
            </a:r>
          </a:p>
          <a:p>
            <a:pPr algn="just"/>
            <a:r>
              <a:rPr lang="en-US" sz="2000" dirty="0">
                <a:solidFill>
                  <a:srgbClr val="FF0000"/>
                </a:solidFill>
              </a:rPr>
              <a:t>From time to time, a philosopher gets hungry </a:t>
            </a:r>
            <a:r>
              <a:rPr lang="en-US" sz="2000" dirty="0"/>
              <a:t>and tries to pick up the two chopsticks that are closest to her (the chopsticks that are between her and her left and right neighbors). </a:t>
            </a:r>
          </a:p>
          <a:p>
            <a:pPr algn="just"/>
            <a:r>
              <a:rPr lang="en-US" sz="2000" dirty="0"/>
              <a:t>A philosopher </a:t>
            </a:r>
            <a:r>
              <a:rPr lang="en-US" sz="2000" dirty="0">
                <a:solidFill>
                  <a:srgbClr val="FF0000"/>
                </a:solidFill>
              </a:rPr>
              <a:t>may pick up only one chopstick at a time</a:t>
            </a:r>
            <a:r>
              <a:rPr lang="en-US" sz="2000" dirty="0"/>
              <a:t>. </a:t>
            </a:r>
          </a:p>
          <a:p>
            <a:pPr algn="just"/>
            <a:r>
              <a:rPr lang="en-US" sz="2000" dirty="0"/>
              <a:t>Obviously, she </a:t>
            </a:r>
            <a:r>
              <a:rPr lang="en-US" sz="2000" dirty="0">
                <a:solidFill>
                  <a:srgbClr val="FF0000"/>
                </a:solidFill>
              </a:rPr>
              <a:t>cannot pick up a chopstick </a:t>
            </a:r>
            <a:r>
              <a:rPr lang="en-US" sz="2000" dirty="0"/>
              <a:t>that is already </a:t>
            </a:r>
            <a:r>
              <a:rPr lang="en-US" sz="2000" dirty="0">
                <a:solidFill>
                  <a:srgbClr val="FF0000"/>
                </a:solidFill>
              </a:rPr>
              <a:t>in the hand of a neighbor</a:t>
            </a:r>
            <a:r>
              <a:rPr lang="en-US" sz="2000" dirty="0"/>
              <a:t>. </a:t>
            </a:r>
          </a:p>
          <a:p>
            <a:pPr algn="just"/>
            <a:r>
              <a:rPr lang="en-US" sz="2000" dirty="0"/>
              <a:t>When a hungry philosopher has both her chopsticks at the same time, she eats without releasing the chopsticks. </a:t>
            </a:r>
          </a:p>
          <a:p>
            <a:pPr algn="just"/>
            <a:r>
              <a:rPr lang="en-US" sz="2000" dirty="0"/>
              <a:t>When </a:t>
            </a:r>
            <a:r>
              <a:rPr lang="en-US" sz="2000" dirty="0">
                <a:solidFill>
                  <a:srgbClr val="FF0000"/>
                </a:solidFill>
              </a:rPr>
              <a:t>she is finished eating</a:t>
            </a:r>
            <a:r>
              <a:rPr lang="en-US" sz="2000" dirty="0"/>
              <a:t>, she </a:t>
            </a:r>
            <a:r>
              <a:rPr lang="en-US" sz="2000" dirty="0">
                <a:solidFill>
                  <a:srgbClr val="FF0000"/>
                </a:solidFill>
              </a:rPr>
              <a:t>puts down both chopsticks and starts thinking again</a:t>
            </a:r>
            <a:r>
              <a:rPr lang="en-US" sz="2000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61</a:t>
            </a:fld>
            <a:endParaRPr 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5943600" y="1295400"/>
            <a:ext cx="3048000" cy="334962"/>
          </a:xfrm>
        </p:spPr>
        <p:txBody>
          <a:bodyPr>
            <a:noAutofit/>
          </a:bodyPr>
          <a:lstStyle/>
          <a:p>
            <a:pPr eaLnBrk="1" hangingPunct="1"/>
            <a:r>
              <a:rPr lang="en-US" sz="1800" b="1" dirty="0">
                <a:solidFill>
                  <a:srgbClr val="FF0000"/>
                </a:solidFill>
              </a:rPr>
              <a:t>Dining-Philosophers Problem</a:t>
            </a:r>
          </a:p>
        </p:txBody>
      </p:sp>
      <p:pic>
        <p:nvPicPr>
          <p:cNvPr id="6" name="Picture 5" descr="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62600" y="1905000"/>
            <a:ext cx="3176016" cy="27432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4472179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542925" y="91016"/>
            <a:ext cx="7670800" cy="512233"/>
          </a:xfrm>
        </p:spPr>
        <p:txBody>
          <a:bodyPr>
            <a:normAutofit/>
          </a:bodyPr>
          <a:lstStyle/>
          <a:p>
            <a:pPr eaLnBrk="1" hangingPunct="1"/>
            <a:r>
              <a:rPr lang="en-US" b="1" dirty="0">
                <a:solidFill>
                  <a:srgbClr val="FF0000"/>
                </a:solidFill>
              </a:rPr>
              <a:t>Dining-Philosophers Problem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3810000"/>
            <a:ext cx="8077200" cy="1426633"/>
          </a:xfrm>
        </p:spPr>
        <p:txBody>
          <a:bodyPr>
            <a:noAutofit/>
          </a:bodyPr>
          <a:lstStyle/>
          <a:p>
            <a:pPr>
              <a:tabLst>
                <a:tab pos="1302874" algn="l"/>
                <a:tab pos="1466923" algn="l"/>
              </a:tabLst>
            </a:pPr>
            <a:r>
              <a:rPr lang="en-US" sz="2000" dirty="0"/>
              <a:t>Philosophers spend their lives </a:t>
            </a:r>
            <a:r>
              <a:rPr lang="en-US" sz="2000" dirty="0">
                <a:solidFill>
                  <a:srgbClr val="FF0000"/>
                </a:solidFill>
              </a:rPr>
              <a:t>thinking and eating</a:t>
            </a:r>
          </a:p>
          <a:p>
            <a:pPr>
              <a:tabLst>
                <a:tab pos="1302874" algn="l"/>
                <a:tab pos="1466923" algn="l"/>
              </a:tabLst>
            </a:pPr>
            <a:r>
              <a:rPr lang="en-US" sz="2000" dirty="0"/>
              <a:t>Don’t interact with their neighbors, occasionally try to </a:t>
            </a:r>
            <a:r>
              <a:rPr lang="en-US" sz="2000" dirty="0">
                <a:solidFill>
                  <a:srgbClr val="FF0000"/>
                </a:solidFill>
              </a:rPr>
              <a:t>pick up 2 chopsticks (one at a time) to eat from bowl</a:t>
            </a:r>
          </a:p>
          <a:p>
            <a:pPr lvl="1">
              <a:tabLst>
                <a:tab pos="1302874" algn="l"/>
                <a:tab pos="1466923" algn="l"/>
              </a:tabLst>
            </a:pPr>
            <a:r>
              <a:rPr lang="en-US" sz="1800" dirty="0"/>
              <a:t>Need both to eat, then release both when done</a:t>
            </a:r>
          </a:p>
          <a:p>
            <a:pPr>
              <a:tabLst>
                <a:tab pos="1302874" algn="l"/>
                <a:tab pos="1466923" algn="l"/>
              </a:tabLst>
            </a:pPr>
            <a:r>
              <a:rPr lang="en-US" sz="2000" dirty="0"/>
              <a:t>In the case of 5 philosophers</a:t>
            </a:r>
          </a:p>
          <a:p>
            <a:pPr lvl="1">
              <a:tabLst>
                <a:tab pos="1302874" algn="l"/>
                <a:tab pos="1466923" algn="l"/>
              </a:tabLst>
            </a:pPr>
            <a:r>
              <a:rPr lang="en-US" sz="1800" dirty="0"/>
              <a:t>Shared data </a:t>
            </a:r>
          </a:p>
          <a:p>
            <a:pPr lvl="2">
              <a:tabLst>
                <a:tab pos="1302874" algn="l"/>
                <a:tab pos="1466923" algn="l"/>
              </a:tabLst>
            </a:pPr>
            <a:r>
              <a:rPr lang="en-US" sz="1600" dirty="0"/>
              <a:t>Bowl of rice (data set)</a:t>
            </a:r>
          </a:p>
          <a:p>
            <a:pPr lvl="2">
              <a:tabLst>
                <a:tab pos="1302874" algn="l"/>
                <a:tab pos="1466923" algn="l"/>
              </a:tabLst>
            </a:pPr>
            <a:r>
              <a:rPr lang="en-US" sz="1600" dirty="0"/>
              <a:t>Semaphore </a:t>
            </a:r>
            <a:r>
              <a:rPr lang="en-US" sz="1600" dirty="0">
                <a:solidFill>
                  <a:srgbClr val="FF0000"/>
                </a:solidFill>
              </a:rPr>
              <a:t>chopstick [5]</a:t>
            </a:r>
            <a:r>
              <a:rPr lang="en-US" sz="1600" dirty="0"/>
              <a:t> initialized to 1</a:t>
            </a:r>
          </a:p>
        </p:txBody>
      </p:sp>
      <p:pic>
        <p:nvPicPr>
          <p:cNvPr id="36868" name="Picture 5" descr="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62200" y="914399"/>
            <a:ext cx="4114800" cy="27432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3814299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538714" y="264607"/>
            <a:ext cx="7865533" cy="512233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/>
              <a:t>  Dining-Philosophers Problem Algorithm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990600"/>
            <a:ext cx="5486400" cy="4648200"/>
          </a:xfrm>
          <a:solidFill>
            <a:srgbClr val="FFFF00"/>
          </a:solidFill>
        </p:spPr>
        <p:txBody>
          <a:bodyPr>
            <a:normAutofit fontScale="77500" lnSpcReduction="20000"/>
          </a:bodyPr>
          <a:lstStyle/>
          <a:p>
            <a:pPr marL="360910" indent="-360910">
              <a:lnSpc>
                <a:spcPct val="90000"/>
              </a:lnSpc>
              <a:tabLst>
                <a:tab pos="1629915" algn="l"/>
                <a:tab pos="1908271" algn="l"/>
                <a:tab pos="2124182" algn="l"/>
                <a:tab pos="2340092" algn="l"/>
              </a:tabLst>
            </a:pPr>
            <a:r>
              <a:rPr lang="en-US" dirty="0"/>
              <a:t>The structure of Philosopher</a:t>
            </a:r>
            <a:r>
              <a:rPr lang="en-US" i="1" dirty="0">
                <a:solidFill>
                  <a:srgbClr val="0000FF"/>
                </a:solidFill>
              </a:rPr>
              <a:t> i</a:t>
            </a:r>
            <a:r>
              <a:rPr lang="en-US" dirty="0"/>
              <a:t>:</a:t>
            </a:r>
          </a:p>
          <a:p>
            <a:pPr marL="1140940" lvl="2" indent="-324925">
              <a:lnSpc>
                <a:spcPct val="90000"/>
              </a:lnSpc>
              <a:buNone/>
              <a:tabLst>
                <a:tab pos="1629915" algn="l"/>
                <a:tab pos="1908271" algn="l"/>
                <a:tab pos="2124182" algn="l"/>
                <a:tab pos="2340092" algn="l"/>
              </a:tabLst>
            </a:pPr>
            <a:endParaRPr lang="en-US" dirty="0"/>
          </a:p>
          <a:p>
            <a:pPr marL="1140940" lvl="2" indent="-324925">
              <a:lnSpc>
                <a:spcPct val="90000"/>
              </a:lnSpc>
              <a:buNone/>
              <a:tabLst>
                <a:tab pos="1629915" algn="l"/>
                <a:tab pos="1908271" algn="l"/>
                <a:tab pos="2124182" algn="l"/>
                <a:tab pos="2340092" algn="l"/>
              </a:tabLst>
            </a:pPr>
            <a:r>
              <a:rPr lang="en-US" sz="2600" b="1" dirty="0"/>
              <a:t>do  { </a:t>
            </a:r>
          </a:p>
          <a:p>
            <a:pPr marL="1140940" lvl="2" indent="-324925">
              <a:lnSpc>
                <a:spcPct val="90000"/>
              </a:lnSpc>
              <a:buNone/>
              <a:tabLst>
                <a:tab pos="1629915" algn="l"/>
                <a:tab pos="1908271" algn="l"/>
                <a:tab pos="2124182" algn="l"/>
                <a:tab pos="2340092" algn="l"/>
              </a:tabLst>
            </a:pPr>
            <a:r>
              <a:rPr lang="en-US" sz="2600" b="1" dirty="0"/>
              <a:t>     wait ( chopstick[i] );</a:t>
            </a:r>
          </a:p>
          <a:p>
            <a:pPr marL="1140940" lvl="2" indent="-324925">
              <a:lnSpc>
                <a:spcPct val="90000"/>
              </a:lnSpc>
              <a:buNone/>
              <a:tabLst>
                <a:tab pos="1629915" algn="l"/>
                <a:tab pos="1908271" algn="l"/>
                <a:tab pos="2124182" algn="l"/>
                <a:tab pos="2340092" algn="l"/>
              </a:tabLst>
            </a:pPr>
            <a:r>
              <a:rPr lang="en-US" sz="2600" b="1" dirty="0"/>
              <a:t>	wait ( </a:t>
            </a:r>
            <a:r>
              <a:rPr lang="en-US" sz="2600" b="1" dirty="0" err="1"/>
              <a:t>chopStick</a:t>
            </a:r>
            <a:r>
              <a:rPr lang="en-US" sz="2600" b="1" dirty="0"/>
              <a:t>[ (i + 1) % 5] );</a:t>
            </a:r>
          </a:p>
          <a:p>
            <a:pPr marL="1140940" lvl="2" indent="-324925">
              <a:lnSpc>
                <a:spcPct val="90000"/>
              </a:lnSpc>
              <a:buNone/>
              <a:tabLst>
                <a:tab pos="1629915" algn="l"/>
                <a:tab pos="1908271" algn="l"/>
                <a:tab pos="2124182" algn="l"/>
                <a:tab pos="2340092" algn="l"/>
              </a:tabLst>
            </a:pPr>
            <a:r>
              <a:rPr lang="en-US" sz="2600" b="1" dirty="0"/>
              <a:t>	</a:t>
            </a:r>
          </a:p>
          <a:p>
            <a:pPr marL="1140940" lvl="2" indent="-324925">
              <a:lnSpc>
                <a:spcPct val="90000"/>
              </a:lnSpc>
              <a:buNone/>
              <a:tabLst>
                <a:tab pos="1629915" algn="l"/>
                <a:tab pos="1908271" algn="l"/>
                <a:tab pos="2124182" algn="l"/>
                <a:tab pos="2340092" algn="l"/>
              </a:tabLst>
            </a:pPr>
            <a:r>
              <a:rPr lang="en-US" sz="2600" b="1" dirty="0"/>
              <a:t>	          //  eat</a:t>
            </a:r>
          </a:p>
          <a:p>
            <a:pPr marL="1140940" lvl="2" indent="-324925">
              <a:lnSpc>
                <a:spcPct val="90000"/>
              </a:lnSpc>
              <a:buNone/>
              <a:tabLst>
                <a:tab pos="1629915" algn="l"/>
                <a:tab pos="1908271" algn="l"/>
                <a:tab pos="2124182" algn="l"/>
                <a:tab pos="2340092" algn="l"/>
              </a:tabLst>
            </a:pPr>
            <a:endParaRPr lang="en-US" sz="2600" b="1" dirty="0"/>
          </a:p>
          <a:p>
            <a:pPr marL="1140940" lvl="2" indent="-324925">
              <a:lnSpc>
                <a:spcPct val="90000"/>
              </a:lnSpc>
              <a:buNone/>
              <a:tabLst>
                <a:tab pos="1629915" algn="l"/>
                <a:tab pos="1908271" algn="l"/>
                <a:tab pos="2124182" algn="l"/>
                <a:tab pos="2340092" algn="l"/>
              </a:tabLst>
            </a:pPr>
            <a:r>
              <a:rPr lang="en-US" sz="2600" b="1" dirty="0"/>
              <a:t>	signal ( chopstick[i] );</a:t>
            </a:r>
          </a:p>
          <a:p>
            <a:pPr marL="1140940" lvl="2" indent="-324925">
              <a:lnSpc>
                <a:spcPct val="90000"/>
              </a:lnSpc>
              <a:buNone/>
              <a:tabLst>
                <a:tab pos="1629915" algn="l"/>
                <a:tab pos="1908271" algn="l"/>
                <a:tab pos="2124182" algn="l"/>
                <a:tab pos="2340092" algn="l"/>
              </a:tabLst>
            </a:pPr>
            <a:r>
              <a:rPr lang="en-US" sz="2600" b="1" dirty="0"/>
              <a:t>	signal (chopstick[ (i + 1) % 5] );</a:t>
            </a:r>
          </a:p>
          <a:p>
            <a:pPr marL="1140940" lvl="2" indent="-324925">
              <a:lnSpc>
                <a:spcPct val="90000"/>
              </a:lnSpc>
              <a:buNone/>
              <a:tabLst>
                <a:tab pos="1629915" algn="l"/>
                <a:tab pos="1908271" algn="l"/>
                <a:tab pos="2124182" algn="l"/>
                <a:tab pos="2340092" algn="l"/>
              </a:tabLst>
            </a:pPr>
            <a:r>
              <a:rPr lang="en-US" sz="2600" b="1" dirty="0"/>
              <a:t>	</a:t>
            </a:r>
          </a:p>
          <a:p>
            <a:pPr marL="1140940" lvl="2" indent="-324925">
              <a:lnSpc>
                <a:spcPct val="90000"/>
              </a:lnSpc>
              <a:buNone/>
              <a:tabLst>
                <a:tab pos="1629915" algn="l"/>
                <a:tab pos="1908271" algn="l"/>
                <a:tab pos="2124182" algn="l"/>
                <a:tab pos="2340092" algn="l"/>
              </a:tabLst>
            </a:pPr>
            <a:r>
              <a:rPr lang="en-US" sz="2600" b="1" dirty="0"/>
              <a:t>             //  think</a:t>
            </a:r>
          </a:p>
          <a:p>
            <a:pPr marL="1140940" lvl="2" indent="-324925">
              <a:lnSpc>
                <a:spcPct val="90000"/>
              </a:lnSpc>
              <a:buNone/>
              <a:tabLst>
                <a:tab pos="1629915" algn="l"/>
                <a:tab pos="1908271" algn="l"/>
                <a:tab pos="2124182" algn="l"/>
                <a:tab pos="2340092" algn="l"/>
              </a:tabLst>
            </a:pPr>
            <a:endParaRPr lang="en-US" sz="2600" b="1" dirty="0"/>
          </a:p>
          <a:p>
            <a:pPr marL="1140940" lvl="2" indent="-324925">
              <a:lnSpc>
                <a:spcPct val="90000"/>
              </a:lnSpc>
              <a:buNone/>
              <a:tabLst>
                <a:tab pos="1629915" algn="l"/>
                <a:tab pos="1908271" algn="l"/>
                <a:tab pos="2124182" algn="l"/>
                <a:tab pos="2340092" algn="l"/>
              </a:tabLst>
            </a:pPr>
            <a:r>
              <a:rPr lang="en-US" sz="2600" b="1" dirty="0"/>
              <a:t>} while (TRUE);</a:t>
            </a:r>
          </a:p>
          <a:p>
            <a:pPr marL="1140940" lvl="2" indent="-324925">
              <a:lnSpc>
                <a:spcPct val="90000"/>
              </a:lnSpc>
              <a:buNone/>
              <a:tabLst>
                <a:tab pos="1629915" algn="l"/>
                <a:tab pos="1908271" algn="l"/>
                <a:tab pos="2124182" algn="l"/>
                <a:tab pos="2340092" algn="l"/>
              </a:tabLst>
            </a:pPr>
            <a:endParaRPr lang="en-US" dirty="0">
              <a:solidFill>
                <a:srgbClr val="0000FF"/>
              </a:solidFill>
            </a:endParaRPr>
          </a:p>
          <a:p>
            <a:pPr marL="432880">
              <a:lnSpc>
                <a:spcPct val="90000"/>
              </a:lnSpc>
              <a:buNone/>
              <a:tabLst>
                <a:tab pos="1629915" algn="l"/>
                <a:tab pos="1908271" algn="l"/>
                <a:tab pos="2124182" algn="l"/>
                <a:tab pos="2340092" algn="l"/>
              </a:tabLst>
            </a:pPr>
            <a:r>
              <a:rPr lang="en-GB" sz="1600" dirty="0"/>
              <a:t>This solution guarantees that no two </a:t>
            </a:r>
            <a:r>
              <a:rPr lang="en-GB" sz="1600" dirty="0" err="1"/>
              <a:t>neighbors</a:t>
            </a:r>
            <a:r>
              <a:rPr lang="en-GB" sz="1600" dirty="0"/>
              <a:t> can be eating simultaneously (i.e., </a:t>
            </a:r>
            <a:r>
              <a:rPr lang="en-GB" sz="1600" b="1" dirty="0">
                <a:solidFill>
                  <a:srgbClr val="00B0F0"/>
                </a:solidFill>
              </a:rPr>
              <a:t>mutual exclusion</a:t>
            </a:r>
            <a:r>
              <a:rPr lang="en-GB" sz="1600" dirty="0"/>
              <a:t>)</a:t>
            </a:r>
          </a:p>
          <a:p>
            <a:pPr marL="360910" indent="-360910">
              <a:lnSpc>
                <a:spcPct val="90000"/>
              </a:lnSpc>
              <a:tabLst>
                <a:tab pos="1629915" algn="l"/>
                <a:tab pos="1908271" algn="l"/>
                <a:tab pos="2124182" algn="l"/>
                <a:tab pos="2340092" algn="l"/>
              </a:tabLst>
            </a:pPr>
            <a:r>
              <a:rPr lang="en-US" sz="1600" dirty="0"/>
              <a:t>What is the problem with this algorithm?</a:t>
            </a:r>
          </a:p>
          <a:p>
            <a:pPr marL="0" lvl="1" indent="0">
              <a:lnSpc>
                <a:spcPct val="90000"/>
              </a:lnSpc>
              <a:buClr>
                <a:srgbClr val="993300"/>
              </a:buClr>
              <a:buSzPct val="90000"/>
              <a:buNone/>
              <a:tabLst>
                <a:tab pos="1629915" algn="l"/>
                <a:tab pos="1908271" algn="l"/>
                <a:tab pos="2124182" algn="l"/>
                <a:tab pos="2340092" algn="l"/>
              </a:tabLst>
            </a:pPr>
            <a:r>
              <a:rPr lang="en-GB" sz="1600" dirty="0"/>
              <a:t>                       This solution could create </a:t>
            </a:r>
            <a:r>
              <a:rPr lang="en-GB" sz="1600" b="1" dirty="0">
                <a:solidFill>
                  <a:srgbClr val="00B0F0"/>
                </a:solidFill>
              </a:rPr>
              <a:t>a deadlock</a:t>
            </a:r>
            <a:r>
              <a:rPr lang="en-GB" sz="1600" dirty="0"/>
              <a:t>. How?</a:t>
            </a:r>
            <a:endParaRPr lang="en-US" dirty="0">
              <a:solidFill>
                <a:srgbClr val="0000FF"/>
              </a:solidFill>
            </a:endParaRPr>
          </a:p>
        </p:txBody>
      </p:sp>
      <p:pic>
        <p:nvPicPr>
          <p:cNvPr id="7" name="Picture 5" descr="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62600" y="1828800"/>
            <a:ext cx="3124200" cy="27432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538714" y="5715000"/>
            <a:ext cx="2590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</a:rPr>
              <a:t>chopstick[</a:t>
            </a:r>
            <a:r>
              <a:rPr lang="en-US" sz="2000" b="1" dirty="0" err="1">
                <a:solidFill>
                  <a:srgbClr val="00B0F0"/>
                </a:solidFill>
              </a:rPr>
              <a:t>i</a:t>
            </a:r>
            <a:r>
              <a:rPr lang="en-US" sz="2000" b="1" dirty="0">
                <a:solidFill>
                  <a:srgbClr val="00B0F0"/>
                </a:solidFill>
              </a:rPr>
              <a:t>] = 1</a:t>
            </a:r>
          </a:p>
          <a:p>
            <a:r>
              <a:rPr lang="en-US" sz="2000" b="1" dirty="0">
                <a:solidFill>
                  <a:srgbClr val="00B0F0"/>
                </a:solidFill>
              </a:rPr>
              <a:t>chopstick[i+1] = 1 </a:t>
            </a:r>
            <a:endParaRPr lang="en-US" sz="20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055518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7467600" cy="487362"/>
          </a:xfrm>
        </p:spPr>
        <p:txBody>
          <a:bodyPr/>
          <a:lstStyle/>
          <a:p>
            <a:r>
              <a:rPr lang="en-US" dirty="0"/>
              <a:t>Deadlock situation and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609600"/>
            <a:ext cx="8077200" cy="6248400"/>
          </a:xfrm>
        </p:spPr>
        <p:txBody>
          <a:bodyPr>
            <a:normAutofit/>
          </a:bodyPr>
          <a:lstStyle/>
          <a:p>
            <a:pPr algn="just"/>
            <a:r>
              <a:rPr lang="en-US" sz="2000" dirty="0"/>
              <a:t>Suppose that </a:t>
            </a:r>
            <a:r>
              <a:rPr lang="en-US" sz="2000" dirty="0">
                <a:solidFill>
                  <a:srgbClr val="00B0F0"/>
                </a:solidFill>
              </a:rPr>
              <a:t>all five philosophers become hungry </a:t>
            </a:r>
            <a:r>
              <a:rPr lang="en-US" sz="2000" dirty="0"/>
              <a:t>at the same time and </a:t>
            </a:r>
            <a:r>
              <a:rPr lang="en-US" sz="2000" dirty="0">
                <a:solidFill>
                  <a:srgbClr val="00B0F0"/>
                </a:solidFill>
              </a:rPr>
              <a:t>each grabs her left chopstick</a:t>
            </a:r>
            <a:r>
              <a:rPr lang="en-US" sz="2000" dirty="0"/>
              <a:t>. All the elements of chopstick will now be equal to 0. </a:t>
            </a:r>
          </a:p>
          <a:p>
            <a:pPr algn="just"/>
            <a:r>
              <a:rPr lang="en-US" sz="2000" dirty="0"/>
              <a:t>When each philosopher tries to grab her right chopstick, she will be delayed forever. </a:t>
            </a:r>
            <a:r>
              <a:rPr lang="en-US" sz="2000" b="1" dirty="0">
                <a:solidFill>
                  <a:srgbClr val="00B0F0"/>
                </a:solidFill>
              </a:rPr>
              <a:t>This creates Deadlock</a:t>
            </a:r>
            <a:r>
              <a:rPr lang="en-US" sz="2000" dirty="0"/>
              <a:t>.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rgbClr val="00B0F0"/>
                </a:solidFill>
              </a:rPr>
              <a:t>Several </a:t>
            </a:r>
            <a:r>
              <a:rPr lang="en-US" sz="2000" dirty="0">
                <a:solidFill>
                  <a:srgbClr val="FF0000"/>
                </a:solidFill>
              </a:rPr>
              <a:t>possible remedies to the deadlock problem </a:t>
            </a:r>
            <a:r>
              <a:rPr lang="en-US" sz="2000" dirty="0">
                <a:solidFill>
                  <a:srgbClr val="00B0F0"/>
                </a:solidFill>
              </a:rPr>
              <a:t>are the following:</a:t>
            </a:r>
          </a:p>
          <a:p>
            <a:pPr algn="just"/>
            <a:r>
              <a:rPr lang="en-US" sz="2000" dirty="0"/>
              <a:t>• Allow </a:t>
            </a:r>
            <a:r>
              <a:rPr lang="en-US" sz="2000" dirty="0">
                <a:solidFill>
                  <a:srgbClr val="FF0000"/>
                </a:solidFill>
              </a:rPr>
              <a:t>at most four philosophers </a:t>
            </a:r>
            <a:r>
              <a:rPr lang="en-US" sz="2000" dirty="0"/>
              <a:t>to be sitting simultaneously at the table.</a:t>
            </a:r>
          </a:p>
          <a:p>
            <a:pPr algn="just"/>
            <a:r>
              <a:rPr lang="en-US" sz="2000" dirty="0"/>
              <a:t>• Allow a philosopher to pick up her chopsticks </a:t>
            </a:r>
            <a:r>
              <a:rPr lang="en-US" sz="2000" dirty="0">
                <a:solidFill>
                  <a:srgbClr val="FF0000"/>
                </a:solidFill>
              </a:rPr>
              <a:t>only if both chopsticks are available</a:t>
            </a:r>
            <a:r>
              <a:rPr lang="en-US" sz="2000" dirty="0"/>
              <a:t> (to do this, she must pick them up in a critical section).</a:t>
            </a:r>
          </a:p>
          <a:p>
            <a:pPr algn="just"/>
            <a:r>
              <a:rPr lang="en-US" sz="2000" dirty="0"/>
              <a:t>• Use an asymmetric solution—that is, an </a:t>
            </a:r>
            <a:r>
              <a:rPr lang="en-US" sz="2000" dirty="0">
                <a:solidFill>
                  <a:srgbClr val="FF0000"/>
                </a:solidFill>
              </a:rPr>
              <a:t>odd-numbered</a:t>
            </a:r>
            <a:r>
              <a:rPr lang="en-US" sz="2000" dirty="0"/>
              <a:t> philosopher picks up first her left chopstick and then her right chopstick, whereas an </a:t>
            </a:r>
            <a:r>
              <a:rPr lang="en-US" sz="2000" dirty="0">
                <a:solidFill>
                  <a:srgbClr val="FF0000"/>
                </a:solidFill>
              </a:rPr>
              <a:t>even numbered philosopher </a:t>
            </a:r>
            <a:r>
              <a:rPr lang="en-US" sz="2000" dirty="0"/>
              <a:t>picks up her right chopstick and then her left chopstick.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58446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923925" y="627592"/>
            <a:ext cx="7762875" cy="512233"/>
          </a:xfrm>
        </p:spPr>
        <p:txBody>
          <a:bodyPr>
            <a:normAutofit/>
          </a:bodyPr>
          <a:lstStyle/>
          <a:p>
            <a:pPr eaLnBrk="1" hangingPunct="1"/>
            <a:r>
              <a:rPr lang="en-US"/>
              <a:t>Problems with Semaphores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>
          <a:xfrm>
            <a:off x="827617" y="1520825"/>
            <a:ext cx="6959600" cy="4321175"/>
          </a:xfrm>
        </p:spPr>
        <p:txBody>
          <a:bodyPr/>
          <a:lstStyle/>
          <a:p>
            <a:r>
              <a:rPr lang="en-US" dirty="0"/>
              <a:t> Incorrect use of semaphore operations: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 signal (</a:t>
            </a:r>
            <a:r>
              <a:rPr lang="en-US" dirty="0" err="1"/>
              <a:t>mutex</a:t>
            </a:r>
            <a:r>
              <a:rPr lang="en-US" dirty="0"/>
              <a:t>)  ….  wait (</a:t>
            </a:r>
            <a:r>
              <a:rPr lang="en-US" dirty="0" err="1"/>
              <a:t>mutex</a:t>
            </a:r>
            <a:r>
              <a:rPr lang="en-US" dirty="0"/>
              <a:t>)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 wait (</a:t>
            </a:r>
            <a:r>
              <a:rPr lang="en-US" dirty="0" err="1"/>
              <a:t>mutex</a:t>
            </a:r>
            <a:r>
              <a:rPr lang="en-US" dirty="0"/>
              <a:t>)  …  wait (</a:t>
            </a:r>
            <a:r>
              <a:rPr lang="en-US" dirty="0" err="1"/>
              <a:t>mutex</a:t>
            </a:r>
            <a:r>
              <a:rPr lang="en-US" dirty="0"/>
              <a:t>)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 Omitting  of wait (</a:t>
            </a:r>
            <a:r>
              <a:rPr lang="en-US" dirty="0" err="1"/>
              <a:t>mutex</a:t>
            </a:r>
            <a:r>
              <a:rPr lang="en-US" dirty="0"/>
              <a:t>) or signal (</a:t>
            </a:r>
            <a:r>
              <a:rPr lang="en-US" dirty="0" err="1"/>
              <a:t>mutex</a:t>
            </a:r>
            <a:r>
              <a:rPr lang="en-US" dirty="0"/>
              <a:t>) (or both)</a:t>
            </a:r>
          </a:p>
          <a:p>
            <a:pPr lvl="1"/>
            <a:endParaRPr lang="en-US" dirty="0"/>
          </a:p>
          <a:p>
            <a:r>
              <a:rPr lang="en-US" dirty="0"/>
              <a:t>Deadlock and starvation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424917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467600" cy="4111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b="1" dirty="0">
                <a:solidFill>
                  <a:srgbClr val="FF0000"/>
                </a:solidFill>
              </a:rPr>
              <a:t>Monitors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>
          <a:xfrm>
            <a:off x="447675" y="990600"/>
            <a:ext cx="7649633" cy="5257800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80000"/>
              </a:lnSpc>
            </a:pPr>
            <a:r>
              <a:rPr lang="en-US" dirty="0"/>
              <a:t>A high-level abstraction that provides a convenient and effective mechanism for process synchronization</a:t>
            </a:r>
          </a:p>
          <a:p>
            <a:pPr algn="just"/>
            <a:r>
              <a:rPr lang="en-IN" sz="2000" dirty="0"/>
              <a:t>Goal of OS is to share resources amongst many programs.</a:t>
            </a:r>
          </a:p>
          <a:p>
            <a:pPr algn="just"/>
            <a:r>
              <a:rPr lang="en-IN" sz="2000" dirty="0"/>
              <a:t>Separate schedulers should be created for each class of resource.</a:t>
            </a:r>
          </a:p>
          <a:p>
            <a:pPr algn="just"/>
            <a:r>
              <a:rPr lang="en-IN" sz="2000" dirty="0"/>
              <a:t>Each scheduler contains local data + procedures that programs may use to acquire and release resources. Such a collection of data + procedures is a monitor. </a:t>
            </a:r>
          </a:p>
          <a:p>
            <a:pPr algn="just"/>
            <a:endParaRPr lang="en-US" dirty="0"/>
          </a:p>
          <a:p>
            <a:pPr algn="just">
              <a:lnSpc>
                <a:spcPct val="80000"/>
              </a:lnSpc>
            </a:pPr>
            <a:r>
              <a:rPr lang="en-US" i="1" dirty="0"/>
              <a:t>Abstract data type</a:t>
            </a:r>
            <a:r>
              <a:rPr lang="en-US" dirty="0"/>
              <a:t>, internal variables only accessible by code within the procedure</a:t>
            </a:r>
          </a:p>
          <a:p>
            <a:pPr algn="just"/>
            <a:r>
              <a:rPr lang="en-US" dirty="0"/>
              <a:t>Only one process may be active within the monitor at a time </a:t>
            </a:r>
            <a:r>
              <a:rPr lang="en-IN" sz="2000" dirty="0"/>
              <a:t>If more than one program attempts to enter at the same time, only one will succeed, and the remaining programs will remain on a queue.</a:t>
            </a:r>
          </a:p>
          <a:p>
            <a:pPr algn="just"/>
            <a:r>
              <a:rPr lang="en-IN" sz="2000" dirty="0"/>
              <a:t> </a:t>
            </a:r>
          </a:p>
          <a:p>
            <a:pPr algn="just">
              <a:lnSpc>
                <a:spcPct val="80000"/>
              </a:lnSpc>
            </a:pPr>
            <a:endParaRPr lang="en-US" dirty="0"/>
          </a:p>
          <a:p>
            <a:pPr algn="just">
              <a:lnSpc>
                <a:spcPct val="80000"/>
              </a:lnSpc>
            </a:pPr>
            <a:r>
              <a:rPr lang="en-US" dirty="0"/>
              <a:t>But not powerful enough to model some synchronization schemes</a:t>
            </a:r>
          </a:p>
          <a:p>
            <a:pPr lvl="2">
              <a:lnSpc>
                <a:spcPct val="80000"/>
              </a:lnSpc>
              <a:buFont typeface="Webdings" charset="2"/>
              <a:buNone/>
            </a:pPr>
            <a:endParaRPr lang="en-US" sz="1333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69248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09600"/>
            <a:ext cx="5257800" cy="4873752"/>
          </a:xfrm>
        </p:spPr>
        <p:txBody>
          <a:bodyPr/>
          <a:lstStyle/>
          <a:p>
            <a:pPr lvl="2">
              <a:lnSpc>
                <a:spcPct val="80000"/>
              </a:lnSpc>
              <a:buNone/>
            </a:pPr>
            <a:r>
              <a:rPr lang="en-US" sz="2400" dirty="0">
                <a:solidFill>
                  <a:srgbClr val="0000FF"/>
                </a:solidFill>
              </a:rPr>
              <a:t>monitor monitor-name</a:t>
            </a:r>
          </a:p>
          <a:p>
            <a:pPr lvl="2">
              <a:lnSpc>
                <a:spcPct val="80000"/>
              </a:lnSpc>
              <a:buNone/>
            </a:pPr>
            <a:r>
              <a:rPr lang="en-US" sz="2400" dirty="0">
                <a:solidFill>
                  <a:srgbClr val="0000FF"/>
                </a:solidFill>
              </a:rPr>
              <a:t>{</a:t>
            </a:r>
          </a:p>
          <a:p>
            <a:pPr lvl="2">
              <a:lnSpc>
                <a:spcPct val="80000"/>
              </a:lnSpc>
              <a:buNone/>
            </a:pPr>
            <a:r>
              <a:rPr lang="en-US" sz="2400" dirty="0">
                <a:solidFill>
                  <a:srgbClr val="0000FF"/>
                </a:solidFill>
              </a:rPr>
              <a:t>	// shared variable declarations</a:t>
            </a:r>
          </a:p>
          <a:p>
            <a:pPr lvl="2">
              <a:lnSpc>
                <a:spcPct val="80000"/>
              </a:lnSpc>
              <a:buNone/>
            </a:pPr>
            <a:r>
              <a:rPr lang="en-US" sz="2400" dirty="0">
                <a:solidFill>
                  <a:srgbClr val="0000FF"/>
                </a:solidFill>
              </a:rPr>
              <a:t>	procedure P1 (…) { …. }</a:t>
            </a:r>
          </a:p>
          <a:p>
            <a:pPr lvl="2">
              <a:lnSpc>
                <a:spcPct val="80000"/>
              </a:lnSpc>
              <a:buNone/>
            </a:pPr>
            <a:endParaRPr lang="en-US" sz="2400" dirty="0">
              <a:solidFill>
                <a:srgbClr val="0000FF"/>
              </a:solidFill>
            </a:endParaRPr>
          </a:p>
          <a:p>
            <a:pPr lvl="2">
              <a:lnSpc>
                <a:spcPct val="80000"/>
              </a:lnSpc>
              <a:buNone/>
            </a:pPr>
            <a:r>
              <a:rPr lang="en-US" sz="2400" dirty="0">
                <a:solidFill>
                  <a:srgbClr val="0000FF"/>
                </a:solidFill>
              </a:rPr>
              <a:t>	procedure </a:t>
            </a:r>
            <a:r>
              <a:rPr lang="en-US" sz="2400" dirty="0" err="1">
                <a:solidFill>
                  <a:srgbClr val="0000FF"/>
                </a:solidFill>
              </a:rPr>
              <a:t>Pn</a:t>
            </a:r>
            <a:r>
              <a:rPr lang="en-US" sz="2400" dirty="0">
                <a:solidFill>
                  <a:srgbClr val="0000FF"/>
                </a:solidFill>
              </a:rPr>
              <a:t> (…) {……}</a:t>
            </a:r>
          </a:p>
          <a:p>
            <a:pPr lvl="2">
              <a:lnSpc>
                <a:spcPct val="80000"/>
              </a:lnSpc>
              <a:buNone/>
            </a:pPr>
            <a:endParaRPr lang="en-US" sz="2400" dirty="0">
              <a:solidFill>
                <a:srgbClr val="0000FF"/>
              </a:solidFill>
            </a:endParaRPr>
          </a:p>
          <a:p>
            <a:pPr lvl="2">
              <a:lnSpc>
                <a:spcPct val="80000"/>
              </a:lnSpc>
              <a:buNone/>
            </a:pPr>
            <a:r>
              <a:rPr lang="en-US" sz="2400" dirty="0">
                <a:solidFill>
                  <a:srgbClr val="0000FF"/>
                </a:solidFill>
              </a:rPr>
              <a:t>    Initialization code (…) { … }</a:t>
            </a:r>
          </a:p>
          <a:p>
            <a:pPr lvl="2">
              <a:lnSpc>
                <a:spcPct val="80000"/>
              </a:lnSpc>
              <a:buNone/>
            </a:pPr>
            <a:r>
              <a:rPr lang="en-US" sz="2400" dirty="0">
                <a:solidFill>
                  <a:srgbClr val="0000FF"/>
                </a:solidFill>
              </a:rPr>
              <a:t>	}</a:t>
            </a:r>
          </a:p>
          <a:p>
            <a:pPr lvl="2">
              <a:lnSpc>
                <a:spcPct val="80000"/>
              </a:lnSpc>
              <a:buNone/>
            </a:pPr>
            <a:r>
              <a:rPr lang="en-US" sz="2400" dirty="0">
                <a:solidFill>
                  <a:srgbClr val="0000FF"/>
                </a:solidFill>
              </a:rPr>
              <a:t>}</a:t>
            </a:r>
          </a:p>
          <a:p>
            <a:endParaRPr lang="en-IN" dirty="0"/>
          </a:p>
        </p:txBody>
      </p:sp>
      <p:pic>
        <p:nvPicPr>
          <p:cNvPr id="4" name="Picture 4" descr="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53000" y="928285"/>
            <a:ext cx="4040717" cy="45741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7314184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1222376" y="627592"/>
            <a:ext cx="7464425" cy="512233"/>
          </a:xfrm>
        </p:spPr>
        <p:txBody>
          <a:bodyPr>
            <a:normAutofit/>
          </a:bodyPr>
          <a:lstStyle/>
          <a:p>
            <a:pPr eaLnBrk="1" hangingPunct="1"/>
            <a:r>
              <a:rPr lang="en-US"/>
              <a:t>Schematic view of a Monitor</a:t>
            </a:r>
          </a:p>
        </p:txBody>
      </p:sp>
      <p:pic>
        <p:nvPicPr>
          <p:cNvPr id="40963" name="Picture 4" descr="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73494" y="1223110"/>
            <a:ext cx="5412317" cy="45741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extBox 1"/>
          <p:cNvSpPr txBox="1"/>
          <p:nvPr/>
        </p:nvSpPr>
        <p:spPr>
          <a:xfrm>
            <a:off x="4369838" y="2514600"/>
            <a:ext cx="4316963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11" indent="-228611">
              <a:buFont typeface="+mj-lt"/>
              <a:buAutoNum type="arabicPeriod"/>
            </a:pPr>
            <a:r>
              <a:rPr lang="en-IN" sz="1600" dirty="0"/>
              <a:t>The </a:t>
            </a:r>
            <a:r>
              <a:rPr lang="en-IN" sz="1600" b="1" i="1" dirty="0"/>
              <a:t>initialization</a:t>
            </a:r>
            <a:r>
              <a:rPr lang="en-IN" sz="1600" dirty="0"/>
              <a:t> component contains the code that is used exactly once when the monitor is created</a:t>
            </a:r>
            <a:endParaRPr lang="en-US" sz="1600" dirty="0">
              <a:solidFill>
                <a:srgbClr val="0000FF"/>
              </a:solidFill>
            </a:endParaRPr>
          </a:p>
          <a:p>
            <a:pPr marL="228611" indent="-228611">
              <a:buFont typeface="+mj-lt"/>
              <a:buAutoNum type="arabicPeriod"/>
            </a:pPr>
            <a:r>
              <a:rPr lang="en-IN" sz="1600" dirty="0"/>
              <a:t>The </a:t>
            </a:r>
            <a:r>
              <a:rPr lang="en-IN" sz="1600" b="1" i="1" dirty="0"/>
              <a:t>monitor procedures</a:t>
            </a:r>
            <a:r>
              <a:rPr lang="en-IN" sz="1600" dirty="0"/>
              <a:t> are procedures that can be called from outside of the monitor. </a:t>
            </a:r>
          </a:p>
          <a:p>
            <a:pPr marL="228611" indent="-228611">
              <a:buFont typeface="+mj-lt"/>
              <a:buAutoNum type="arabicPeriod"/>
            </a:pPr>
            <a:r>
              <a:rPr lang="en-IN" sz="1600" dirty="0"/>
              <a:t>The </a:t>
            </a:r>
            <a:r>
              <a:rPr lang="en-IN" sz="1600" b="1" i="1" dirty="0"/>
              <a:t>monitor entry queue</a:t>
            </a:r>
            <a:r>
              <a:rPr lang="en-IN" sz="1600" dirty="0"/>
              <a:t> contains all threads that called monitor procedures but have not been granted permissions. </a:t>
            </a:r>
          </a:p>
          <a:p>
            <a:pPr marL="228611" indent="-228611">
              <a:buFont typeface="+mj-lt"/>
              <a:buAutoNum type="arabicPeriod"/>
            </a:pPr>
            <a:r>
              <a:rPr lang="en-IN" sz="1600" dirty="0">
                <a:solidFill>
                  <a:srgbClr val="0000FF"/>
                </a:solidFill>
              </a:rPr>
              <a:t>Shared Data</a:t>
            </a:r>
            <a:endParaRPr lang="en-US" sz="1600" dirty="0">
              <a:solidFill>
                <a:srgbClr val="0000FF"/>
              </a:solidFill>
            </a:endParaRPr>
          </a:p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127518886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4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659158" cy="512233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/>
              <a:t>Condition Variables</a:t>
            </a:r>
          </a:p>
        </p:txBody>
      </p:sp>
      <p:sp>
        <p:nvSpPr>
          <p:cNvPr id="41987" name="Rectangle 5"/>
          <p:cNvSpPr>
            <a:spLocks noGrp="1" noChangeArrowheads="1"/>
          </p:cNvSpPr>
          <p:nvPr>
            <p:ph idx="1"/>
          </p:nvPr>
        </p:nvSpPr>
        <p:spPr>
          <a:xfrm>
            <a:off x="304800" y="990600"/>
            <a:ext cx="7963958" cy="5105400"/>
          </a:xfrm>
        </p:spPr>
        <p:txBody>
          <a:bodyPr>
            <a:noAutofit/>
          </a:bodyPr>
          <a:lstStyle/>
          <a:p>
            <a:pPr algn="just"/>
            <a:r>
              <a:rPr lang="en-US" sz="2000" dirty="0">
                <a:solidFill>
                  <a:srgbClr val="0000FF"/>
                </a:solidFill>
              </a:rPr>
              <a:t>condition x, y;</a:t>
            </a:r>
          </a:p>
          <a:p>
            <a:pPr algn="just"/>
            <a:endParaRPr lang="en-US" sz="2000" dirty="0">
              <a:solidFill>
                <a:srgbClr val="0000FF"/>
              </a:solidFill>
            </a:endParaRPr>
          </a:p>
          <a:p>
            <a:pPr algn="just"/>
            <a:r>
              <a:rPr lang="en-US" sz="2000" dirty="0"/>
              <a:t>Two operations on a condition variable:</a:t>
            </a:r>
          </a:p>
          <a:p>
            <a:pPr lvl="1" algn="just"/>
            <a:r>
              <a:rPr lang="en-US" sz="2000" dirty="0" err="1">
                <a:solidFill>
                  <a:srgbClr val="0000FF"/>
                </a:solidFill>
              </a:rPr>
              <a:t>x.wait</a:t>
            </a:r>
            <a:r>
              <a:rPr lang="en-US" sz="2000" dirty="0">
                <a:solidFill>
                  <a:srgbClr val="0000FF"/>
                </a:solidFill>
              </a:rPr>
              <a:t> () </a:t>
            </a:r>
            <a:r>
              <a:rPr lang="en-US" sz="2000" dirty="0"/>
              <a:t> – a process that invokes the operation </a:t>
            </a:r>
            <a:r>
              <a:rPr lang="en-US" sz="2000" b="1" dirty="0">
                <a:solidFill>
                  <a:srgbClr val="00B0F0"/>
                </a:solidFill>
              </a:rPr>
              <a:t>is suspended </a:t>
            </a:r>
            <a:r>
              <a:rPr lang="en-US" sz="2000" dirty="0"/>
              <a:t>until </a:t>
            </a:r>
            <a:r>
              <a:rPr lang="en-US" sz="2000" dirty="0" err="1">
                <a:solidFill>
                  <a:srgbClr val="0000FF"/>
                </a:solidFill>
              </a:rPr>
              <a:t>x.signal</a:t>
            </a:r>
            <a:r>
              <a:rPr lang="en-US" sz="2000" dirty="0">
                <a:solidFill>
                  <a:srgbClr val="0000FF"/>
                </a:solidFill>
              </a:rPr>
              <a:t> () </a:t>
            </a:r>
          </a:p>
          <a:p>
            <a:pPr marL="434997" lvl="1" indent="0" algn="just">
              <a:buNone/>
            </a:pPr>
            <a:r>
              <a:rPr lang="en-IN" sz="2400" dirty="0"/>
              <a:t>If a procedure calls wait, the calling program will block until some other procedure calls signal.</a:t>
            </a:r>
          </a:p>
          <a:p>
            <a:pPr marL="434997" lvl="1" indent="0" algn="just">
              <a:buNone/>
            </a:pPr>
            <a:endParaRPr lang="en-US" sz="2000" dirty="0"/>
          </a:p>
          <a:p>
            <a:pPr lvl="1" algn="just"/>
            <a:r>
              <a:rPr lang="en-US" sz="2000" dirty="0" err="1">
                <a:solidFill>
                  <a:srgbClr val="0000FF"/>
                </a:solidFill>
              </a:rPr>
              <a:t>x.signal</a:t>
            </a:r>
            <a:r>
              <a:rPr lang="en-US" sz="2000" dirty="0">
                <a:solidFill>
                  <a:srgbClr val="0000FF"/>
                </a:solidFill>
              </a:rPr>
              <a:t> () </a:t>
            </a:r>
            <a:r>
              <a:rPr lang="en-US" sz="2000" dirty="0"/>
              <a:t>–</a:t>
            </a:r>
            <a:r>
              <a:rPr lang="en-US" sz="2000" dirty="0">
                <a:solidFill>
                  <a:srgbClr val="0000FF"/>
                </a:solidFill>
              </a:rPr>
              <a:t> </a:t>
            </a:r>
            <a:r>
              <a:rPr lang="en-US" sz="2000" b="1" dirty="0">
                <a:solidFill>
                  <a:srgbClr val="00B0F0"/>
                </a:solidFill>
              </a:rPr>
              <a:t>resumes one of processes </a:t>
            </a:r>
            <a:r>
              <a:rPr lang="en-US" sz="2000" dirty="0"/>
              <a:t>(if any)</a:t>
            </a:r>
            <a:r>
              <a:rPr lang="en-US" sz="2000" dirty="0">
                <a:solidFill>
                  <a:srgbClr val="0000FF"/>
                </a:solidFill>
              </a:rPr>
              <a:t> </a:t>
            </a:r>
            <a:r>
              <a:rPr lang="en-US" sz="2000" dirty="0"/>
              <a:t>that</a:t>
            </a:r>
            <a:r>
              <a:rPr lang="en-US" sz="2000" dirty="0">
                <a:solidFill>
                  <a:srgbClr val="0000FF"/>
                </a:solidFill>
              </a:rPr>
              <a:t> </a:t>
            </a:r>
            <a:r>
              <a:rPr lang="en-US" sz="2000" dirty="0"/>
              <a:t> invoked</a:t>
            </a:r>
            <a:r>
              <a:rPr lang="en-US" sz="2000" dirty="0">
                <a:solidFill>
                  <a:srgbClr val="0000FF"/>
                </a:solidFill>
              </a:rPr>
              <a:t> </a:t>
            </a:r>
            <a:r>
              <a:rPr lang="en-US" sz="2000" dirty="0" err="1">
                <a:solidFill>
                  <a:srgbClr val="0000FF"/>
                </a:solidFill>
              </a:rPr>
              <a:t>x.wait</a:t>
            </a:r>
            <a:r>
              <a:rPr lang="en-US" sz="2000" dirty="0">
                <a:solidFill>
                  <a:srgbClr val="0000FF"/>
                </a:solidFill>
              </a:rPr>
              <a:t> ()</a:t>
            </a:r>
          </a:p>
          <a:p>
            <a:pPr marL="434997" lvl="1" indent="0" algn="just">
              <a:buNone/>
            </a:pPr>
            <a:r>
              <a:rPr lang="en-IN" sz="2400" dirty="0"/>
              <a:t>When a procedure calls signal, then the lock on the monitor is also released, and another program that previously called wait will run immediately.</a:t>
            </a:r>
            <a:endParaRPr lang="en-US" sz="2000" dirty="0">
              <a:solidFill>
                <a:srgbClr val="0000FF"/>
              </a:solidFill>
            </a:endParaRPr>
          </a:p>
          <a:p>
            <a:pPr lvl="2" algn="just"/>
            <a:r>
              <a:rPr lang="en-US" sz="2000" dirty="0"/>
              <a:t>If no </a:t>
            </a:r>
            <a:r>
              <a:rPr lang="en-US" sz="2000" dirty="0" err="1">
                <a:solidFill>
                  <a:srgbClr val="0000FF"/>
                </a:solidFill>
              </a:rPr>
              <a:t>x.wait</a:t>
            </a:r>
            <a:r>
              <a:rPr lang="en-US" sz="2000" dirty="0">
                <a:solidFill>
                  <a:srgbClr val="0000FF"/>
                </a:solidFill>
              </a:rPr>
              <a:t> () </a:t>
            </a:r>
            <a:r>
              <a:rPr lang="en-US" sz="2000" dirty="0"/>
              <a:t>on the variable, then it has no effect on the variable.</a:t>
            </a:r>
          </a:p>
        </p:txBody>
      </p:sp>
    </p:spTree>
    <p:extLst>
      <p:ext uri="{BB962C8B-B14F-4D97-AF65-F5344CB8AC3E}">
        <p14:creationId xmlns:p14="http://schemas.microsoft.com/office/powerpoint/2010/main" val="50945242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7846483" cy="512233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/>
              <a:t> Monitor with Condition Variables</a:t>
            </a:r>
          </a:p>
        </p:txBody>
      </p:sp>
      <p:pic>
        <p:nvPicPr>
          <p:cNvPr id="43011" name="Picture 4" descr="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3400" y="762000"/>
            <a:ext cx="80010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8156962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4"/>
          <p:cNvSpPr>
            <a:spLocks noGrp="1" noChangeArrowheads="1"/>
          </p:cNvSpPr>
          <p:nvPr>
            <p:ph type="title"/>
          </p:nvPr>
        </p:nvSpPr>
        <p:spPr>
          <a:xfrm>
            <a:off x="1027642" y="627592"/>
            <a:ext cx="7659158" cy="512233"/>
          </a:xfrm>
        </p:spPr>
        <p:txBody>
          <a:bodyPr>
            <a:normAutofit/>
          </a:bodyPr>
          <a:lstStyle/>
          <a:p>
            <a:pPr eaLnBrk="1" hangingPunct="1"/>
            <a:r>
              <a:rPr lang="en-US"/>
              <a:t>Condition Variables Choices</a:t>
            </a:r>
          </a:p>
        </p:txBody>
      </p:sp>
      <p:sp>
        <p:nvSpPr>
          <p:cNvPr id="44035" name="Rectangle 5"/>
          <p:cNvSpPr>
            <a:spLocks noGrp="1" noChangeArrowheads="1"/>
          </p:cNvSpPr>
          <p:nvPr>
            <p:ph idx="1"/>
          </p:nvPr>
        </p:nvSpPr>
        <p:spPr>
          <a:xfrm>
            <a:off x="827617" y="1609725"/>
            <a:ext cx="7665509" cy="3906308"/>
          </a:xfrm>
        </p:spPr>
        <p:txBody>
          <a:bodyPr>
            <a:normAutofit/>
          </a:bodyPr>
          <a:lstStyle/>
          <a:p>
            <a:r>
              <a:rPr lang="en-US" sz="1600" dirty="0"/>
              <a:t>If process P invokes </a:t>
            </a:r>
            <a:r>
              <a:rPr lang="en-US" sz="1600" dirty="0" err="1">
                <a:solidFill>
                  <a:srgbClr val="0000FF"/>
                </a:solidFill>
              </a:rPr>
              <a:t>x.signal</a:t>
            </a:r>
            <a:r>
              <a:rPr lang="en-US" sz="1600" dirty="0">
                <a:solidFill>
                  <a:srgbClr val="0000FF"/>
                </a:solidFill>
              </a:rPr>
              <a:t> ()</a:t>
            </a:r>
            <a:r>
              <a:rPr lang="en-US" sz="1600" dirty="0"/>
              <a:t>, with Q in </a:t>
            </a:r>
            <a:r>
              <a:rPr lang="en-US" sz="1600" dirty="0" err="1">
                <a:solidFill>
                  <a:srgbClr val="0000FF"/>
                </a:solidFill>
              </a:rPr>
              <a:t>x.wait</a:t>
            </a:r>
            <a:r>
              <a:rPr lang="en-US" sz="1600" dirty="0">
                <a:solidFill>
                  <a:srgbClr val="0000FF"/>
                </a:solidFill>
              </a:rPr>
              <a:t> ()</a:t>
            </a:r>
            <a:r>
              <a:rPr lang="en-US" sz="1600" dirty="0"/>
              <a:t> state, what should happen next?</a:t>
            </a:r>
          </a:p>
          <a:p>
            <a:pPr lvl="1"/>
            <a:r>
              <a:rPr lang="en-US" sz="1600" dirty="0"/>
              <a:t>If Q is resumed, then P must wait</a:t>
            </a:r>
          </a:p>
          <a:p>
            <a:pPr lvl="1"/>
            <a:endParaRPr lang="en-US" sz="1600" dirty="0"/>
          </a:p>
          <a:p>
            <a:r>
              <a:rPr lang="en-US" sz="1600" dirty="0"/>
              <a:t>Options include</a:t>
            </a:r>
          </a:p>
          <a:p>
            <a:pPr lvl="1"/>
            <a:r>
              <a:rPr lang="en-US" sz="1600" b="1" dirty="0"/>
              <a:t>Signal and wait </a:t>
            </a:r>
            <a:r>
              <a:rPr lang="en-US" sz="1600" dirty="0"/>
              <a:t>– P waits until Q leaves monitor or waits for another condition</a:t>
            </a:r>
          </a:p>
          <a:p>
            <a:pPr lvl="1"/>
            <a:r>
              <a:rPr lang="en-US" sz="1600" b="1" dirty="0"/>
              <a:t>Signal and continue </a:t>
            </a:r>
            <a:r>
              <a:rPr lang="en-US" sz="1600" dirty="0"/>
              <a:t>– Q waits until P leaves the monitor or waits for another condition</a:t>
            </a:r>
          </a:p>
          <a:p>
            <a:pPr lvl="1"/>
            <a:r>
              <a:rPr lang="en-US" sz="1600" dirty="0"/>
              <a:t>Both have pros and cons – language implementer can decide</a:t>
            </a:r>
          </a:p>
          <a:p>
            <a:pPr lvl="1"/>
            <a:r>
              <a:rPr lang="en-US" sz="1600" dirty="0"/>
              <a:t>Monitors implemented in Concurrent Pascal compromise</a:t>
            </a:r>
          </a:p>
          <a:p>
            <a:pPr lvl="2"/>
            <a:r>
              <a:rPr lang="en-US" sz="1600" dirty="0"/>
              <a:t>P executing signal immediately leaves the monitor, Q is resumed</a:t>
            </a:r>
          </a:p>
          <a:p>
            <a:pPr lvl="1"/>
            <a:r>
              <a:rPr lang="en-US" sz="1600" dirty="0"/>
              <a:t>Implemented in other languages including Mesa, C#, Java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146451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077200" cy="541867"/>
          </a:xfrm>
        </p:spPr>
        <p:txBody>
          <a:bodyPr>
            <a:normAutofit/>
          </a:bodyPr>
          <a:lstStyle/>
          <a:p>
            <a:pPr eaLnBrk="1" hangingPunct="1"/>
            <a:r>
              <a:rPr lang="en-US" b="1" dirty="0">
                <a:solidFill>
                  <a:srgbClr val="00B0F0"/>
                </a:solidFill>
              </a:rPr>
              <a:t>Solution to Dining Philosophers</a:t>
            </a: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sz="quarter" idx="1"/>
          </p:nvPr>
        </p:nvPicPr>
        <p:blipFill>
          <a:blip r:embed="rId3"/>
          <a:stretch>
            <a:fillRect/>
          </a:stretch>
        </p:blipFill>
        <p:spPr>
          <a:xfrm>
            <a:off x="304800" y="722842"/>
            <a:ext cx="6858000" cy="6011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04697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3"/>
          <p:cNvSpPr>
            <a:spLocks noGrp="1" noChangeArrowheads="1"/>
          </p:cNvSpPr>
          <p:nvPr>
            <p:ph idx="1"/>
          </p:nvPr>
        </p:nvSpPr>
        <p:spPr>
          <a:xfrm>
            <a:off x="827617" y="1518709"/>
            <a:ext cx="7805209" cy="4683125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Font typeface="Monotype Sorts" charset="2"/>
              <a:buNone/>
            </a:pPr>
            <a:endParaRPr lang="en-US" sz="1533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</a:pPr>
            <a:r>
              <a:rPr lang="en-US" dirty="0"/>
              <a:t>Each philosopher </a:t>
            </a:r>
            <a:r>
              <a:rPr lang="en-US" i="1" dirty="0"/>
              <a:t>i </a:t>
            </a:r>
            <a:r>
              <a:rPr lang="en-US" dirty="0"/>
              <a:t>invokes the</a:t>
            </a:r>
            <a:r>
              <a:rPr lang="en-US" i="1" dirty="0"/>
              <a:t> </a:t>
            </a:r>
            <a:r>
              <a:rPr lang="en-US" dirty="0"/>
              <a:t>operations </a:t>
            </a:r>
            <a:r>
              <a:rPr lang="en-US" dirty="0">
                <a:solidFill>
                  <a:srgbClr val="0000FF"/>
                </a:solidFill>
              </a:rPr>
              <a:t>pickup()</a:t>
            </a:r>
            <a:r>
              <a:rPr lang="en-US" i="1" dirty="0"/>
              <a:t> </a:t>
            </a:r>
            <a:r>
              <a:rPr lang="en-US" dirty="0"/>
              <a:t>and </a:t>
            </a:r>
            <a:r>
              <a:rPr lang="en-US" dirty="0">
                <a:solidFill>
                  <a:srgbClr val="0000FF"/>
                </a:solidFill>
              </a:rPr>
              <a:t>putdown()</a:t>
            </a:r>
            <a:r>
              <a:rPr lang="en-US" dirty="0"/>
              <a:t> in the following sequence: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endParaRPr lang="en-US" dirty="0"/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dirty="0">
                <a:solidFill>
                  <a:srgbClr val="0000FF"/>
                </a:solidFill>
              </a:rPr>
              <a:t>              </a:t>
            </a:r>
            <a:r>
              <a:rPr lang="en-US" dirty="0" err="1">
                <a:solidFill>
                  <a:srgbClr val="0000FF"/>
                </a:solidFill>
              </a:rPr>
              <a:t>DiningPhilosophers.pickup</a:t>
            </a:r>
            <a:r>
              <a:rPr lang="en-US" dirty="0">
                <a:solidFill>
                  <a:srgbClr val="0000FF"/>
                </a:solidFill>
              </a:rPr>
              <a:t> (i);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endParaRPr lang="en-US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dirty="0">
                <a:solidFill>
                  <a:srgbClr val="0000FF"/>
                </a:solidFill>
              </a:rPr>
              <a:t>                   EAT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endParaRPr lang="en-US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dirty="0">
                <a:solidFill>
                  <a:srgbClr val="0000FF"/>
                </a:solidFill>
              </a:rPr>
              <a:t>               </a:t>
            </a:r>
            <a:r>
              <a:rPr lang="en-US" dirty="0" err="1">
                <a:solidFill>
                  <a:srgbClr val="0000FF"/>
                </a:solidFill>
              </a:rPr>
              <a:t>DiningPhilosophers.putdown</a:t>
            </a:r>
            <a:r>
              <a:rPr lang="en-US" dirty="0">
                <a:solidFill>
                  <a:srgbClr val="0000FF"/>
                </a:solidFill>
              </a:rPr>
              <a:t> (i);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endParaRPr lang="en-US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</a:pPr>
            <a:r>
              <a:rPr lang="en-US" dirty="0"/>
              <a:t>No deadlock, but starvation is possible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endParaRPr lang="en-US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Font typeface="Monotype Sorts" charset="2"/>
              <a:buNone/>
            </a:pPr>
            <a:endParaRPr lang="en-US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i="1" dirty="0">
                <a:solidFill>
                  <a:srgbClr val="0000FF"/>
                </a:solidFill>
              </a:rPr>
              <a:t>       </a:t>
            </a:r>
          </a:p>
        </p:txBody>
      </p:sp>
      <p:sp>
        <p:nvSpPr>
          <p:cNvPr id="47107" name="Rectangle 2"/>
          <p:cNvSpPr>
            <a:spLocks noChangeArrowheads="1"/>
          </p:cNvSpPr>
          <p:nvPr/>
        </p:nvSpPr>
        <p:spPr bwMode="auto">
          <a:xfrm>
            <a:off x="1035050" y="568325"/>
            <a:ext cx="7917392" cy="5672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077" tIns="43539" rIns="87077" bIns="43539" anchor="b"/>
          <a:lstStyle/>
          <a:p>
            <a:pPr algn="ctr" eaLnBrk="1" hangingPunct="1"/>
            <a:r>
              <a:rPr lang="en-US" sz="3067" b="1">
                <a:solidFill>
                  <a:srgbClr val="006699"/>
                </a:solidFill>
                <a:latin typeface="Arial" charset="0"/>
              </a:rPr>
              <a:t>Solution to Dining Philosophers (Cont.)</a:t>
            </a:r>
          </a:p>
        </p:txBody>
      </p:sp>
    </p:spTree>
    <p:extLst>
      <p:ext uri="{BB962C8B-B14F-4D97-AF65-F5344CB8AC3E}">
        <p14:creationId xmlns:p14="http://schemas.microsoft.com/office/powerpoint/2010/main" val="30512809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1038226" y="372533"/>
            <a:ext cx="7715250" cy="750359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667"/>
              <a:t>Monitor Implementation Using Semaphores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>
          <a:xfrm>
            <a:off x="1053042" y="1617134"/>
            <a:ext cx="7043208" cy="3966633"/>
          </a:xfrm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  <a:tabLst>
                <a:tab pos="1799257" algn="l"/>
                <a:tab pos="2225787" algn="l"/>
                <a:tab pos="2389836" algn="l"/>
              </a:tabLst>
            </a:pPr>
            <a:r>
              <a:rPr lang="en-US" sz="1533" dirty="0"/>
              <a:t>Variables </a:t>
            </a:r>
          </a:p>
          <a:p>
            <a:pPr>
              <a:lnSpc>
                <a:spcPct val="80000"/>
              </a:lnSpc>
              <a:spcBef>
                <a:spcPct val="15000"/>
              </a:spcBef>
              <a:buNone/>
              <a:tabLst>
                <a:tab pos="1799257" algn="l"/>
                <a:tab pos="2225787" algn="l"/>
                <a:tab pos="2389836" algn="l"/>
              </a:tabLst>
            </a:pPr>
            <a:r>
              <a:rPr lang="en-US" sz="1533" dirty="0"/>
              <a:t>		</a:t>
            </a:r>
            <a:r>
              <a:rPr lang="en-US" sz="1533" dirty="0">
                <a:solidFill>
                  <a:srgbClr val="0000FF"/>
                </a:solidFill>
              </a:rPr>
              <a:t>semaphore </a:t>
            </a:r>
            <a:r>
              <a:rPr lang="en-US" sz="1533" dirty="0" err="1">
                <a:solidFill>
                  <a:srgbClr val="0000FF"/>
                </a:solidFill>
              </a:rPr>
              <a:t>mutex</a:t>
            </a:r>
            <a:r>
              <a:rPr lang="en-US" sz="1533" dirty="0">
                <a:solidFill>
                  <a:srgbClr val="0000FF"/>
                </a:solidFill>
              </a:rPr>
              <a:t>;  // (initially  = 1)</a:t>
            </a:r>
          </a:p>
          <a:p>
            <a:pPr>
              <a:lnSpc>
                <a:spcPct val="80000"/>
              </a:lnSpc>
              <a:spcBef>
                <a:spcPct val="15000"/>
              </a:spcBef>
              <a:buNone/>
              <a:tabLst>
                <a:tab pos="1799257" algn="l"/>
                <a:tab pos="2225787" algn="l"/>
                <a:tab pos="2389836" algn="l"/>
              </a:tabLst>
            </a:pPr>
            <a:r>
              <a:rPr lang="en-US" sz="1533" dirty="0">
                <a:solidFill>
                  <a:srgbClr val="0000FF"/>
                </a:solidFill>
              </a:rPr>
              <a:t>		semaphore next;     // (initially  = 0)</a:t>
            </a:r>
          </a:p>
          <a:p>
            <a:pPr>
              <a:lnSpc>
                <a:spcPct val="80000"/>
              </a:lnSpc>
              <a:spcBef>
                <a:spcPct val="15000"/>
              </a:spcBef>
              <a:buNone/>
              <a:tabLst>
                <a:tab pos="1799257" algn="l"/>
                <a:tab pos="2225787" algn="l"/>
                <a:tab pos="2389836" algn="l"/>
              </a:tabLst>
            </a:pPr>
            <a:r>
              <a:rPr lang="en-US" sz="1533" dirty="0">
                <a:solidFill>
                  <a:srgbClr val="0000FF"/>
                </a:solidFill>
              </a:rPr>
              <a:t>		</a:t>
            </a:r>
            <a:r>
              <a:rPr lang="en-US" sz="1533" dirty="0" err="1">
                <a:solidFill>
                  <a:srgbClr val="0000FF"/>
                </a:solidFill>
              </a:rPr>
              <a:t>int</a:t>
            </a:r>
            <a:r>
              <a:rPr lang="en-US" sz="1533" dirty="0">
                <a:solidFill>
                  <a:srgbClr val="0000FF"/>
                </a:solidFill>
              </a:rPr>
              <a:t> </a:t>
            </a:r>
            <a:r>
              <a:rPr lang="en-US" sz="1533" dirty="0" err="1">
                <a:solidFill>
                  <a:srgbClr val="0000FF"/>
                </a:solidFill>
              </a:rPr>
              <a:t>next_count</a:t>
            </a:r>
            <a:r>
              <a:rPr lang="en-US" sz="1533" dirty="0">
                <a:solidFill>
                  <a:srgbClr val="0000FF"/>
                </a:solidFill>
              </a:rPr>
              <a:t> = 0;</a:t>
            </a:r>
            <a:br>
              <a:rPr lang="en-US" sz="1533" dirty="0">
                <a:solidFill>
                  <a:srgbClr val="0000FF"/>
                </a:solidFill>
              </a:rPr>
            </a:br>
            <a:endParaRPr lang="en-US" sz="1533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tabLst>
                <a:tab pos="1799257" algn="l"/>
                <a:tab pos="2225787" algn="l"/>
                <a:tab pos="2389836" algn="l"/>
              </a:tabLst>
            </a:pPr>
            <a:r>
              <a:rPr lang="en-US" sz="1533" dirty="0"/>
              <a:t>Each procedure </a:t>
            </a:r>
            <a:r>
              <a:rPr lang="en-US" sz="1533" b="1" i="1" dirty="0"/>
              <a:t>F</a:t>
            </a:r>
            <a:r>
              <a:rPr lang="en-US" sz="1533" dirty="0"/>
              <a:t>  will be replaced by</a:t>
            </a:r>
          </a:p>
          <a:p>
            <a:pPr>
              <a:lnSpc>
                <a:spcPct val="80000"/>
              </a:lnSpc>
              <a:tabLst>
                <a:tab pos="1799257" algn="l"/>
                <a:tab pos="2225787" algn="l"/>
                <a:tab pos="2389836" algn="l"/>
              </a:tabLst>
            </a:pPr>
            <a:endParaRPr lang="en-US" sz="1533" dirty="0"/>
          </a:p>
          <a:p>
            <a:pPr>
              <a:lnSpc>
                <a:spcPct val="80000"/>
              </a:lnSpc>
              <a:spcBef>
                <a:spcPct val="15000"/>
              </a:spcBef>
              <a:buNone/>
              <a:tabLst>
                <a:tab pos="1799257" algn="l"/>
                <a:tab pos="2225787" algn="l"/>
                <a:tab pos="2389836" algn="l"/>
              </a:tabLst>
            </a:pPr>
            <a:r>
              <a:rPr lang="en-US" sz="1533" dirty="0"/>
              <a:t>			</a:t>
            </a:r>
            <a:r>
              <a:rPr lang="en-US" sz="1533" dirty="0">
                <a:solidFill>
                  <a:srgbClr val="0000FF"/>
                </a:solidFill>
              </a:rPr>
              <a:t>wait(</a:t>
            </a:r>
            <a:r>
              <a:rPr lang="en-US" sz="1533" dirty="0" err="1">
                <a:solidFill>
                  <a:srgbClr val="0000FF"/>
                </a:solidFill>
              </a:rPr>
              <a:t>mutex</a:t>
            </a:r>
            <a:r>
              <a:rPr lang="en-US" sz="1533" dirty="0">
                <a:solidFill>
                  <a:srgbClr val="0000FF"/>
                </a:solidFill>
              </a:rPr>
              <a:t>);</a:t>
            </a:r>
          </a:p>
          <a:p>
            <a:pPr>
              <a:lnSpc>
                <a:spcPct val="80000"/>
              </a:lnSpc>
              <a:spcBef>
                <a:spcPct val="15000"/>
              </a:spcBef>
              <a:buNone/>
              <a:tabLst>
                <a:tab pos="1799257" algn="l"/>
                <a:tab pos="2225787" algn="l"/>
                <a:tab pos="2389836" algn="l"/>
              </a:tabLst>
            </a:pPr>
            <a:r>
              <a:rPr lang="en-US" sz="1533" dirty="0">
                <a:solidFill>
                  <a:srgbClr val="0000FF"/>
                </a:solidFill>
              </a:rPr>
              <a:t>			     …			 </a:t>
            </a:r>
          </a:p>
          <a:p>
            <a:pPr>
              <a:lnSpc>
                <a:spcPct val="80000"/>
              </a:lnSpc>
              <a:spcBef>
                <a:spcPct val="15000"/>
              </a:spcBef>
              <a:buNone/>
              <a:tabLst>
                <a:tab pos="1799257" algn="l"/>
                <a:tab pos="2225787" algn="l"/>
                <a:tab pos="2389836" algn="l"/>
              </a:tabLst>
            </a:pPr>
            <a:r>
              <a:rPr lang="en-US" sz="1533" dirty="0">
                <a:solidFill>
                  <a:srgbClr val="0000FF"/>
                </a:solidFill>
              </a:rPr>
              <a:t>                                                        body of </a:t>
            </a:r>
            <a:r>
              <a:rPr lang="en-US" sz="1533" i="1" dirty="0">
                <a:solidFill>
                  <a:srgbClr val="0000FF"/>
                </a:solidFill>
              </a:rPr>
              <a:t>F</a:t>
            </a:r>
            <a:r>
              <a:rPr lang="en-US" sz="1533" dirty="0">
                <a:solidFill>
                  <a:srgbClr val="0000FF"/>
                </a:solidFill>
              </a:rPr>
              <a:t>;</a:t>
            </a:r>
          </a:p>
          <a:p>
            <a:pPr>
              <a:lnSpc>
                <a:spcPct val="80000"/>
              </a:lnSpc>
              <a:spcBef>
                <a:spcPct val="15000"/>
              </a:spcBef>
              <a:buNone/>
              <a:tabLst>
                <a:tab pos="1799257" algn="l"/>
                <a:tab pos="2225787" algn="l"/>
                <a:tab pos="2389836" algn="l"/>
              </a:tabLst>
            </a:pPr>
            <a:endParaRPr lang="en-US" sz="1533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spcBef>
                <a:spcPct val="15000"/>
              </a:spcBef>
              <a:buNone/>
              <a:tabLst>
                <a:tab pos="1799257" algn="l"/>
                <a:tab pos="2225787" algn="l"/>
                <a:tab pos="2389836" algn="l"/>
              </a:tabLst>
            </a:pPr>
            <a:r>
              <a:rPr lang="en-US" sz="1533" dirty="0">
                <a:solidFill>
                  <a:srgbClr val="0000FF"/>
                </a:solidFill>
              </a:rPr>
              <a:t>			     …</a:t>
            </a:r>
          </a:p>
          <a:p>
            <a:pPr>
              <a:lnSpc>
                <a:spcPct val="80000"/>
              </a:lnSpc>
              <a:spcBef>
                <a:spcPct val="15000"/>
              </a:spcBef>
              <a:buNone/>
              <a:tabLst>
                <a:tab pos="1799257" algn="l"/>
                <a:tab pos="2225787" algn="l"/>
                <a:tab pos="2389836" algn="l"/>
              </a:tabLst>
            </a:pPr>
            <a:r>
              <a:rPr lang="en-US" sz="1533" dirty="0">
                <a:solidFill>
                  <a:srgbClr val="0000FF"/>
                </a:solidFill>
              </a:rPr>
              <a:t>			if (</a:t>
            </a:r>
            <a:r>
              <a:rPr lang="en-US" sz="1533" dirty="0" err="1">
                <a:solidFill>
                  <a:srgbClr val="0000FF"/>
                </a:solidFill>
              </a:rPr>
              <a:t>next_count</a:t>
            </a:r>
            <a:r>
              <a:rPr lang="en-US" sz="1533" dirty="0">
                <a:solidFill>
                  <a:srgbClr val="0000FF"/>
                </a:solidFill>
              </a:rPr>
              <a:t> &gt; 0)</a:t>
            </a:r>
          </a:p>
          <a:p>
            <a:pPr>
              <a:lnSpc>
                <a:spcPct val="80000"/>
              </a:lnSpc>
              <a:spcBef>
                <a:spcPct val="15000"/>
              </a:spcBef>
              <a:buNone/>
              <a:tabLst>
                <a:tab pos="1799257" algn="l"/>
                <a:tab pos="2225787" algn="l"/>
                <a:tab pos="2389836" algn="l"/>
              </a:tabLst>
            </a:pPr>
            <a:r>
              <a:rPr lang="en-US" sz="1533" dirty="0">
                <a:solidFill>
                  <a:srgbClr val="0000FF"/>
                </a:solidFill>
              </a:rPr>
              <a:t>				signal(next)</a:t>
            </a:r>
          </a:p>
          <a:p>
            <a:pPr>
              <a:lnSpc>
                <a:spcPct val="80000"/>
              </a:lnSpc>
              <a:spcBef>
                <a:spcPct val="15000"/>
              </a:spcBef>
              <a:buNone/>
              <a:tabLst>
                <a:tab pos="1799257" algn="l"/>
                <a:tab pos="2225787" algn="l"/>
                <a:tab pos="2389836" algn="l"/>
              </a:tabLst>
            </a:pPr>
            <a:r>
              <a:rPr lang="en-US" sz="1533" dirty="0">
                <a:solidFill>
                  <a:srgbClr val="0000FF"/>
                </a:solidFill>
              </a:rPr>
              <a:t>			else </a:t>
            </a:r>
          </a:p>
          <a:p>
            <a:pPr>
              <a:lnSpc>
                <a:spcPct val="80000"/>
              </a:lnSpc>
              <a:spcBef>
                <a:spcPct val="15000"/>
              </a:spcBef>
              <a:buNone/>
              <a:tabLst>
                <a:tab pos="1799257" algn="l"/>
                <a:tab pos="2225787" algn="l"/>
                <a:tab pos="2389836" algn="l"/>
              </a:tabLst>
            </a:pPr>
            <a:r>
              <a:rPr lang="en-US" sz="1533" dirty="0">
                <a:solidFill>
                  <a:srgbClr val="0000FF"/>
                </a:solidFill>
              </a:rPr>
              <a:t>				signal(</a:t>
            </a:r>
            <a:r>
              <a:rPr lang="en-US" sz="1533" dirty="0" err="1">
                <a:solidFill>
                  <a:srgbClr val="0000FF"/>
                </a:solidFill>
              </a:rPr>
              <a:t>mutex</a:t>
            </a:r>
            <a:r>
              <a:rPr lang="en-US" sz="1533" dirty="0">
                <a:solidFill>
                  <a:srgbClr val="0000FF"/>
                </a:solidFill>
              </a:rPr>
              <a:t>);</a:t>
            </a:r>
            <a:br>
              <a:rPr lang="en-US" sz="1533" dirty="0">
                <a:solidFill>
                  <a:srgbClr val="0000FF"/>
                </a:solidFill>
              </a:rPr>
            </a:br>
            <a:endParaRPr lang="en-US" sz="1533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tabLst>
                <a:tab pos="1799257" algn="l"/>
                <a:tab pos="2225787" algn="l"/>
                <a:tab pos="2389836" algn="l"/>
              </a:tabLst>
            </a:pPr>
            <a:r>
              <a:rPr lang="en-US" sz="1533" dirty="0"/>
              <a:t>Mutual exclusion within a monitor is ensured</a:t>
            </a:r>
          </a:p>
        </p:txBody>
      </p:sp>
    </p:spTree>
    <p:extLst>
      <p:ext uri="{BB962C8B-B14F-4D97-AF65-F5344CB8AC3E}">
        <p14:creationId xmlns:p14="http://schemas.microsoft.com/office/powerpoint/2010/main" val="369892767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627592"/>
            <a:ext cx="7772400" cy="51223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2667"/>
              <a:t>Monitor Implementation – Condition Variables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15000"/>
              </a:spcBef>
              <a:tabLst>
                <a:tab pos="1744221" algn="l"/>
                <a:tab pos="2114656" algn="l"/>
              </a:tabLst>
            </a:pPr>
            <a:r>
              <a:rPr lang="en-US" sz="1533" dirty="0"/>
              <a:t>For each condition variable </a:t>
            </a:r>
            <a:r>
              <a:rPr lang="en-US" sz="1533" b="1" i="1" dirty="0"/>
              <a:t>x</a:t>
            </a:r>
            <a:r>
              <a:rPr lang="en-US" sz="1533" dirty="0"/>
              <a:t>, we  have:</a:t>
            </a:r>
          </a:p>
          <a:p>
            <a:pPr>
              <a:lnSpc>
                <a:spcPct val="90000"/>
              </a:lnSpc>
              <a:spcBef>
                <a:spcPct val="15000"/>
              </a:spcBef>
              <a:buNone/>
              <a:tabLst>
                <a:tab pos="1744221" algn="l"/>
                <a:tab pos="2114656" algn="l"/>
              </a:tabLst>
            </a:pPr>
            <a:endParaRPr lang="en-US" sz="1533" dirty="0"/>
          </a:p>
          <a:p>
            <a:pPr>
              <a:lnSpc>
                <a:spcPct val="90000"/>
              </a:lnSpc>
              <a:spcBef>
                <a:spcPct val="15000"/>
              </a:spcBef>
              <a:buNone/>
              <a:tabLst>
                <a:tab pos="1744221" algn="l"/>
                <a:tab pos="2114656" algn="l"/>
              </a:tabLst>
            </a:pPr>
            <a:r>
              <a:rPr lang="en-US" sz="1533" dirty="0"/>
              <a:t>		</a:t>
            </a:r>
            <a:r>
              <a:rPr lang="en-US" sz="1533" dirty="0">
                <a:solidFill>
                  <a:srgbClr val="0000FF"/>
                </a:solidFill>
              </a:rPr>
              <a:t>semaphore </a:t>
            </a:r>
            <a:r>
              <a:rPr lang="en-US" sz="1533" dirty="0" err="1">
                <a:solidFill>
                  <a:srgbClr val="0000FF"/>
                </a:solidFill>
              </a:rPr>
              <a:t>x_sem</a:t>
            </a:r>
            <a:r>
              <a:rPr lang="en-US" sz="1533" dirty="0">
                <a:solidFill>
                  <a:srgbClr val="0000FF"/>
                </a:solidFill>
              </a:rPr>
              <a:t>; // (initially  = 0)</a:t>
            </a:r>
          </a:p>
          <a:p>
            <a:pPr>
              <a:lnSpc>
                <a:spcPct val="90000"/>
              </a:lnSpc>
              <a:spcBef>
                <a:spcPct val="15000"/>
              </a:spcBef>
              <a:buNone/>
              <a:tabLst>
                <a:tab pos="1744221" algn="l"/>
                <a:tab pos="2114656" algn="l"/>
              </a:tabLst>
            </a:pPr>
            <a:r>
              <a:rPr lang="en-US" sz="1533" dirty="0">
                <a:solidFill>
                  <a:srgbClr val="0000FF"/>
                </a:solidFill>
              </a:rPr>
              <a:t>		</a:t>
            </a:r>
            <a:r>
              <a:rPr lang="en-US" sz="1533" dirty="0" err="1">
                <a:solidFill>
                  <a:srgbClr val="0000FF"/>
                </a:solidFill>
              </a:rPr>
              <a:t>int</a:t>
            </a:r>
            <a:r>
              <a:rPr lang="en-US" sz="1533" dirty="0">
                <a:solidFill>
                  <a:srgbClr val="0000FF"/>
                </a:solidFill>
              </a:rPr>
              <a:t> </a:t>
            </a:r>
            <a:r>
              <a:rPr lang="en-US" sz="1533" dirty="0" err="1">
                <a:solidFill>
                  <a:srgbClr val="0000FF"/>
                </a:solidFill>
              </a:rPr>
              <a:t>x_count</a:t>
            </a:r>
            <a:r>
              <a:rPr lang="en-US" sz="1533" dirty="0">
                <a:solidFill>
                  <a:srgbClr val="0000FF"/>
                </a:solidFill>
              </a:rPr>
              <a:t> = 0;</a:t>
            </a:r>
            <a:br>
              <a:rPr lang="en-US" sz="1533" dirty="0">
                <a:solidFill>
                  <a:srgbClr val="0000FF"/>
                </a:solidFill>
              </a:rPr>
            </a:br>
            <a:endParaRPr lang="en-US" sz="1533" dirty="0">
              <a:solidFill>
                <a:srgbClr val="0000FF"/>
              </a:solidFill>
            </a:endParaRPr>
          </a:p>
          <a:p>
            <a:pPr>
              <a:lnSpc>
                <a:spcPct val="90000"/>
              </a:lnSpc>
              <a:spcBef>
                <a:spcPct val="15000"/>
              </a:spcBef>
              <a:tabLst>
                <a:tab pos="1744221" algn="l"/>
                <a:tab pos="2114656" algn="l"/>
              </a:tabLst>
            </a:pPr>
            <a:r>
              <a:rPr lang="en-US" sz="1533" dirty="0"/>
              <a:t>The operation </a:t>
            </a:r>
            <a:r>
              <a:rPr lang="en-US" sz="1533" dirty="0" err="1">
                <a:solidFill>
                  <a:srgbClr val="0000FF"/>
                </a:solidFill>
              </a:rPr>
              <a:t>x.wait</a:t>
            </a:r>
            <a:r>
              <a:rPr lang="en-US" sz="1533" b="1" dirty="0"/>
              <a:t> </a:t>
            </a:r>
            <a:r>
              <a:rPr lang="en-US" sz="1533" dirty="0"/>
              <a:t>can be implemented as:</a:t>
            </a:r>
          </a:p>
          <a:p>
            <a:pPr>
              <a:lnSpc>
                <a:spcPct val="90000"/>
              </a:lnSpc>
              <a:spcBef>
                <a:spcPct val="15000"/>
              </a:spcBef>
              <a:buNone/>
              <a:tabLst>
                <a:tab pos="1744221" algn="l"/>
                <a:tab pos="2114656" algn="l"/>
              </a:tabLst>
            </a:pPr>
            <a:r>
              <a:rPr lang="en-US" sz="1533" dirty="0"/>
              <a:t>		</a:t>
            </a:r>
          </a:p>
          <a:p>
            <a:pPr>
              <a:lnSpc>
                <a:spcPct val="90000"/>
              </a:lnSpc>
              <a:spcBef>
                <a:spcPct val="15000"/>
              </a:spcBef>
              <a:buNone/>
              <a:tabLst>
                <a:tab pos="1744221" algn="l"/>
                <a:tab pos="2114656" algn="l"/>
              </a:tabLst>
            </a:pPr>
            <a:r>
              <a:rPr lang="en-US" sz="1533" dirty="0"/>
              <a:t>		</a:t>
            </a:r>
            <a:r>
              <a:rPr lang="en-US" sz="1533" dirty="0">
                <a:solidFill>
                  <a:srgbClr val="0000FF"/>
                </a:solidFill>
              </a:rPr>
              <a:t>x-count++;</a:t>
            </a:r>
          </a:p>
          <a:p>
            <a:pPr>
              <a:lnSpc>
                <a:spcPct val="90000"/>
              </a:lnSpc>
              <a:spcBef>
                <a:spcPct val="15000"/>
              </a:spcBef>
              <a:buNone/>
              <a:tabLst>
                <a:tab pos="1744221" algn="l"/>
                <a:tab pos="2114656" algn="l"/>
              </a:tabLst>
            </a:pPr>
            <a:r>
              <a:rPr lang="en-US" sz="1533" dirty="0">
                <a:solidFill>
                  <a:srgbClr val="0000FF"/>
                </a:solidFill>
              </a:rPr>
              <a:t>		if (</a:t>
            </a:r>
            <a:r>
              <a:rPr lang="en-US" sz="1533" dirty="0" err="1">
                <a:solidFill>
                  <a:srgbClr val="0000FF"/>
                </a:solidFill>
              </a:rPr>
              <a:t>next_count</a:t>
            </a:r>
            <a:r>
              <a:rPr lang="en-US" sz="1533" dirty="0">
                <a:solidFill>
                  <a:srgbClr val="0000FF"/>
                </a:solidFill>
              </a:rPr>
              <a:t> &gt; 0)</a:t>
            </a:r>
          </a:p>
          <a:p>
            <a:pPr>
              <a:lnSpc>
                <a:spcPct val="90000"/>
              </a:lnSpc>
              <a:spcBef>
                <a:spcPct val="15000"/>
              </a:spcBef>
              <a:buNone/>
              <a:tabLst>
                <a:tab pos="1744221" algn="l"/>
                <a:tab pos="2114656" algn="l"/>
              </a:tabLst>
            </a:pPr>
            <a:r>
              <a:rPr lang="en-US" sz="1533" dirty="0">
                <a:solidFill>
                  <a:srgbClr val="0000FF"/>
                </a:solidFill>
              </a:rPr>
              <a:t>			signal(next);</a:t>
            </a:r>
          </a:p>
          <a:p>
            <a:pPr>
              <a:lnSpc>
                <a:spcPct val="90000"/>
              </a:lnSpc>
              <a:spcBef>
                <a:spcPct val="15000"/>
              </a:spcBef>
              <a:buNone/>
              <a:tabLst>
                <a:tab pos="1744221" algn="l"/>
                <a:tab pos="2114656" algn="l"/>
              </a:tabLst>
            </a:pPr>
            <a:r>
              <a:rPr lang="en-US" sz="1533" dirty="0">
                <a:solidFill>
                  <a:srgbClr val="0000FF"/>
                </a:solidFill>
              </a:rPr>
              <a:t>		else</a:t>
            </a:r>
          </a:p>
          <a:p>
            <a:pPr>
              <a:lnSpc>
                <a:spcPct val="90000"/>
              </a:lnSpc>
              <a:spcBef>
                <a:spcPct val="15000"/>
              </a:spcBef>
              <a:buNone/>
              <a:tabLst>
                <a:tab pos="1744221" algn="l"/>
                <a:tab pos="2114656" algn="l"/>
              </a:tabLst>
            </a:pPr>
            <a:r>
              <a:rPr lang="en-US" sz="1533" dirty="0">
                <a:solidFill>
                  <a:srgbClr val="0000FF"/>
                </a:solidFill>
              </a:rPr>
              <a:t>			signal(</a:t>
            </a:r>
            <a:r>
              <a:rPr lang="en-US" sz="1533" dirty="0" err="1">
                <a:solidFill>
                  <a:srgbClr val="0000FF"/>
                </a:solidFill>
              </a:rPr>
              <a:t>mutex</a:t>
            </a:r>
            <a:r>
              <a:rPr lang="en-US" sz="1533" dirty="0">
                <a:solidFill>
                  <a:srgbClr val="0000FF"/>
                </a:solidFill>
              </a:rPr>
              <a:t>);</a:t>
            </a:r>
          </a:p>
          <a:p>
            <a:pPr>
              <a:lnSpc>
                <a:spcPct val="90000"/>
              </a:lnSpc>
              <a:spcBef>
                <a:spcPct val="15000"/>
              </a:spcBef>
              <a:buNone/>
              <a:tabLst>
                <a:tab pos="1744221" algn="l"/>
                <a:tab pos="2114656" algn="l"/>
              </a:tabLst>
            </a:pPr>
            <a:r>
              <a:rPr lang="en-US" sz="1533" dirty="0">
                <a:solidFill>
                  <a:srgbClr val="0000FF"/>
                </a:solidFill>
              </a:rPr>
              <a:t>		wait(</a:t>
            </a:r>
            <a:r>
              <a:rPr lang="en-US" sz="1533" dirty="0" err="1">
                <a:solidFill>
                  <a:srgbClr val="0000FF"/>
                </a:solidFill>
              </a:rPr>
              <a:t>x_sem</a:t>
            </a:r>
            <a:r>
              <a:rPr lang="en-US" sz="1533" dirty="0">
                <a:solidFill>
                  <a:srgbClr val="0000FF"/>
                </a:solidFill>
              </a:rPr>
              <a:t>);</a:t>
            </a:r>
          </a:p>
          <a:p>
            <a:pPr>
              <a:lnSpc>
                <a:spcPct val="90000"/>
              </a:lnSpc>
              <a:spcBef>
                <a:spcPct val="15000"/>
              </a:spcBef>
              <a:buNone/>
              <a:tabLst>
                <a:tab pos="1744221" algn="l"/>
                <a:tab pos="2114656" algn="l"/>
              </a:tabLst>
            </a:pPr>
            <a:r>
              <a:rPr lang="en-US" sz="1533" dirty="0">
                <a:solidFill>
                  <a:srgbClr val="0000FF"/>
                </a:solidFill>
              </a:rPr>
              <a:t>		x-count--;</a:t>
            </a:r>
          </a:p>
          <a:p>
            <a:pPr>
              <a:lnSpc>
                <a:spcPct val="90000"/>
              </a:lnSpc>
              <a:spcBef>
                <a:spcPct val="15000"/>
              </a:spcBef>
              <a:buNone/>
              <a:tabLst>
                <a:tab pos="1744221" algn="l"/>
                <a:tab pos="2114656" algn="l"/>
              </a:tabLst>
            </a:pPr>
            <a:r>
              <a:rPr lang="en-US" sz="1533" b="1" dirty="0"/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156745800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933450" y="627592"/>
            <a:ext cx="7753350" cy="512233"/>
          </a:xfrm>
        </p:spPr>
        <p:txBody>
          <a:bodyPr>
            <a:normAutofit/>
          </a:bodyPr>
          <a:lstStyle/>
          <a:p>
            <a:pPr eaLnBrk="1" hangingPunct="1"/>
            <a:r>
              <a:rPr lang="en-US"/>
              <a:t>Monitor Implementation (Cont.)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1304991" algn="l"/>
                <a:tab pos="1634148" algn="l"/>
                <a:tab pos="2225787" algn="l"/>
              </a:tabLst>
            </a:pPr>
            <a:r>
              <a:rPr lang="en-US"/>
              <a:t>The operation </a:t>
            </a:r>
            <a:r>
              <a:rPr lang="en-US">
                <a:solidFill>
                  <a:srgbClr val="0000FF"/>
                </a:solidFill>
              </a:rPr>
              <a:t>x.signal </a:t>
            </a:r>
            <a:r>
              <a:rPr lang="en-US"/>
              <a:t>can be implemented as:</a:t>
            </a:r>
            <a:br>
              <a:rPr lang="en-US"/>
            </a:br>
            <a:endParaRPr lang="en-US"/>
          </a:p>
          <a:p>
            <a:pPr>
              <a:spcBef>
                <a:spcPct val="15000"/>
              </a:spcBef>
              <a:buNone/>
              <a:tabLst>
                <a:tab pos="1304991" algn="l"/>
                <a:tab pos="1634148" algn="l"/>
                <a:tab pos="2225787" algn="l"/>
              </a:tabLst>
            </a:pPr>
            <a:r>
              <a:rPr lang="en-US" sz="1600"/>
              <a:t>		</a:t>
            </a:r>
            <a:r>
              <a:rPr lang="en-US" sz="1600">
                <a:solidFill>
                  <a:srgbClr val="0000FF"/>
                </a:solidFill>
              </a:rPr>
              <a:t>if (x-count &gt; 0) {</a:t>
            </a:r>
          </a:p>
          <a:p>
            <a:pPr>
              <a:spcBef>
                <a:spcPct val="15000"/>
              </a:spcBef>
              <a:buNone/>
              <a:tabLst>
                <a:tab pos="1304991" algn="l"/>
                <a:tab pos="1634148" algn="l"/>
                <a:tab pos="2225787" algn="l"/>
              </a:tabLst>
            </a:pPr>
            <a:r>
              <a:rPr lang="en-US" sz="1600">
                <a:solidFill>
                  <a:srgbClr val="0000FF"/>
                </a:solidFill>
              </a:rPr>
              <a:t>			next_count++;</a:t>
            </a:r>
          </a:p>
          <a:p>
            <a:pPr>
              <a:spcBef>
                <a:spcPct val="15000"/>
              </a:spcBef>
              <a:buNone/>
              <a:tabLst>
                <a:tab pos="1304991" algn="l"/>
                <a:tab pos="1634148" algn="l"/>
                <a:tab pos="2225787" algn="l"/>
              </a:tabLst>
            </a:pPr>
            <a:r>
              <a:rPr lang="en-US" sz="1600">
                <a:solidFill>
                  <a:srgbClr val="0000FF"/>
                </a:solidFill>
              </a:rPr>
              <a:t>			signal(x_sem);</a:t>
            </a:r>
          </a:p>
          <a:p>
            <a:pPr>
              <a:spcBef>
                <a:spcPct val="15000"/>
              </a:spcBef>
              <a:buNone/>
              <a:tabLst>
                <a:tab pos="1304991" algn="l"/>
                <a:tab pos="1634148" algn="l"/>
                <a:tab pos="2225787" algn="l"/>
              </a:tabLst>
            </a:pPr>
            <a:r>
              <a:rPr lang="en-US" sz="1600">
                <a:solidFill>
                  <a:srgbClr val="0000FF"/>
                </a:solidFill>
              </a:rPr>
              <a:t>			wait(next);</a:t>
            </a:r>
          </a:p>
          <a:p>
            <a:pPr>
              <a:spcBef>
                <a:spcPct val="15000"/>
              </a:spcBef>
              <a:buNone/>
              <a:tabLst>
                <a:tab pos="1304991" algn="l"/>
                <a:tab pos="1634148" algn="l"/>
                <a:tab pos="2225787" algn="l"/>
              </a:tabLst>
            </a:pPr>
            <a:r>
              <a:rPr lang="en-US" sz="1600">
                <a:solidFill>
                  <a:srgbClr val="0000FF"/>
                </a:solidFill>
              </a:rPr>
              <a:t>			next_count--;</a:t>
            </a:r>
          </a:p>
          <a:p>
            <a:pPr>
              <a:spcBef>
                <a:spcPct val="15000"/>
              </a:spcBef>
              <a:buNone/>
              <a:tabLst>
                <a:tab pos="1304991" algn="l"/>
                <a:tab pos="1634148" algn="l"/>
                <a:tab pos="2225787" algn="l"/>
              </a:tabLst>
            </a:pPr>
            <a:r>
              <a:rPr lang="en-US" sz="1600">
                <a:solidFill>
                  <a:srgbClr val="0000FF"/>
                </a:solidFill>
              </a:rPr>
              <a:t>		}</a:t>
            </a:r>
          </a:p>
          <a:p>
            <a:pPr>
              <a:spcBef>
                <a:spcPct val="15000"/>
              </a:spcBef>
              <a:buNone/>
              <a:tabLst>
                <a:tab pos="1304991" algn="l"/>
                <a:tab pos="1634148" algn="l"/>
                <a:tab pos="2225787" algn="l"/>
              </a:tabLst>
            </a:pPr>
            <a:r>
              <a:rPr lang="en-US" b="1"/>
              <a:t>		</a:t>
            </a:r>
            <a:r>
              <a:rPr lang="en-US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38728595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/>
          </p:cNvSpPr>
          <p:nvPr>
            <p:ph type="title"/>
          </p:nvPr>
        </p:nvSpPr>
        <p:spPr>
          <a:xfrm>
            <a:off x="891117" y="627592"/>
            <a:ext cx="8229600" cy="512233"/>
          </a:xfrm>
        </p:spPr>
        <p:txBody>
          <a:bodyPr>
            <a:normAutofit/>
          </a:bodyPr>
          <a:lstStyle/>
          <a:p>
            <a:r>
              <a:rPr lang="en-US"/>
              <a:t>Resuming Processes within a Monitor</a:t>
            </a:r>
          </a:p>
        </p:txBody>
      </p:sp>
      <p:sp>
        <p:nvSpPr>
          <p:cNvPr id="5120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several processes queued on condition x, and </a:t>
            </a:r>
            <a:r>
              <a:rPr lang="en-US" dirty="0" err="1"/>
              <a:t>x.signal</a:t>
            </a:r>
            <a:r>
              <a:rPr lang="en-US" dirty="0"/>
              <a:t>() executed, which should be resumed?</a:t>
            </a:r>
          </a:p>
          <a:p>
            <a:endParaRPr lang="en-US" dirty="0"/>
          </a:p>
          <a:p>
            <a:r>
              <a:rPr lang="en-US" dirty="0"/>
              <a:t>FCFS frequently not adequate </a:t>
            </a:r>
          </a:p>
          <a:p>
            <a:endParaRPr lang="en-US" dirty="0"/>
          </a:p>
          <a:p>
            <a:r>
              <a:rPr lang="en-US" b="1" dirty="0">
                <a:solidFill>
                  <a:srgbClr val="0000FF"/>
                </a:solidFill>
              </a:rPr>
              <a:t>conditional-wait </a:t>
            </a:r>
            <a:r>
              <a:rPr lang="en-US" dirty="0"/>
              <a:t>construct of the form </a:t>
            </a:r>
            <a:r>
              <a:rPr lang="en-US" dirty="0" err="1"/>
              <a:t>x.wait</a:t>
            </a:r>
            <a:r>
              <a:rPr lang="en-US" dirty="0"/>
              <a:t>(c)</a:t>
            </a:r>
          </a:p>
          <a:p>
            <a:pPr lvl="1"/>
            <a:r>
              <a:rPr lang="en-US" dirty="0"/>
              <a:t>Where c is </a:t>
            </a:r>
            <a:r>
              <a:rPr lang="en-US" b="1" dirty="0">
                <a:solidFill>
                  <a:srgbClr val="0000FF"/>
                </a:solidFill>
              </a:rPr>
              <a:t>priority number</a:t>
            </a:r>
          </a:p>
          <a:p>
            <a:pPr lvl="1"/>
            <a:r>
              <a:rPr lang="en-US" dirty="0"/>
              <a:t>Process with lowest number (highest priority) is scheduled next</a:t>
            </a:r>
          </a:p>
        </p:txBody>
      </p:sp>
    </p:spTree>
    <p:extLst>
      <p:ext uri="{BB962C8B-B14F-4D97-AF65-F5344CB8AC3E}">
        <p14:creationId xmlns:p14="http://schemas.microsoft.com/office/powerpoint/2010/main" val="322586868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999067" y="627592"/>
            <a:ext cx="7687733" cy="512233"/>
          </a:xfrm>
        </p:spPr>
        <p:txBody>
          <a:bodyPr>
            <a:normAutofit/>
          </a:bodyPr>
          <a:lstStyle/>
          <a:p>
            <a:pPr eaLnBrk="1" hangingPunct="1"/>
            <a:r>
              <a:rPr lang="en-US"/>
              <a:t>A Monitor to Allocate Single Resource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idx="1"/>
          </p:nvPr>
        </p:nvSpPr>
        <p:spPr>
          <a:xfrm>
            <a:off x="1646767" y="1477433"/>
            <a:ext cx="7389283" cy="4026959"/>
          </a:xfrm>
        </p:spPr>
        <p:txBody>
          <a:bodyPr>
            <a:normAutofit lnSpcReduction="10000"/>
          </a:bodyPr>
          <a:lstStyle/>
          <a:p>
            <a:pPr>
              <a:buNone/>
              <a:tabLst>
                <a:tab pos="1304991" algn="l"/>
                <a:tab pos="1634148" algn="l"/>
                <a:tab pos="2225787" algn="l"/>
              </a:tabLst>
            </a:pPr>
            <a:endParaRPr lang="en-US" sz="1333"/>
          </a:p>
          <a:p>
            <a:pPr>
              <a:spcBef>
                <a:spcPct val="15000"/>
              </a:spcBef>
              <a:buNone/>
              <a:tabLst>
                <a:tab pos="1304991" algn="l"/>
                <a:tab pos="1634148" algn="l"/>
                <a:tab pos="2225787" algn="l"/>
              </a:tabLst>
            </a:pPr>
            <a:r>
              <a:rPr lang="en-US" sz="1333">
                <a:solidFill>
                  <a:srgbClr val="0000FF"/>
                </a:solidFill>
              </a:rPr>
              <a:t>monitor ResourceAllocator </a:t>
            </a:r>
          </a:p>
          <a:p>
            <a:pPr>
              <a:spcBef>
                <a:spcPct val="15000"/>
              </a:spcBef>
              <a:buNone/>
              <a:tabLst>
                <a:tab pos="1304991" algn="l"/>
                <a:tab pos="1634148" algn="l"/>
                <a:tab pos="2225787" algn="l"/>
              </a:tabLst>
            </a:pPr>
            <a:r>
              <a:rPr lang="en-US" sz="1333">
                <a:solidFill>
                  <a:srgbClr val="0000FF"/>
                </a:solidFill>
              </a:rPr>
              <a:t>{ </a:t>
            </a:r>
          </a:p>
          <a:p>
            <a:pPr>
              <a:spcBef>
                <a:spcPct val="15000"/>
              </a:spcBef>
              <a:buNone/>
              <a:tabLst>
                <a:tab pos="1304991" algn="l"/>
                <a:tab pos="1634148" algn="l"/>
                <a:tab pos="2225787" algn="l"/>
              </a:tabLst>
            </a:pPr>
            <a:r>
              <a:rPr lang="en-US" sz="1333">
                <a:solidFill>
                  <a:srgbClr val="0000FF"/>
                </a:solidFill>
              </a:rPr>
              <a:t>	boolean busy; </a:t>
            </a:r>
          </a:p>
          <a:p>
            <a:pPr>
              <a:spcBef>
                <a:spcPct val="15000"/>
              </a:spcBef>
              <a:buNone/>
              <a:tabLst>
                <a:tab pos="1304991" algn="l"/>
                <a:tab pos="1634148" algn="l"/>
                <a:tab pos="2225787" algn="l"/>
              </a:tabLst>
            </a:pPr>
            <a:r>
              <a:rPr lang="en-US" sz="1333">
                <a:solidFill>
                  <a:srgbClr val="0000FF"/>
                </a:solidFill>
              </a:rPr>
              <a:t>	condition x; </a:t>
            </a:r>
          </a:p>
          <a:p>
            <a:pPr>
              <a:spcBef>
                <a:spcPct val="15000"/>
              </a:spcBef>
              <a:buNone/>
              <a:tabLst>
                <a:tab pos="1304991" algn="l"/>
                <a:tab pos="1634148" algn="l"/>
                <a:tab pos="2225787" algn="l"/>
              </a:tabLst>
            </a:pPr>
            <a:r>
              <a:rPr lang="en-US" sz="1333">
                <a:solidFill>
                  <a:srgbClr val="0000FF"/>
                </a:solidFill>
              </a:rPr>
              <a:t>	void acquire(int time) { </a:t>
            </a:r>
          </a:p>
          <a:p>
            <a:pPr>
              <a:spcBef>
                <a:spcPct val="15000"/>
              </a:spcBef>
              <a:buNone/>
              <a:tabLst>
                <a:tab pos="1304991" algn="l"/>
                <a:tab pos="1634148" algn="l"/>
                <a:tab pos="2225787" algn="l"/>
              </a:tabLst>
            </a:pPr>
            <a:r>
              <a:rPr lang="en-US" sz="1333">
                <a:solidFill>
                  <a:srgbClr val="0000FF"/>
                </a:solidFill>
              </a:rPr>
              <a:t>		if (busy) </a:t>
            </a:r>
          </a:p>
          <a:p>
            <a:pPr>
              <a:spcBef>
                <a:spcPct val="15000"/>
              </a:spcBef>
              <a:buNone/>
              <a:tabLst>
                <a:tab pos="1304991" algn="l"/>
                <a:tab pos="1634148" algn="l"/>
                <a:tab pos="2225787" algn="l"/>
              </a:tabLst>
            </a:pPr>
            <a:r>
              <a:rPr lang="en-US" sz="1333">
                <a:solidFill>
                  <a:srgbClr val="0000FF"/>
                </a:solidFill>
              </a:rPr>
              <a:t>			x.wait(time); </a:t>
            </a:r>
          </a:p>
          <a:p>
            <a:pPr>
              <a:spcBef>
                <a:spcPct val="15000"/>
              </a:spcBef>
              <a:buNone/>
              <a:tabLst>
                <a:tab pos="1304991" algn="l"/>
                <a:tab pos="1634148" algn="l"/>
                <a:tab pos="2225787" algn="l"/>
              </a:tabLst>
            </a:pPr>
            <a:r>
              <a:rPr lang="en-US" sz="1333">
                <a:solidFill>
                  <a:srgbClr val="0000FF"/>
                </a:solidFill>
              </a:rPr>
              <a:t>		busy = TRUE; </a:t>
            </a:r>
          </a:p>
          <a:p>
            <a:pPr>
              <a:spcBef>
                <a:spcPct val="15000"/>
              </a:spcBef>
              <a:buNone/>
              <a:tabLst>
                <a:tab pos="1304991" algn="l"/>
                <a:tab pos="1634148" algn="l"/>
                <a:tab pos="2225787" algn="l"/>
              </a:tabLst>
            </a:pPr>
            <a:r>
              <a:rPr lang="en-US" sz="1333">
                <a:solidFill>
                  <a:srgbClr val="0000FF"/>
                </a:solidFill>
              </a:rPr>
              <a:t>	} </a:t>
            </a:r>
          </a:p>
          <a:p>
            <a:pPr>
              <a:spcBef>
                <a:spcPct val="15000"/>
              </a:spcBef>
              <a:buNone/>
              <a:tabLst>
                <a:tab pos="1304991" algn="l"/>
                <a:tab pos="1634148" algn="l"/>
                <a:tab pos="2225787" algn="l"/>
              </a:tabLst>
            </a:pPr>
            <a:r>
              <a:rPr lang="en-US" sz="1333">
                <a:solidFill>
                  <a:srgbClr val="0000FF"/>
                </a:solidFill>
              </a:rPr>
              <a:t>	void release() { </a:t>
            </a:r>
          </a:p>
          <a:p>
            <a:pPr>
              <a:spcBef>
                <a:spcPct val="15000"/>
              </a:spcBef>
              <a:buNone/>
              <a:tabLst>
                <a:tab pos="1304991" algn="l"/>
                <a:tab pos="1634148" algn="l"/>
                <a:tab pos="2225787" algn="l"/>
              </a:tabLst>
            </a:pPr>
            <a:r>
              <a:rPr lang="en-US" sz="1333">
                <a:solidFill>
                  <a:srgbClr val="0000FF"/>
                </a:solidFill>
              </a:rPr>
              <a:t>		busy = FALSE; </a:t>
            </a:r>
          </a:p>
          <a:p>
            <a:pPr>
              <a:spcBef>
                <a:spcPct val="15000"/>
              </a:spcBef>
              <a:buNone/>
              <a:tabLst>
                <a:tab pos="1304991" algn="l"/>
                <a:tab pos="1634148" algn="l"/>
                <a:tab pos="2225787" algn="l"/>
              </a:tabLst>
            </a:pPr>
            <a:r>
              <a:rPr lang="en-US" sz="1333">
                <a:solidFill>
                  <a:srgbClr val="0000FF"/>
                </a:solidFill>
              </a:rPr>
              <a:t>		x.signal(); </a:t>
            </a:r>
          </a:p>
          <a:p>
            <a:pPr>
              <a:spcBef>
                <a:spcPct val="15000"/>
              </a:spcBef>
              <a:buNone/>
              <a:tabLst>
                <a:tab pos="1304991" algn="l"/>
                <a:tab pos="1634148" algn="l"/>
                <a:tab pos="2225787" algn="l"/>
              </a:tabLst>
            </a:pPr>
            <a:r>
              <a:rPr lang="en-US" sz="1333">
                <a:solidFill>
                  <a:srgbClr val="0000FF"/>
                </a:solidFill>
              </a:rPr>
              <a:t>	} </a:t>
            </a:r>
          </a:p>
          <a:p>
            <a:pPr>
              <a:spcBef>
                <a:spcPct val="15000"/>
              </a:spcBef>
              <a:buNone/>
              <a:tabLst>
                <a:tab pos="1304991" algn="l"/>
                <a:tab pos="1634148" algn="l"/>
                <a:tab pos="2225787" algn="l"/>
              </a:tabLst>
            </a:pPr>
            <a:r>
              <a:rPr lang="en-US" sz="1333">
                <a:solidFill>
                  <a:srgbClr val="0000FF"/>
                </a:solidFill>
              </a:rPr>
              <a:t>initialization code() {</a:t>
            </a:r>
          </a:p>
          <a:p>
            <a:pPr>
              <a:spcBef>
                <a:spcPct val="15000"/>
              </a:spcBef>
              <a:buNone/>
              <a:tabLst>
                <a:tab pos="1304991" algn="l"/>
                <a:tab pos="1634148" algn="l"/>
                <a:tab pos="2225787" algn="l"/>
              </a:tabLst>
            </a:pPr>
            <a:r>
              <a:rPr lang="en-US" sz="1333">
                <a:solidFill>
                  <a:srgbClr val="0000FF"/>
                </a:solidFill>
              </a:rPr>
              <a:t>	 busy = FALSE; </a:t>
            </a:r>
          </a:p>
          <a:p>
            <a:pPr>
              <a:spcBef>
                <a:spcPct val="15000"/>
              </a:spcBef>
              <a:buNone/>
              <a:tabLst>
                <a:tab pos="1304991" algn="l"/>
                <a:tab pos="1634148" algn="l"/>
                <a:tab pos="2225787" algn="l"/>
              </a:tabLst>
            </a:pPr>
            <a:r>
              <a:rPr lang="en-US" sz="1333">
                <a:solidFill>
                  <a:srgbClr val="0000FF"/>
                </a:solidFill>
              </a:rPr>
              <a:t>	}</a:t>
            </a:r>
          </a:p>
          <a:p>
            <a:pPr>
              <a:spcBef>
                <a:spcPct val="15000"/>
              </a:spcBef>
              <a:buNone/>
              <a:tabLst>
                <a:tab pos="1304991" algn="l"/>
                <a:tab pos="1634148" algn="l"/>
                <a:tab pos="2225787" algn="l"/>
              </a:tabLst>
            </a:pPr>
            <a:r>
              <a:rPr lang="en-US" sz="1333">
                <a:solidFill>
                  <a:srgbClr val="0000FF"/>
                </a:solidFill>
              </a:rPr>
              <a:t>}</a:t>
            </a:r>
            <a:r>
              <a:rPr lang="en-US" sz="1333" b="1"/>
              <a:t>		</a:t>
            </a:r>
            <a:r>
              <a:rPr lang="en-US" sz="1333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80830102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1157817" y="627592"/>
            <a:ext cx="7528983" cy="512233"/>
          </a:xfrm>
        </p:spPr>
        <p:txBody>
          <a:bodyPr>
            <a:normAutofit/>
          </a:bodyPr>
          <a:lstStyle/>
          <a:p>
            <a:pPr eaLnBrk="1" hangingPunct="1"/>
            <a:r>
              <a:rPr lang="en-US"/>
              <a:t>Synchronization Examples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Solaris</a:t>
            </a:r>
          </a:p>
          <a:p>
            <a:endParaRPr lang="en-US"/>
          </a:p>
          <a:p>
            <a:r>
              <a:rPr lang="en-US"/>
              <a:t>Windows XP</a:t>
            </a:r>
          </a:p>
          <a:p>
            <a:endParaRPr lang="en-US"/>
          </a:p>
          <a:p>
            <a:r>
              <a:rPr lang="en-US"/>
              <a:t>Linux</a:t>
            </a:r>
          </a:p>
          <a:p>
            <a:endParaRPr lang="en-US"/>
          </a:p>
          <a:p>
            <a:r>
              <a:rPr lang="en-US"/>
              <a:t>Pthreads</a:t>
            </a:r>
          </a:p>
        </p:txBody>
      </p:sp>
    </p:spTree>
    <p:extLst>
      <p:ext uri="{BB962C8B-B14F-4D97-AF65-F5344CB8AC3E}">
        <p14:creationId xmlns:p14="http://schemas.microsoft.com/office/powerpoint/2010/main" val="417933764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1111250" y="627592"/>
            <a:ext cx="7575550" cy="512233"/>
          </a:xfrm>
        </p:spPr>
        <p:txBody>
          <a:bodyPr>
            <a:normAutofit/>
          </a:bodyPr>
          <a:lstStyle/>
          <a:p>
            <a:pPr eaLnBrk="1" hangingPunct="1"/>
            <a:r>
              <a:rPr lang="en-US"/>
              <a:t>Solaris Synchronization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>
          <a:xfrm>
            <a:off x="806450" y="1477433"/>
            <a:ext cx="7679267" cy="4026959"/>
          </a:xfrm>
        </p:spPr>
        <p:txBody>
          <a:bodyPr>
            <a:normAutofit fontScale="77500" lnSpcReduction="20000"/>
          </a:bodyPr>
          <a:lstStyle/>
          <a:p>
            <a:r>
              <a:rPr lang="en-US"/>
              <a:t>Implements a variety of locks to support multitasking, multithreading (including real-time threads), and multiprocessing</a:t>
            </a:r>
          </a:p>
          <a:p>
            <a:endParaRPr lang="en-US"/>
          </a:p>
          <a:p>
            <a:r>
              <a:rPr lang="en-US"/>
              <a:t>Uses </a:t>
            </a:r>
            <a:r>
              <a:rPr lang="en-US" b="1">
                <a:solidFill>
                  <a:srgbClr val="3366FF"/>
                </a:solidFill>
              </a:rPr>
              <a:t>adaptive mutexes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for efficiency when protecting data from short code segments</a:t>
            </a:r>
          </a:p>
          <a:p>
            <a:pPr lvl="1"/>
            <a:r>
              <a:rPr lang="en-US"/>
              <a:t>Starts as a standard semaphore spin-lock</a:t>
            </a:r>
          </a:p>
          <a:p>
            <a:pPr lvl="1"/>
            <a:r>
              <a:rPr lang="en-US"/>
              <a:t>If lock held, and by a thread running on another CPU, spins</a:t>
            </a:r>
          </a:p>
          <a:p>
            <a:pPr lvl="1"/>
            <a:r>
              <a:rPr lang="en-US"/>
              <a:t>If lock held by non-run-state thread, block and sleep waiting for signal of lock being released</a:t>
            </a:r>
          </a:p>
          <a:p>
            <a:endParaRPr lang="en-US"/>
          </a:p>
          <a:p>
            <a:r>
              <a:rPr lang="en-US"/>
              <a:t>Uses </a:t>
            </a:r>
            <a:r>
              <a:rPr lang="en-US" b="1">
                <a:solidFill>
                  <a:srgbClr val="3366FF"/>
                </a:solidFill>
              </a:rPr>
              <a:t>condition variables</a:t>
            </a:r>
            <a:r>
              <a:rPr lang="en-US">
                <a:solidFill>
                  <a:srgbClr val="3366FF"/>
                </a:solidFill>
              </a:rPr>
              <a:t> </a:t>
            </a:r>
          </a:p>
          <a:p>
            <a:pPr>
              <a:buFont typeface="Monotype Sorts" charset="2"/>
              <a:buNone/>
            </a:pPr>
            <a:endParaRPr lang="en-US"/>
          </a:p>
          <a:p>
            <a:r>
              <a:rPr lang="en-US"/>
              <a:t>Uses </a:t>
            </a:r>
            <a:r>
              <a:rPr lang="en-US" b="1">
                <a:solidFill>
                  <a:srgbClr val="3366FF"/>
                </a:solidFill>
              </a:rPr>
              <a:t>readers-writers</a:t>
            </a:r>
            <a:r>
              <a:rPr lang="en-US">
                <a:solidFill>
                  <a:srgbClr val="3366FF"/>
                </a:solidFill>
              </a:rPr>
              <a:t> </a:t>
            </a:r>
            <a:r>
              <a:rPr lang="en-US"/>
              <a:t>locks when longer sections of code need access to data</a:t>
            </a:r>
          </a:p>
          <a:p>
            <a:endParaRPr lang="en-US"/>
          </a:p>
          <a:p>
            <a:r>
              <a:rPr lang="en-US"/>
              <a:t>Uses </a:t>
            </a:r>
            <a:r>
              <a:rPr lang="en-US" b="1">
                <a:solidFill>
                  <a:srgbClr val="3366FF"/>
                </a:solidFill>
              </a:rPr>
              <a:t>turnstiles</a:t>
            </a:r>
            <a:r>
              <a:rPr lang="en-US"/>
              <a:t> to order the list of threads waiting to acquire either an adaptive mutex or reader-writer lock</a:t>
            </a:r>
          </a:p>
          <a:p>
            <a:pPr lvl="1"/>
            <a:r>
              <a:rPr lang="en-US"/>
              <a:t>Turnstiles are per-lock-holding-thread, not per-object</a:t>
            </a:r>
          </a:p>
          <a:p>
            <a:pPr lvl="1"/>
            <a:endParaRPr lang="en-US"/>
          </a:p>
          <a:p>
            <a:r>
              <a:rPr lang="en-US"/>
              <a:t>Priority-inheritance per-turnstile gives the running thread the highest of the priorities of the threads in its turnstile</a:t>
            </a:r>
          </a:p>
        </p:txBody>
      </p:sp>
    </p:spTree>
    <p:extLst>
      <p:ext uri="{BB962C8B-B14F-4D97-AF65-F5344CB8AC3E}">
        <p14:creationId xmlns:p14="http://schemas.microsoft.com/office/powerpoint/2010/main" val="64650105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1082676" y="627592"/>
            <a:ext cx="7604125" cy="512233"/>
          </a:xfrm>
        </p:spPr>
        <p:txBody>
          <a:bodyPr>
            <a:normAutofit/>
          </a:bodyPr>
          <a:lstStyle/>
          <a:p>
            <a:pPr eaLnBrk="1" hangingPunct="1"/>
            <a:r>
              <a:rPr lang="en-US"/>
              <a:t>Windows XP Synchronization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idx="1"/>
          </p:nvPr>
        </p:nvSpPr>
        <p:spPr>
          <a:xfrm>
            <a:off x="806450" y="1477433"/>
            <a:ext cx="7613650" cy="4026959"/>
          </a:xfrm>
        </p:spPr>
        <p:txBody>
          <a:bodyPr>
            <a:normAutofit lnSpcReduction="10000"/>
          </a:bodyPr>
          <a:lstStyle/>
          <a:p>
            <a:r>
              <a:rPr lang="en-US"/>
              <a:t>Uses interrupt masks to protect access to global resources on uniprocessor systems</a:t>
            </a:r>
          </a:p>
          <a:p>
            <a:endParaRPr lang="en-US"/>
          </a:p>
          <a:p>
            <a:r>
              <a:rPr lang="en-US"/>
              <a:t>Uses </a:t>
            </a:r>
            <a:r>
              <a:rPr lang="en-US" b="1">
                <a:solidFill>
                  <a:srgbClr val="3366FF"/>
                </a:solidFill>
              </a:rPr>
              <a:t>spinlocks </a:t>
            </a:r>
            <a:r>
              <a:rPr lang="en-US"/>
              <a:t>on multiprocessor systems</a:t>
            </a:r>
          </a:p>
          <a:p>
            <a:pPr lvl="1"/>
            <a:r>
              <a:rPr lang="en-US"/>
              <a:t>Spinlocking-thread will never be preempted</a:t>
            </a:r>
          </a:p>
          <a:p>
            <a:endParaRPr lang="en-US"/>
          </a:p>
          <a:p>
            <a:r>
              <a:rPr lang="en-US"/>
              <a:t>Also provides </a:t>
            </a:r>
            <a:r>
              <a:rPr lang="en-US" b="1">
                <a:solidFill>
                  <a:srgbClr val="3366FF"/>
                </a:solidFill>
              </a:rPr>
              <a:t>dispatcher objects </a:t>
            </a:r>
            <a:r>
              <a:rPr lang="en-US">
                <a:solidFill>
                  <a:srgbClr val="000000"/>
                </a:solidFill>
              </a:rPr>
              <a:t>user-land </a:t>
            </a:r>
            <a:r>
              <a:rPr lang="en-US"/>
              <a:t>which may act mutexes, semaphores, events, and timers</a:t>
            </a:r>
          </a:p>
          <a:p>
            <a:endParaRPr lang="en-US"/>
          </a:p>
          <a:p>
            <a:pPr lvl="1"/>
            <a:r>
              <a:rPr lang="en-US" b="1">
                <a:solidFill>
                  <a:srgbClr val="3366FF"/>
                </a:solidFill>
              </a:rPr>
              <a:t>Events</a:t>
            </a:r>
          </a:p>
          <a:p>
            <a:pPr lvl="2"/>
            <a:r>
              <a:rPr lang="en-US"/>
              <a:t>An event acts much like a condition variable</a:t>
            </a:r>
          </a:p>
          <a:p>
            <a:pPr lvl="1"/>
            <a:r>
              <a:rPr lang="en-US"/>
              <a:t>Timers notify one or more thread when time expired</a:t>
            </a:r>
          </a:p>
          <a:p>
            <a:pPr lvl="1"/>
            <a:r>
              <a:rPr lang="en-US"/>
              <a:t>Dispatcher objects either </a:t>
            </a:r>
            <a:r>
              <a:rPr lang="en-US" b="1">
                <a:solidFill>
                  <a:srgbClr val="3366FF"/>
                </a:solidFill>
              </a:rPr>
              <a:t>signaled-state </a:t>
            </a:r>
            <a:r>
              <a:rPr lang="en-US"/>
              <a:t>(object available) or </a:t>
            </a:r>
            <a:r>
              <a:rPr lang="en-US" b="1">
                <a:solidFill>
                  <a:srgbClr val="3366FF"/>
                </a:solidFill>
              </a:rPr>
              <a:t>non-signaled state </a:t>
            </a:r>
            <a:r>
              <a:rPr lang="en-US"/>
              <a:t>(thread will block)</a:t>
            </a:r>
          </a:p>
        </p:txBody>
      </p:sp>
    </p:spTree>
    <p:extLst>
      <p:ext uri="{BB962C8B-B14F-4D97-AF65-F5344CB8AC3E}">
        <p14:creationId xmlns:p14="http://schemas.microsoft.com/office/powerpoint/2010/main" val="116444618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999067" y="627592"/>
            <a:ext cx="7687733" cy="512233"/>
          </a:xfrm>
        </p:spPr>
        <p:txBody>
          <a:bodyPr>
            <a:normAutofit/>
          </a:bodyPr>
          <a:lstStyle/>
          <a:p>
            <a:pPr eaLnBrk="1" hangingPunct="1"/>
            <a:r>
              <a:rPr lang="en-US"/>
              <a:t>Linux Synchronization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idx="1"/>
          </p:nvPr>
        </p:nvSpPr>
        <p:spPr>
          <a:xfrm>
            <a:off x="806450" y="1477433"/>
            <a:ext cx="7679267" cy="4026959"/>
          </a:xfrm>
        </p:spPr>
        <p:txBody>
          <a:bodyPr/>
          <a:lstStyle/>
          <a:p>
            <a:r>
              <a:rPr lang="en-US"/>
              <a:t>Linux:</a:t>
            </a:r>
          </a:p>
          <a:p>
            <a:pPr lvl="1"/>
            <a:r>
              <a:rPr lang="en-US"/>
              <a:t>Prior to kernel Version 2.6, disables interrupts to implement short critical sections</a:t>
            </a:r>
          </a:p>
          <a:p>
            <a:pPr lvl="1"/>
            <a:r>
              <a:rPr lang="en-US"/>
              <a:t>Version 2.6 and later, fully preemptive</a:t>
            </a:r>
          </a:p>
          <a:p>
            <a:endParaRPr lang="en-US"/>
          </a:p>
          <a:p>
            <a:r>
              <a:rPr lang="en-US"/>
              <a:t>Linux provides:</a:t>
            </a:r>
          </a:p>
          <a:p>
            <a:pPr lvl="1"/>
            <a:r>
              <a:rPr lang="en-US"/>
              <a:t>semaphores</a:t>
            </a:r>
          </a:p>
          <a:p>
            <a:pPr lvl="1"/>
            <a:r>
              <a:rPr lang="en-US"/>
              <a:t>spinlocks</a:t>
            </a:r>
          </a:p>
          <a:p>
            <a:pPr lvl="1"/>
            <a:r>
              <a:rPr lang="en-US"/>
              <a:t>reader-writer versions of both</a:t>
            </a:r>
          </a:p>
          <a:p>
            <a:pPr lvl="1"/>
            <a:endParaRPr lang="en-US"/>
          </a:p>
          <a:p>
            <a:r>
              <a:rPr lang="en-US"/>
              <a:t>On single-cpu system, spinlocks replaced by enabling and disabling kernel preemption</a:t>
            </a:r>
          </a:p>
        </p:txBody>
      </p:sp>
    </p:spTree>
    <p:extLst>
      <p:ext uri="{BB962C8B-B14F-4D97-AF65-F5344CB8AC3E}">
        <p14:creationId xmlns:p14="http://schemas.microsoft.com/office/powerpoint/2010/main" val="185128393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1203325" y="627592"/>
            <a:ext cx="7483475" cy="512233"/>
          </a:xfrm>
        </p:spPr>
        <p:txBody>
          <a:bodyPr>
            <a:normAutofit/>
          </a:bodyPr>
          <a:lstStyle/>
          <a:p>
            <a:pPr eaLnBrk="1" hangingPunct="1"/>
            <a:r>
              <a:rPr lang="en-US"/>
              <a:t>Pthreads Synchronization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50925" y="1649943"/>
            <a:ext cx="7429500" cy="4099983"/>
          </a:xfrm>
        </p:spPr>
        <p:txBody>
          <a:bodyPr/>
          <a:lstStyle/>
          <a:p>
            <a:r>
              <a:rPr lang="en-US"/>
              <a:t>Pthreads API is OS-independent</a:t>
            </a:r>
          </a:p>
          <a:p>
            <a:endParaRPr lang="en-US"/>
          </a:p>
          <a:p>
            <a:r>
              <a:rPr lang="en-US"/>
              <a:t>It provides:</a:t>
            </a:r>
          </a:p>
          <a:p>
            <a:pPr lvl="1"/>
            <a:r>
              <a:rPr lang="en-US"/>
              <a:t>mutex locks</a:t>
            </a:r>
          </a:p>
          <a:p>
            <a:pPr lvl="1"/>
            <a:r>
              <a:rPr lang="en-US"/>
              <a:t>condition variables</a:t>
            </a:r>
            <a:br>
              <a:rPr lang="en-US"/>
            </a:br>
            <a:endParaRPr lang="en-US"/>
          </a:p>
          <a:p>
            <a:r>
              <a:rPr lang="en-US"/>
              <a:t>Non-portable extensions include:</a:t>
            </a:r>
          </a:p>
          <a:p>
            <a:pPr lvl="1"/>
            <a:r>
              <a:rPr lang="en-US"/>
              <a:t>read-write locks</a:t>
            </a:r>
          </a:p>
          <a:p>
            <a:pPr lvl="1"/>
            <a:r>
              <a:rPr lang="en-US"/>
              <a:t>spinlocks</a:t>
            </a:r>
          </a:p>
        </p:txBody>
      </p:sp>
    </p:spTree>
    <p:extLst>
      <p:ext uri="{BB962C8B-B14F-4D97-AF65-F5344CB8AC3E}">
        <p14:creationId xmlns:p14="http://schemas.microsoft.com/office/powerpoint/2010/main" val="14243559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8557</TotalTime>
  <Words>5374</Words>
  <Application>Microsoft Office PowerPoint</Application>
  <PresentationFormat>On-screen Show (4:3)</PresentationFormat>
  <Paragraphs>723</Paragraphs>
  <Slides>83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83</vt:i4>
      </vt:variant>
    </vt:vector>
  </HeadingPairs>
  <TitlesOfParts>
    <vt:vector size="99" baseType="lpstr">
      <vt:lpstr>Arial</vt:lpstr>
      <vt:lpstr>Arial Unicode MS</vt:lpstr>
      <vt:lpstr>Calibri</vt:lpstr>
      <vt:lpstr>Century Schoolbook</vt:lpstr>
      <vt:lpstr>CMTT10</vt:lpstr>
      <vt:lpstr>Helvetica</vt:lpstr>
      <vt:lpstr>HelveticaNeueLTStd-Roman</vt:lpstr>
      <vt:lpstr>Monaco</vt:lpstr>
      <vt:lpstr>Monotype Sorts</vt:lpstr>
      <vt:lpstr>PalatinoLTStd-Roman</vt:lpstr>
      <vt:lpstr>Roboto</vt:lpstr>
      <vt:lpstr>Times New Roman</vt:lpstr>
      <vt:lpstr>Webdings</vt:lpstr>
      <vt:lpstr>Wingdings</vt:lpstr>
      <vt:lpstr>Wingdings 2</vt:lpstr>
      <vt:lpstr>Oriel</vt:lpstr>
      <vt:lpstr>PowerPoint Presentation</vt:lpstr>
      <vt:lpstr>Module 3: Process Synchronization</vt:lpstr>
      <vt:lpstr>Objectives</vt:lpstr>
      <vt:lpstr>Inter process Communication</vt:lpstr>
      <vt:lpstr>Interprocess Communication</vt:lpstr>
      <vt:lpstr>Communications Models </vt:lpstr>
      <vt:lpstr>Difference</vt:lpstr>
      <vt:lpstr>Cooperating Processes</vt:lpstr>
      <vt:lpstr>Producer-Consumer Problem</vt:lpstr>
      <vt:lpstr>Bounded-Buffer – Shared-Memory Solution</vt:lpstr>
      <vt:lpstr>Bounded-Buffer – Producer</vt:lpstr>
      <vt:lpstr>Bounded Buffer – Consumer</vt:lpstr>
      <vt:lpstr>Interprocess Communication –  Message Passing</vt:lpstr>
      <vt:lpstr>PowerPoint Presentation</vt:lpstr>
      <vt:lpstr>PowerPoint Presentation</vt:lpstr>
      <vt:lpstr>IPC: Synchronization</vt:lpstr>
      <vt:lpstr>IPC: Buffering</vt:lpstr>
      <vt:lpstr>RACE CONDITION </vt:lpstr>
      <vt:lpstr>PowerPoint Presentation</vt:lpstr>
      <vt:lpstr>Concurrent Execution - Race Condition</vt:lpstr>
      <vt:lpstr>Producer Consumer Problem – Creates RACE condition</vt:lpstr>
      <vt:lpstr>Producer </vt:lpstr>
      <vt:lpstr>Consumer</vt:lpstr>
      <vt:lpstr>Race Condition</vt:lpstr>
      <vt:lpstr>PowerPoint Presentation</vt:lpstr>
      <vt:lpstr>CRITICAL-SECTION PROBLEM </vt:lpstr>
      <vt:lpstr>Critical Section Problem</vt:lpstr>
      <vt:lpstr>Critical Section</vt:lpstr>
      <vt:lpstr>Requirements to be satisfied for a Solution to the Critical-Section Problem: </vt:lpstr>
      <vt:lpstr>Solutions to Critical Section Problem</vt:lpstr>
      <vt:lpstr>Peterson’s solutions</vt:lpstr>
      <vt:lpstr>PowerPoint Presentation</vt:lpstr>
      <vt:lpstr>PowerPoint Presentation</vt:lpstr>
      <vt:lpstr>PowerPoint Presentation</vt:lpstr>
      <vt:lpstr>Scenario</vt:lpstr>
      <vt:lpstr>Bakery Algorithm</vt:lpstr>
      <vt:lpstr>Bakery Algorithm – Software Solution (N Processes)</vt:lpstr>
      <vt:lpstr>Hardware Support for Synchronization</vt:lpstr>
      <vt:lpstr>Test and Set</vt:lpstr>
      <vt:lpstr>test and set() instruction</vt:lpstr>
      <vt:lpstr>compare and swap() instruction (CAS)</vt:lpstr>
      <vt:lpstr>compare and swap() instruction (CAS)</vt:lpstr>
      <vt:lpstr>PowerPoint Presentation</vt:lpstr>
      <vt:lpstr>Semaphores</vt:lpstr>
      <vt:lpstr>Semaphores</vt:lpstr>
      <vt:lpstr>Types</vt:lpstr>
      <vt:lpstr>Semaphore Implementation with  Busy waiting</vt:lpstr>
      <vt:lpstr>PowerPoint Presentation</vt:lpstr>
      <vt:lpstr>Classical Problems of Synchronization</vt:lpstr>
      <vt:lpstr>Bounded Buffer Problem</vt:lpstr>
      <vt:lpstr>Bounded-Buffer Problem</vt:lpstr>
      <vt:lpstr>PowerPoint Presentation</vt:lpstr>
      <vt:lpstr>PowerPoint Presentation</vt:lpstr>
      <vt:lpstr>Bounded Buffer Problem (Cont.)</vt:lpstr>
      <vt:lpstr>Readers/Writers Problem</vt:lpstr>
      <vt:lpstr>Readers/Writers Problem</vt:lpstr>
      <vt:lpstr>Readers-Writers Problem (Cont.)</vt:lpstr>
      <vt:lpstr>Readers/Writers Problem</vt:lpstr>
      <vt:lpstr>Readers/Writers Problem</vt:lpstr>
      <vt:lpstr>Dining-Philosophers Problem</vt:lpstr>
      <vt:lpstr>Dining-Philosophers Problem</vt:lpstr>
      <vt:lpstr>Dining-Philosophers Problem</vt:lpstr>
      <vt:lpstr>  Dining-Philosophers Problem Algorithm</vt:lpstr>
      <vt:lpstr>Deadlock situation and Solution</vt:lpstr>
      <vt:lpstr>Problems with Semaphores</vt:lpstr>
      <vt:lpstr>Monitors</vt:lpstr>
      <vt:lpstr>PowerPoint Presentation</vt:lpstr>
      <vt:lpstr>Schematic view of a Monitor</vt:lpstr>
      <vt:lpstr>Condition Variables</vt:lpstr>
      <vt:lpstr> Monitor with Condition Variables</vt:lpstr>
      <vt:lpstr>Condition Variables Choices</vt:lpstr>
      <vt:lpstr>Solution to Dining Philosophers</vt:lpstr>
      <vt:lpstr>PowerPoint Presentation</vt:lpstr>
      <vt:lpstr>Monitor Implementation Using Semaphores</vt:lpstr>
      <vt:lpstr>Monitor Implementation – Condition Variables</vt:lpstr>
      <vt:lpstr>Monitor Implementation (Cont.)</vt:lpstr>
      <vt:lpstr>Resuming Processes within a Monitor</vt:lpstr>
      <vt:lpstr>A Monitor to Allocate Single Resource</vt:lpstr>
      <vt:lpstr>Synchronization Examples</vt:lpstr>
      <vt:lpstr>Solaris Synchronization</vt:lpstr>
      <vt:lpstr>Windows XP Synchronization</vt:lpstr>
      <vt:lpstr>Linux Synchronization</vt:lpstr>
      <vt:lpstr>Pthreads Synchronization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 FUNDAMENTALS (LEC 1)  -introduction  -course objectives  -expected course outcome  -syllabus</dc:title>
  <dc:creator>amuth</dc:creator>
  <cp:lastModifiedBy>Dr.M.A. Berlin</cp:lastModifiedBy>
  <cp:revision>412</cp:revision>
  <dcterms:created xsi:type="dcterms:W3CDTF">2006-08-16T00:00:00Z</dcterms:created>
  <dcterms:modified xsi:type="dcterms:W3CDTF">2026-06-12T06:31:43Z</dcterms:modified>
</cp:coreProperties>
</file>