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1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49095" y="2938081"/>
            <a:ext cx="6760209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1067" y="918781"/>
            <a:ext cx="577626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F000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2020315"/>
            <a:ext cx="8072120" cy="2894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47911" y="6920928"/>
            <a:ext cx="1282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19375" y="2938081"/>
            <a:ext cx="67532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5" dirty="0" smtClean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Concurrency</a:t>
            </a:r>
            <a:r>
              <a:rPr sz="4400" spc="-430" dirty="0" smtClean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4400" spc="-385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Bugs</a:t>
            </a:r>
            <a:endParaRPr sz="44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726" y="918781"/>
            <a:ext cx="65449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/>
              <a:t>Bugs </a:t>
            </a:r>
            <a:r>
              <a:rPr spc="-55" dirty="0"/>
              <a:t>in </a:t>
            </a:r>
            <a:r>
              <a:rPr spc="-125" dirty="0"/>
              <a:t>concurrent</a:t>
            </a:r>
            <a:r>
              <a:rPr spc="-330" dirty="0"/>
              <a:t> </a:t>
            </a:r>
            <a:r>
              <a:rPr spc="-204" dirty="0"/>
              <a:t>programs</a:t>
            </a:r>
            <a:endParaRPr spc="-204" dirty="0"/>
          </a:p>
        </p:txBody>
      </p:sp>
      <p:sp>
        <p:nvSpPr>
          <p:cNvPr id="4" name="object 4"/>
          <p:cNvSpPr/>
          <p:nvPr/>
        </p:nvSpPr>
        <p:spPr>
          <a:xfrm>
            <a:off x="457200" y="3886200"/>
            <a:ext cx="9142730" cy="3427729"/>
          </a:xfrm>
          <a:custGeom>
            <a:avLst/>
            <a:gdLst/>
            <a:ahLst/>
            <a:cxnLst/>
            <a:rect l="l" t="t" r="r" b="b"/>
            <a:pathLst>
              <a:path w="9142730" h="3427729">
                <a:moveTo>
                  <a:pt x="0" y="3427476"/>
                </a:moveTo>
                <a:lnTo>
                  <a:pt x="9142476" y="3427476"/>
                </a:lnTo>
                <a:lnTo>
                  <a:pt x="9142476" y="0"/>
                </a:lnTo>
                <a:lnTo>
                  <a:pt x="0" y="0"/>
                </a:lnTo>
                <a:lnTo>
                  <a:pt x="0" y="3427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96465" y="2133600"/>
            <a:ext cx="7657465" cy="42214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55" dirty="0">
                <a:latin typeface="Arial" panose="020B0604020202020204"/>
                <a:cs typeface="Arial" panose="020B0604020202020204"/>
              </a:rPr>
              <a:t>Writing </a:t>
            </a:r>
            <a:r>
              <a:rPr sz="3200" spc="-60" dirty="0">
                <a:latin typeface="Arial" panose="020B0604020202020204"/>
                <a:cs typeface="Arial" panose="020B0604020202020204"/>
              </a:rPr>
              <a:t>multi-threaded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programs </a:t>
            </a:r>
            <a:r>
              <a:rPr sz="3200" spc="-165" dirty="0">
                <a:latin typeface="Arial" panose="020B0604020202020204"/>
                <a:cs typeface="Arial" panose="020B0604020202020204"/>
              </a:rPr>
              <a:t>is</a:t>
            </a:r>
            <a:r>
              <a:rPr sz="3200" spc="-40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55" dirty="0">
                <a:latin typeface="Arial" panose="020B0604020202020204"/>
                <a:cs typeface="Arial" panose="020B0604020202020204"/>
              </a:rPr>
              <a:t>tricky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355600" marR="5080" indent="-342900" algn="just">
              <a:lnSpc>
                <a:spcPts val="3460"/>
              </a:lnSpc>
              <a:spcBef>
                <a:spcPts val="820"/>
              </a:spcBef>
              <a:buChar char="•"/>
              <a:tabLst>
                <a:tab pos="355600" algn="l"/>
              </a:tabLst>
            </a:pPr>
            <a:r>
              <a:rPr sz="3200" spc="-285" dirty="0">
                <a:latin typeface="Arial" panose="020B0604020202020204"/>
                <a:cs typeface="Arial" panose="020B0604020202020204"/>
              </a:rPr>
              <a:t>Bugs </a:t>
            </a:r>
            <a:r>
              <a:rPr sz="3200" spc="-140" dirty="0">
                <a:latin typeface="Arial" panose="020B0604020202020204"/>
                <a:cs typeface="Arial" panose="020B0604020202020204"/>
              </a:rPr>
              <a:t>are </a:t>
            </a:r>
            <a:r>
              <a:rPr sz="3200" spc="-80" dirty="0">
                <a:latin typeface="Arial" panose="020B0604020202020204"/>
                <a:cs typeface="Arial" panose="020B0604020202020204"/>
              </a:rPr>
              <a:t>non-deterministic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and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occur </a:t>
            </a:r>
            <a:r>
              <a:rPr sz="3200" spc="-200" dirty="0">
                <a:latin typeface="Arial" panose="020B0604020202020204"/>
                <a:cs typeface="Arial" panose="020B0604020202020204"/>
              </a:rPr>
              <a:t>based 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on </a:t>
            </a:r>
            <a:r>
              <a:rPr sz="3200" spc="-120" dirty="0">
                <a:latin typeface="Arial" panose="020B0604020202020204"/>
                <a:cs typeface="Arial" panose="020B0604020202020204"/>
              </a:rPr>
              <a:t>execution </a:t>
            </a:r>
            <a:r>
              <a:rPr sz="3200" spc="-70" dirty="0">
                <a:latin typeface="Arial" panose="020B0604020202020204"/>
                <a:cs typeface="Arial" panose="020B0604020202020204"/>
              </a:rPr>
              <a:t>order </a:t>
            </a:r>
            <a:r>
              <a:rPr sz="3200" spc="-5" dirty="0">
                <a:latin typeface="Arial" panose="020B0604020202020204"/>
                <a:cs typeface="Arial" panose="020B0604020202020204"/>
              </a:rPr>
              <a:t>of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threads </a:t>
            </a:r>
            <a:r>
              <a:rPr sz="3200" spc="-185" dirty="0">
                <a:latin typeface="Arial" panose="020B0604020202020204"/>
                <a:cs typeface="Arial" panose="020B0604020202020204"/>
              </a:rPr>
              <a:t>– </a:t>
            </a:r>
            <a:r>
              <a:rPr sz="3200" spc="-120" dirty="0">
                <a:latin typeface="Arial" panose="020B0604020202020204"/>
                <a:cs typeface="Arial" panose="020B0604020202020204"/>
              </a:rPr>
              <a:t>very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hard</a:t>
            </a:r>
            <a:r>
              <a:rPr sz="3200" spc="-63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20" dirty="0">
                <a:latin typeface="Arial" panose="020B0604020202020204"/>
                <a:cs typeface="Arial" panose="020B0604020202020204"/>
              </a:rPr>
              <a:t>to  </a:t>
            </a:r>
            <a:r>
              <a:rPr sz="3200" spc="-155" dirty="0">
                <a:latin typeface="Arial" panose="020B0604020202020204"/>
                <a:cs typeface="Arial" panose="020B0604020202020204"/>
              </a:rPr>
              <a:t>debug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225" dirty="0">
                <a:latin typeface="Arial" panose="020B0604020202020204"/>
                <a:cs typeface="Arial" panose="020B0604020202020204"/>
              </a:rPr>
              <a:t>Two </a:t>
            </a:r>
            <a:r>
              <a:rPr sz="3200" spc="-125" dirty="0">
                <a:latin typeface="Arial" panose="020B0604020202020204"/>
                <a:cs typeface="Arial" panose="020B0604020202020204"/>
              </a:rPr>
              <a:t>types </a:t>
            </a:r>
            <a:r>
              <a:rPr sz="3200" spc="-5" dirty="0">
                <a:latin typeface="Arial" panose="020B0604020202020204"/>
                <a:cs typeface="Arial" panose="020B0604020202020204"/>
              </a:rPr>
              <a:t>of</a:t>
            </a:r>
            <a:r>
              <a:rPr sz="3200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210" dirty="0">
                <a:latin typeface="Arial" panose="020B0604020202020204"/>
                <a:cs typeface="Arial" panose="020B0604020202020204"/>
              </a:rPr>
              <a:t>bugs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756285" marR="175260" lvl="1" indent="-286385">
              <a:lnSpc>
                <a:spcPts val="3020"/>
              </a:lnSpc>
              <a:spcBef>
                <a:spcPts val="740"/>
              </a:spcBef>
              <a:buChar char="–"/>
              <a:tabLst>
                <a:tab pos="756920" algn="l"/>
              </a:tabLst>
            </a:pPr>
            <a:r>
              <a:rPr sz="2800" spc="-160" dirty="0">
                <a:latin typeface="Arial" panose="020B0604020202020204"/>
                <a:cs typeface="Arial" panose="020B0604020202020204"/>
              </a:rPr>
              <a:t>Deadlocks: </a:t>
            </a:r>
            <a:r>
              <a:rPr sz="2800" spc="-105" dirty="0">
                <a:latin typeface="Arial" panose="020B0604020202020204"/>
                <a:cs typeface="Arial" panose="020B0604020202020204"/>
              </a:rPr>
              <a:t>threads </a:t>
            </a:r>
            <a:r>
              <a:rPr sz="2800" spc="-100" dirty="0">
                <a:latin typeface="Arial" panose="020B0604020202020204"/>
                <a:cs typeface="Arial" panose="020B0604020202020204"/>
              </a:rPr>
              <a:t>cannot </a:t>
            </a:r>
            <a:r>
              <a:rPr sz="2800" spc="-145" dirty="0">
                <a:latin typeface="Arial" panose="020B0604020202020204"/>
                <a:cs typeface="Arial" panose="020B0604020202020204"/>
              </a:rPr>
              <a:t>execute </a:t>
            </a:r>
            <a:r>
              <a:rPr sz="2800" spc="-170" dirty="0">
                <a:latin typeface="Arial" panose="020B0604020202020204"/>
                <a:cs typeface="Arial" panose="020B0604020202020204"/>
              </a:rPr>
              <a:t>any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further  </a:t>
            </a:r>
            <a:r>
              <a:rPr sz="2800" spc="-135" dirty="0">
                <a:latin typeface="Arial" panose="020B0604020202020204"/>
                <a:cs typeface="Arial" panose="020B0604020202020204"/>
              </a:rPr>
              <a:t>and </a:t>
            </a:r>
            <a:r>
              <a:rPr sz="2800" spc="-30" dirty="0">
                <a:latin typeface="Arial" panose="020B0604020202020204"/>
                <a:cs typeface="Arial" panose="020B0604020202020204"/>
              </a:rPr>
              <a:t>wait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for </a:t>
            </a:r>
            <a:r>
              <a:rPr sz="2800" spc="-175" dirty="0">
                <a:latin typeface="Arial" panose="020B0604020202020204"/>
                <a:cs typeface="Arial" panose="020B0604020202020204"/>
              </a:rPr>
              <a:t>each</a:t>
            </a:r>
            <a:r>
              <a:rPr sz="2800" spc="-420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35" dirty="0">
                <a:latin typeface="Arial" panose="020B0604020202020204"/>
                <a:cs typeface="Arial" panose="020B0604020202020204"/>
              </a:rPr>
              <a:t>other</a:t>
            </a:r>
            <a:endParaRPr sz="2800" dirty="0">
              <a:latin typeface="Arial" panose="020B0604020202020204"/>
              <a:cs typeface="Arial" panose="020B0604020202020204"/>
            </a:endParaRPr>
          </a:p>
          <a:p>
            <a:pPr marL="756285" marR="53340" lvl="1" indent="-286385">
              <a:lnSpc>
                <a:spcPts val="3020"/>
              </a:lnSpc>
              <a:spcBef>
                <a:spcPts val="680"/>
              </a:spcBef>
              <a:buChar char="–"/>
              <a:tabLst>
                <a:tab pos="756920" algn="l"/>
              </a:tabLst>
            </a:pPr>
            <a:r>
              <a:rPr sz="2800" spc="-125" dirty="0">
                <a:latin typeface="Arial" panose="020B0604020202020204"/>
                <a:cs typeface="Arial" panose="020B0604020202020204"/>
              </a:rPr>
              <a:t>Non-deadlock </a:t>
            </a:r>
            <a:r>
              <a:rPr sz="2800" spc="-155" dirty="0">
                <a:latin typeface="Arial" panose="020B0604020202020204"/>
                <a:cs typeface="Arial" panose="020B0604020202020204"/>
              </a:rPr>
              <a:t>bugs: </a:t>
            </a:r>
            <a:r>
              <a:rPr sz="2800" spc="-90" dirty="0">
                <a:latin typeface="Arial" panose="020B0604020202020204"/>
                <a:cs typeface="Arial" panose="020B0604020202020204"/>
              </a:rPr>
              <a:t>non </a:t>
            </a:r>
            <a:r>
              <a:rPr sz="2800" spc="-125" dirty="0">
                <a:latin typeface="Arial" panose="020B0604020202020204"/>
                <a:cs typeface="Arial" panose="020B0604020202020204"/>
              </a:rPr>
              <a:t>deadlock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but</a:t>
            </a:r>
            <a:r>
              <a:rPr sz="2800" spc="-170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70" dirty="0">
                <a:latin typeface="Arial" panose="020B0604020202020204"/>
                <a:cs typeface="Arial" panose="020B0604020202020204"/>
              </a:rPr>
              <a:t>incorrect  </a:t>
            </a:r>
            <a:r>
              <a:rPr sz="2800" spc="-105" dirty="0">
                <a:latin typeface="Arial" panose="020B0604020202020204"/>
                <a:cs typeface="Arial" panose="020B0604020202020204"/>
              </a:rPr>
              <a:t>results </a:t>
            </a:r>
            <a:r>
              <a:rPr sz="2800" spc="-95" dirty="0">
                <a:latin typeface="Arial" panose="020B0604020202020204"/>
                <a:cs typeface="Arial" panose="020B0604020202020204"/>
              </a:rPr>
              <a:t>when </a:t>
            </a:r>
            <a:r>
              <a:rPr sz="2800" spc="-105" dirty="0">
                <a:latin typeface="Arial" panose="020B0604020202020204"/>
                <a:cs typeface="Arial" panose="020B0604020202020204"/>
              </a:rPr>
              <a:t>threads</a:t>
            </a:r>
            <a:r>
              <a:rPr sz="2800" spc="-204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45" dirty="0">
                <a:latin typeface="Arial" panose="020B0604020202020204"/>
                <a:cs typeface="Arial" panose="020B0604020202020204"/>
              </a:rPr>
              <a:t>execute</a:t>
            </a:r>
            <a:endParaRPr sz="2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6102" y="918781"/>
            <a:ext cx="43395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0" dirty="0"/>
              <a:t>Non </a:t>
            </a:r>
            <a:r>
              <a:rPr spc="-190" dirty="0"/>
              <a:t>deadlock</a:t>
            </a:r>
            <a:r>
              <a:rPr spc="-375" dirty="0"/>
              <a:t> </a:t>
            </a:r>
            <a:r>
              <a:rPr spc="-285" dirty="0"/>
              <a:t>bugs</a:t>
            </a:r>
            <a:endParaRPr spc="-285" dirty="0"/>
          </a:p>
        </p:txBody>
      </p:sp>
      <p:sp>
        <p:nvSpPr>
          <p:cNvPr id="6" name="object 6"/>
          <p:cNvSpPr txBox="1"/>
          <p:nvPr/>
        </p:nvSpPr>
        <p:spPr>
          <a:xfrm>
            <a:off x="533400" y="2590800"/>
            <a:ext cx="8035925" cy="4076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  <a:tab pos="3281045" algn="l"/>
              </a:tabLst>
            </a:pPr>
            <a:r>
              <a:rPr sz="3200" spc="-75" dirty="0">
                <a:latin typeface="Arial" panose="020B0604020202020204"/>
                <a:cs typeface="Arial" panose="020B0604020202020204"/>
              </a:rPr>
              <a:t>Atomicity</a:t>
            </a:r>
            <a:r>
              <a:rPr sz="3200" spc="-13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210" dirty="0">
                <a:latin typeface="Arial" panose="020B0604020202020204"/>
                <a:cs typeface="Arial" panose="020B0604020202020204"/>
              </a:rPr>
              <a:t>bugs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85" dirty="0">
                <a:latin typeface="Arial" panose="020B0604020202020204"/>
                <a:cs typeface="Arial" panose="020B0604020202020204"/>
              </a:rPr>
              <a:t>–	</a:t>
            </a:r>
            <a:r>
              <a:rPr sz="3200" spc="-60" dirty="0">
                <a:latin typeface="Arial" panose="020B0604020202020204"/>
                <a:cs typeface="Arial" panose="020B0604020202020204"/>
              </a:rPr>
              <a:t>atomicity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assumptions</a:t>
            </a:r>
            <a:r>
              <a:rPr sz="3200" spc="-27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65" dirty="0">
                <a:latin typeface="Arial" panose="020B0604020202020204"/>
                <a:cs typeface="Arial" panose="020B0604020202020204"/>
              </a:rPr>
              <a:t>made  </a:t>
            </a:r>
            <a:r>
              <a:rPr sz="3200" spc="-135" dirty="0">
                <a:latin typeface="Arial" panose="020B0604020202020204"/>
                <a:cs typeface="Arial" panose="020B0604020202020204"/>
              </a:rPr>
              <a:t>by 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programmer </a:t>
            </a:r>
            <a:r>
              <a:rPr sz="3200" spc="-140" dirty="0">
                <a:latin typeface="Arial" panose="020B0604020202020204"/>
                <a:cs typeface="Arial" panose="020B0604020202020204"/>
              </a:rPr>
              <a:t>are </a:t>
            </a:r>
            <a:r>
              <a:rPr sz="3200" spc="-80" dirty="0">
                <a:latin typeface="Arial" panose="020B0604020202020204"/>
                <a:cs typeface="Arial" panose="020B0604020202020204"/>
              </a:rPr>
              <a:t>violated </a:t>
            </a:r>
            <a:r>
              <a:rPr sz="3200" spc="-90" dirty="0">
                <a:latin typeface="Arial" panose="020B0604020202020204"/>
                <a:cs typeface="Arial" panose="020B0604020202020204"/>
              </a:rPr>
              <a:t>during </a:t>
            </a:r>
            <a:r>
              <a:rPr sz="3200" spc="-120" dirty="0">
                <a:latin typeface="Arial" panose="020B0604020202020204"/>
                <a:cs typeface="Arial" panose="020B0604020202020204"/>
              </a:rPr>
              <a:t>execution  </a:t>
            </a:r>
            <a:r>
              <a:rPr sz="3200" spc="-5" dirty="0">
                <a:latin typeface="Arial" panose="020B0604020202020204"/>
                <a:cs typeface="Arial" panose="020B0604020202020204"/>
              </a:rPr>
              <a:t>of </a:t>
            </a:r>
            <a:r>
              <a:rPr sz="3200" spc="-95" dirty="0">
                <a:latin typeface="Arial" panose="020B0604020202020204"/>
                <a:cs typeface="Arial" panose="020B0604020202020204"/>
              </a:rPr>
              <a:t>concurrent</a:t>
            </a:r>
            <a:r>
              <a:rPr sz="3200" spc="-38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threads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756285" lvl="1" indent="-286385">
              <a:lnSpc>
                <a:spcPct val="100000"/>
              </a:lnSpc>
              <a:spcBef>
                <a:spcPts val="685"/>
              </a:spcBef>
              <a:buChar char="–"/>
              <a:tabLst>
                <a:tab pos="756920" algn="l"/>
              </a:tabLst>
            </a:pPr>
            <a:r>
              <a:rPr sz="2800" spc="-165" dirty="0">
                <a:latin typeface="Arial" panose="020B0604020202020204"/>
                <a:cs typeface="Arial" panose="020B0604020202020204"/>
              </a:rPr>
              <a:t>Fix: </a:t>
            </a:r>
            <a:r>
              <a:rPr sz="2800" spc="-155" dirty="0">
                <a:latin typeface="Arial" panose="020B0604020202020204"/>
                <a:cs typeface="Arial" panose="020B0604020202020204"/>
              </a:rPr>
              <a:t>locks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for </a:t>
            </a:r>
            <a:r>
              <a:rPr sz="2800" spc="-60" dirty="0">
                <a:latin typeface="Arial" panose="020B0604020202020204"/>
                <a:cs typeface="Arial" panose="020B0604020202020204"/>
              </a:rPr>
              <a:t>mutual</a:t>
            </a:r>
            <a:r>
              <a:rPr sz="2800" spc="-240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40" dirty="0">
                <a:latin typeface="Arial" panose="020B0604020202020204"/>
                <a:cs typeface="Arial" panose="020B0604020202020204"/>
              </a:rPr>
              <a:t>exclusion</a:t>
            </a:r>
            <a:endParaRPr sz="2800" dirty="0">
              <a:latin typeface="Arial" panose="020B0604020202020204"/>
              <a:cs typeface="Arial" panose="020B0604020202020204"/>
            </a:endParaRPr>
          </a:p>
          <a:p>
            <a:pPr marL="355600" marR="121285" indent="-342900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80" dirty="0">
                <a:latin typeface="Arial" panose="020B0604020202020204"/>
                <a:cs typeface="Arial" panose="020B0604020202020204"/>
              </a:rPr>
              <a:t>Order-violation </a:t>
            </a:r>
            <a:r>
              <a:rPr sz="3200" spc="-210" dirty="0">
                <a:latin typeface="Arial" panose="020B0604020202020204"/>
                <a:cs typeface="Arial" panose="020B0604020202020204"/>
              </a:rPr>
              <a:t>bugs </a:t>
            </a:r>
            <a:r>
              <a:rPr sz="3200" spc="-185" dirty="0">
                <a:latin typeface="Arial" panose="020B0604020202020204"/>
                <a:cs typeface="Arial" panose="020B0604020202020204"/>
              </a:rPr>
              <a:t>–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desired </a:t>
            </a:r>
            <a:r>
              <a:rPr sz="3200" spc="-70" dirty="0">
                <a:latin typeface="Arial" panose="020B0604020202020204"/>
                <a:cs typeface="Arial" panose="020B0604020202020204"/>
              </a:rPr>
              <a:t>order </a:t>
            </a:r>
            <a:r>
              <a:rPr sz="3200" spc="-10" dirty="0">
                <a:latin typeface="Arial" panose="020B0604020202020204"/>
                <a:cs typeface="Arial" panose="020B0604020202020204"/>
              </a:rPr>
              <a:t>of  </a:t>
            </a:r>
            <a:r>
              <a:rPr sz="3200" spc="-105" dirty="0">
                <a:latin typeface="Arial" panose="020B0604020202020204"/>
                <a:cs typeface="Arial" panose="020B0604020202020204"/>
              </a:rPr>
              <a:t>memory </a:t>
            </a:r>
            <a:r>
              <a:rPr sz="3200" spc="-275" dirty="0">
                <a:latin typeface="Arial" panose="020B0604020202020204"/>
                <a:cs typeface="Arial" panose="020B0604020202020204"/>
              </a:rPr>
              <a:t>accesses </a:t>
            </a:r>
            <a:r>
              <a:rPr sz="3200" spc="-165" dirty="0">
                <a:latin typeface="Arial" panose="020B0604020202020204"/>
                <a:cs typeface="Arial" panose="020B0604020202020204"/>
              </a:rPr>
              <a:t>is </a:t>
            </a:r>
            <a:r>
              <a:rPr sz="3200" spc="-55" dirty="0">
                <a:latin typeface="Arial" panose="020B0604020202020204"/>
                <a:cs typeface="Arial" panose="020B0604020202020204"/>
              </a:rPr>
              <a:t>flipped </a:t>
            </a:r>
            <a:r>
              <a:rPr sz="3200" spc="-90" dirty="0">
                <a:latin typeface="Arial" panose="020B0604020202020204"/>
                <a:cs typeface="Arial" panose="020B0604020202020204"/>
              </a:rPr>
              <a:t>during</a:t>
            </a:r>
            <a:r>
              <a:rPr sz="3200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95" dirty="0">
                <a:latin typeface="Arial" panose="020B0604020202020204"/>
                <a:cs typeface="Arial" panose="020B0604020202020204"/>
              </a:rPr>
              <a:t>concurrent  </a:t>
            </a:r>
            <a:r>
              <a:rPr sz="3200" spc="-120" dirty="0">
                <a:latin typeface="Arial" panose="020B0604020202020204"/>
                <a:cs typeface="Arial" panose="020B0604020202020204"/>
              </a:rPr>
              <a:t>execution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800" spc="-160" dirty="0">
                <a:latin typeface="Arial" panose="020B0604020202020204"/>
                <a:cs typeface="Arial" panose="020B0604020202020204"/>
              </a:rPr>
              <a:t>Fix: </a:t>
            </a:r>
            <a:r>
              <a:rPr sz="2800" spc="-60" dirty="0">
                <a:latin typeface="Arial" panose="020B0604020202020204"/>
                <a:cs typeface="Arial" panose="020B0604020202020204"/>
              </a:rPr>
              <a:t>condition</a:t>
            </a:r>
            <a:r>
              <a:rPr sz="2800" spc="-95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30" dirty="0">
                <a:latin typeface="Arial" panose="020B0604020202020204"/>
                <a:cs typeface="Arial" panose="020B0604020202020204"/>
              </a:rPr>
              <a:t>variables</a:t>
            </a:r>
            <a:endParaRPr sz="2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8610" y="918781"/>
            <a:ext cx="53536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Atomicity </a:t>
            </a:r>
            <a:r>
              <a:rPr spc="-175" dirty="0"/>
              <a:t>bug:</a:t>
            </a:r>
            <a:r>
              <a:rPr spc="-465" dirty="0"/>
              <a:t> </a:t>
            </a:r>
            <a:r>
              <a:rPr spc="-220" dirty="0"/>
              <a:t>example</a:t>
            </a:r>
            <a:endParaRPr spc="-220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66035"/>
            <a:ext cx="77552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210" dirty="0">
                <a:latin typeface="Arial" panose="020B0604020202020204"/>
                <a:cs typeface="Arial" panose="020B0604020202020204"/>
              </a:rPr>
              <a:t>One </a:t>
            </a:r>
            <a:r>
              <a:rPr sz="3000" spc="-75" dirty="0">
                <a:latin typeface="Arial" panose="020B0604020202020204"/>
                <a:cs typeface="Arial" panose="020B0604020202020204"/>
              </a:rPr>
              <a:t>thread </a:t>
            </a:r>
            <a:r>
              <a:rPr sz="3000" spc="-170" dirty="0">
                <a:latin typeface="Arial" panose="020B0604020202020204"/>
                <a:cs typeface="Arial" panose="020B0604020202020204"/>
              </a:rPr>
              <a:t>reads </a:t>
            </a:r>
            <a:r>
              <a:rPr sz="3000" spc="-145" dirty="0">
                <a:latin typeface="Arial" panose="020B0604020202020204"/>
                <a:cs typeface="Arial" panose="020B0604020202020204"/>
              </a:rPr>
              <a:t>and </a:t>
            </a:r>
            <a:r>
              <a:rPr sz="3000" spc="-55" dirty="0">
                <a:latin typeface="Arial" panose="020B0604020202020204"/>
                <a:cs typeface="Arial" panose="020B0604020202020204"/>
              </a:rPr>
              <a:t>prints </a:t>
            </a:r>
            <a:r>
              <a:rPr sz="3000" spc="-235" dirty="0">
                <a:latin typeface="Arial" panose="020B0604020202020204"/>
                <a:cs typeface="Arial" panose="020B0604020202020204"/>
              </a:rPr>
              <a:t>a </a:t>
            </a:r>
            <a:r>
              <a:rPr sz="3000" spc="-155" dirty="0">
                <a:latin typeface="Arial" panose="020B0604020202020204"/>
                <a:cs typeface="Arial" panose="020B0604020202020204"/>
              </a:rPr>
              <a:t>shared </a:t>
            </a:r>
            <a:r>
              <a:rPr sz="3000" spc="-114" dirty="0">
                <a:latin typeface="Arial" panose="020B0604020202020204"/>
                <a:cs typeface="Arial" panose="020B0604020202020204"/>
              </a:rPr>
              <a:t>data</a:t>
            </a:r>
            <a:r>
              <a:rPr sz="3000" spc="-280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45" dirty="0">
                <a:latin typeface="Arial" panose="020B0604020202020204"/>
                <a:cs typeface="Arial" panose="020B0604020202020204"/>
              </a:rPr>
              <a:t>item,  </a:t>
            </a:r>
            <a:r>
              <a:rPr sz="3000" spc="-55" dirty="0">
                <a:latin typeface="Arial" panose="020B0604020202020204"/>
                <a:cs typeface="Arial" panose="020B0604020202020204"/>
              </a:rPr>
              <a:t>while </a:t>
            </a:r>
            <a:r>
              <a:rPr sz="3000" spc="-70" dirty="0">
                <a:latin typeface="Arial" panose="020B0604020202020204"/>
                <a:cs typeface="Arial" panose="020B0604020202020204"/>
              </a:rPr>
              <a:t>another </a:t>
            </a:r>
            <a:r>
              <a:rPr sz="3000" spc="-85" dirty="0">
                <a:latin typeface="Arial" panose="020B0604020202020204"/>
                <a:cs typeface="Arial" panose="020B0604020202020204"/>
              </a:rPr>
              <a:t>concurrently </a:t>
            </a:r>
            <a:r>
              <a:rPr sz="3000" spc="-90" dirty="0">
                <a:latin typeface="Arial" panose="020B0604020202020204"/>
                <a:cs typeface="Arial" panose="020B0604020202020204"/>
              </a:rPr>
              <a:t>modifies</a:t>
            </a:r>
            <a:r>
              <a:rPr sz="3000" spc="-44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90" dirty="0">
                <a:latin typeface="Arial" panose="020B0604020202020204"/>
                <a:cs typeface="Arial" panose="020B0604020202020204"/>
              </a:rPr>
              <a:t>it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00905" y="3335928"/>
            <a:ext cx="2894842" cy="55179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88335" y="3636264"/>
            <a:ext cx="27940" cy="13970"/>
          </a:xfrm>
          <a:custGeom>
            <a:avLst/>
            <a:gdLst/>
            <a:ahLst/>
            <a:cxnLst/>
            <a:rect l="l" t="t" r="r" b="b"/>
            <a:pathLst>
              <a:path w="27939" h="13970">
                <a:moveTo>
                  <a:pt x="19594" y="13498"/>
                </a:moveTo>
                <a:lnTo>
                  <a:pt x="19812" y="13715"/>
                </a:lnTo>
                <a:lnTo>
                  <a:pt x="21336" y="13715"/>
                </a:lnTo>
                <a:lnTo>
                  <a:pt x="19594" y="13498"/>
                </a:lnTo>
                <a:close/>
              </a:path>
              <a:path w="27939" h="13970">
                <a:moveTo>
                  <a:pt x="22859" y="3048"/>
                </a:moveTo>
                <a:lnTo>
                  <a:pt x="19812" y="3048"/>
                </a:lnTo>
                <a:lnTo>
                  <a:pt x="16763" y="6096"/>
                </a:lnTo>
                <a:lnTo>
                  <a:pt x="16763" y="10668"/>
                </a:lnTo>
                <a:lnTo>
                  <a:pt x="19594" y="13498"/>
                </a:lnTo>
                <a:lnTo>
                  <a:pt x="21336" y="13715"/>
                </a:lnTo>
                <a:lnTo>
                  <a:pt x="22859" y="3048"/>
                </a:lnTo>
                <a:close/>
              </a:path>
              <a:path w="27939" h="13970">
                <a:moveTo>
                  <a:pt x="25907" y="3048"/>
                </a:moveTo>
                <a:lnTo>
                  <a:pt x="22859" y="3048"/>
                </a:lnTo>
                <a:lnTo>
                  <a:pt x="21336" y="13715"/>
                </a:lnTo>
                <a:lnTo>
                  <a:pt x="25907" y="13715"/>
                </a:lnTo>
                <a:lnTo>
                  <a:pt x="27431" y="10668"/>
                </a:lnTo>
                <a:lnTo>
                  <a:pt x="27431" y="6096"/>
                </a:lnTo>
                <a:lnTo>
                  <a:pt x="25907" y="3048"/>
                </a:lnTo>
                <a:close/>
              </a:path>
              <a:path w="27939" h="13970">
                <a:moveTo>
                  <a:pt x="12191" y="9144"/>
                </a:moveTo>
                <a:lnTo>
                  <a:pt x="9347" y="10566"/>
                </a:lnTo>
                <a:lnTo>
                  <a:pt x="9143" y="12191"/>
                </a:lnTo>
                <a:lnTo>
                  <a:pt x="19594" y="13498"/>
                </a:lnTo>
                <a:lnTo>
                  <a:pt x="18287" y="12191"/>
                </a:lnTo>
                <a:lnTo>
                  <a:pt x="10668" y="12191"/>
                </a:lnTo>
                <a:lnTo>
                  <a:pt x="12191" y="9144"/>
                </a:lnTo>
                <a:close/>
              </a:path>
              <a:path w="27939" h="13970">
                <a:moveTo>
                  <a:pt x="1524" y="10668"/>
                </a:moveTo>
                <a:lnTo>
                  <a:pt x="3047" y="12191"/>
                </a:lnTo>
                <a:lnTo>
                  <a:pt x="4571" y="12191"/>
                </a:lnTo>
                <a:lnTo>
                  <a:pt x="1524" y="10668"/>
                </a:lnTo>
                <a:close/>
              </a:path>
              <a:path w="27939" h="13970">
                <a:moveTo>
                  <a:pt x="1524" y="9144"/>
                </a:moveTo>
                <a:lnTo>
                  <a:pt x="1524" y="10668"/>
                </a:lnTo>
                <a:lnTo>
                  <a:pt x="4571" y="12191"/>
                </a:lnTo>
                <a:lnTo>
                  <a:pt x="6095" y="12191"/>
                </a:lnTo>
                <a:lnTo>
                  <a:pt x="6095" y="10668"/>
                </a:lnTo>
                <a:lnTo>
                  <a:pt x="4571" y="10668"/>
                </a:lnTo>
                <a:lnTo>
                  <a:pt x="1524" y="9144"/>
                </a:lnTo>
                <a:close/>
              </a:path>
              <a:path w="27939" h="13970">
                <a:moveTo>
                  <a:pt x="6096" y="10668"/>
                </a:moveTo>
                <a:lnTo>
                  <a:pt x="6095" y="12191"/>
                </a:lnTo>
                <a:lnTo>
                  <a:pt x="7619" y="12191"/>
                </a:lnTo>
                <a:lnTo>
                  <a:pt x="6096" y="10668"/>
                </a:lnTo>
                <a:close/>
              </a:path>
              <a:path w="27939" h="13970">
                <a:moveTo>
                  <a:pt x="7619" y="0"/>
                </a:moveTo>
                <a:lnTo>
                  <a:pt x="6095" y="1524"/>
                </a:lnTo>
                <a:lnTo>
                  <a:pt x="6096" y="10668"/>
                </a:lnTo>
                <a:lnTo>
                  <a:pt x="7619" y="12191"/>
                </a:lnTo>
                <a:lnTo>
                  <a:pt x="7619" y="0"/>
                </a:lnTo>
                <a:close/>
              </a:path>
              <a:path w="27939" h="13970">
                <a:moveTo>
                  <a:pt x="7619" y="1524"/>
                </a:moveTo>
                <a:lnTo>
                  <a:pt x="7619" y="12191"/>
                </a:lnTo>
                <a:lnTo>
                  <a:pt x="9143" y="12191"/>
                </a:lnTo>
                <a:lnTo>
                  <a:pt x="9143" y="5334"/>
                </a:lnTo>
                <a:lnTo>
                  <a:pt x="7619" y="1524"/>
                </a:lnTo>
                <a:close/>
              </a:path>
              <a:path w="27939" h="13970">
                <a:moveTo>
                  <a:pt x="9347" y="10566"/>
                </a:moveTo>
                <a:lnTo>
                  <a:pt x="9143" y="10668"/>
                </a:lnTo>
                <a:lnTo>
                  <a:pt x="9143" y="12191"/>
                </a:lnTo>
                <a:lnTo>
                  <a:pt x="9347" y="10566"/>
                </a:lnTo>
                <a:close/>
              </a:path>
              <a:path w="27939" h="13970">
                <a:moveTo>
                  <a:pt x="10668" y="0"/>
                </a:moveTo>
                <a:lnTo>
                  <a:pt x="12191" y="3048"/>
                </a:lnTo>
                <a:lnTo>
                  <a:pt x="12191" y="9144"/>
                </a:lnTo>
                <a:lnTo>
                  <a:pt x="10668" y="12191"/>
                </a:lnTo>
                <a:lnTo>
                  <a:pt x="13715" y="9144"/>
                </a:lnTo>
                <a:lnTo>
                  <a:pt x="13715" y="3048"/>
                </a:lnTo>
                <a:lnTo>
                  <a:pt x="10668" y="0"/>
                </a:lnTo>
                <a:close/>
              </a:path>
              <a:path w="27939" h="13970">
                <a:moveTo>
                  <a:pt x="13715" y="9144"/>
                </a:moveTo>
                <a:lnTo>
                  <a:pt x="10668" y="12191"/>
                </a:lnTo>
                <a:lnTo>
                  <a:pt x="13715" y="10668"/>
                </a:lnTo>
                <a:lnTo>
                  <a:pt x="13715" y="9144"/>
                </a:lnTo>
                <a:close/>
              </a:path>
              <a:path w="27939" h="13970">
                <a:moveTo>
                  <a:pt x="10668" y="0"/>
                </a:moveTo>
                <a:lnTo>
                  <a:pt x="13715" y="3048"/>
                </a:lnTo>
                <a:lnTo>
                  <a:pt x="13715" y="10668"/>
                </a:lnTo>
                <a:lnTo>
                  <a:pt x="10668" y="12191"/>
                </a:lnTo>
                <a:lnTo>
                  <a:pt x="12191" y="12191"/>
                </a:lnTo>
                <a:lnTo>
                  <a:pt x="15239" y="10668"/>
                </a:lnTo>
                <a:lnTo>
                  <a:pt x="15239" y="3048"/>
                </a:lnTo>
                <a:lnTo>
                  <a:pt x="12699" y="508"/>
                </a:lnTo>
                <a:lnTo>
                  <a:pt x="10668" y="0"/>
                </a:lnTo>
                <a:close/>
              </a:path>
              <a:path w="27939" h="13970">
                <a:moveTo>
                  <a:pt x="15239" y="10668"/>
                </a:moveTo>
                <a:lnTo>
                  <a:pt x="12191" y="12191"/>
                </a:lnTo>
                <a:lnTo>
                  <a:pt x="13715" y="12191"/>
                </a:lnTo>
                <a:lnTo>
                  <a:pt x="15239" y="10668"/>
                </a:lnTo>
                <a:close/>
              </a:path>
              <a:path w="27939" h="13970">
                <a:moveTo>
                  <a:pt x="16763" y="9144"/>
                </a:moveTo>
                <a:lnTo>
                  <a:pt x="13715" y="12191"/>
                </a:lnTo>
                <a:lnTo>
                  <a:pt x="18287" y="12191"/>
                </a:lnTo>
                <a:lnTo>
                  <a:pt x="16763" y="10668"/>
                </a:lnTo>
                <a:lnTo>
                  <a:pt x="16763" y="9144"/>
                </a:lnTo>
                <a:close/>
              </a:path>
              <a:path w="27939" h="13970">
                <a:moveTo>
                  <a:pt x="4571" y="0"/>
                </a:moveTo>
                <a:lnTo>
                  <a:pt x="3047" y="0"/>
                </a:lnTo>
                <a:lnTo>
                  <a:pt x="0" y="3048"/>
                </a:lnTo>
                <a:lnTo>
                  <a:pt x="0" y="9144"/>
                </a:lnTo>
                <a:lnTo>
                  <a:pt x="1524" y="10668"/>
                </a:lnTo>
                <a:lnTo>
                  <a:pt x="1524" y="3048"/>
                </a:lnTo>
                <a:lnTo>
                  <a:pt x="4571" y="0"/>
                </a:lnTo>
                <a:close/>
              </a:path>
              <a:path w="27939" h="13970">
                <a:moveTo>
                  <a:pt x="6095" y="1524"/>
                </a:moveTo>
                <a:lnTo>
                  <a:pt x="4571" y="1524"/>
                </a:lnTo>
                <a:lnTo>
                  <a:pt x="1524" y="3048"/>
                </a:lnTo>
                <a:lnTo>
                  <a:pt x="1524" y="9144"/>
                </a:lnTo>
                <a:lnTo>
                  <a:pt x="4571" y="10668"/>
                </a:lnTo>
                <a:lnTo>
                  <a:pt x="6096" y="10668"/>
                </a:lnTo>
                <a:lnTo>
                  <a:pt x="4571" y="9144"/>
                </a:lnTo>
                <a:lnTo>
                  <a:pt x="4571" y="3048"/>
                </a:lnTo>
                <a:lnTo>
                  <a:pt x="6095" y="1524"/>
                </a:lnTo>
                <a:close/>
              </a:path>
              <a:path w="27939" h="13970">
                <a:moveTo>
                  <a:pt x="4571" y="7620"/>
                </a:moveTo>
                <a:lnTo>
                  <a:pt x="4571" y="9144"/>
                </a:lnTo>
                <a:lnTo>
                  <a:pt x="6096" y="10668"/>
                </a:lnTo>
                <a:lnTo>
                  <a:pt x="6095" y="9144"/>
                </a:lnTo>
                <a:lnTo>
                  <a:pt x="4571" y="7620"/>
                </a:lnTo>
                <a:close/>
              </a:path>
              <a:path w="27939" h="13970">
                <a:moveTo>
                  <a:pt x="9143" y="5334"/>
                </a:moveTo>
                <a:lnTo>
                  <a:pt x="9143" y="10668"/>
                </a:lnTo>
                <a:lnTo>
                  <a:pt x="9347" y="10566"/>
                </a:lnTo>
                <a:lnTo>
                  <a:pt x="9797" y="6966"/>
                </a:lnTo>
                <a:lnTo>
                  <a:pt x="9143" y="5334"/>
                </a:lnTo>
                <a:close/>
              </a:path>
              <a:path w="27939" h="13970">
                <a:moveTo>
                  <a:pt x="12699" y="508"/>
                </a:moveTo>
                <a:lnTo>
                  <a:pt x="15239" y="3048"/>
                </a:lnTo>
                <a:lnTo>
                  <a:pt x="15239" y="10668"/>
                </a:lnTo>
                <a:lnTo>
                  <a:pt x="16763" y="9144"/>
                </a:lnTo>
                <a:lnTo>
                  <a:pt x="16763" y="3048"/>
                </a:lnTo>
                <a:lnTo>
                  <a:pt x="14731" y="1015"/>
                </a:lnTo>
                <a:lnTo>
                  <a:pt x="12699" y="508"/>
                </a:lnTo>
                <a:close/>
              </a:path>
              <a:path w="27939" h="13970">
                <a:moveTo>
                  <a:pt x="9797" y="6966"/>
                </a:moveTo>
                <a:lnTo>
                  <a:pt x="9347" y="10566"/>
                </a:lnTo>
                <a:lnTo>
                  <a:pt x="12191" y="9144"/>
                </a:lnTo>
                <a:lnTo>
                  <a:pt x="10668" y="9144"/>
                </a:lnTo>
                <a:lnTo>
                  <a:pt x="9797" y="6966"/>
                </a:lnTo>
                <a:close/>
              </a:path>
              <a:path w="27939" h="13970">
                <a:moveTo>
                  <a:pt x="6095" y="1524"/>
                </a:moveTo>
                <a:lnTo>
                  <a:pt x="4571" y="3048"/>
                </a:lnTo>
                <a:lnTo>
                  <a:pt x="4571" y="7620"/>
                </a:lnTo>
                <a:lnTo>
                  <a:pt x="6095" y="9144"/>
                </a:lnTo>
                <a:lnTo>
                  <a:pt x="6095" y="1524"/>
                </a:lnTo>
                <a:close/>
              </a:path>
              <a:path w="27939" h="13970">
                <a:moveTo>
                  <a:pt x="10210" y="3657"/>
                </a:moveTo>
                <a:lnTo>
                  <a:pt x="9797" y="6966"/>
                </a:lnTo>
                <a:lnTo>
                  <a:pt x="10668" y="9144"/>
                </a:lnTo>
                <a:lnTo>
                  <a:pt x="12191" y="7620"/>
                </a:lnTo>
                <a:lnTo>
                  <a:pt x="10210" y="3657"/>
                </a:lnTo>
                <a:close/>
              </a:path>
              <a:path w="27939" h="13970">
                <a:moveTo>
                  <a:pt x="12191" y="7620"/>
                </a:moveTo>
                <a:lnTo>
                  <a:pt x="10668" y="9144"/>
                </a:lnTo>
                <a:lnTo>
                  <a:pt x="12191" y="9144"/>
                </a:lnTo>
                <a:lnTo>
                  <a:pt x="12191" y="7620"/>
                </a:lnTo>
                <a:close/>
              </a:path>
              <a:path w="27939" h="13970">
                <a:moveTo>
                  <a:pt x="10399" y="2151"/>
                </a:moveTo>
                <a:lnTo>
                  <a:pt x="10210" y="3657"/>
                </a:lnTo>
                <a:lnTo>
                  <a:pt x="12191" y="7620"/>
                </a:lnTo>
                <a:lnTo>
                  <a:pt x="12191" y="3048"/>
                </a:lnTo>
                <a:lnTo>
                  <a:pt x="10399" y="2151"/>
                </a:lnTo>
                <a:close/>
              </a:path>
              <a:path w="27939" h="13970">
                <a:moveTo>
                  <a:pt x="9143" y="1524"/>
                </a:moveTo>
                <a:lnTo>
                  <a:pt x="9143" y="5334"/>
                </a:lnTo>
                <a:lnTo>
                  <a:pt x="9797" y="6966"/>
                </a:lnTo>
                <a:lnTo>
                  <a:pt x="10210" y="3657"/>
                </a:lnTo>
                <a:lnTo>
                  <a:pt x="9143" y="1524"/>
                </a:lnTo>
                <a:close/>
              </a:path>
              <a:path w="27939" h="13970">
                <a:moveTo>
                  <a:pt x="14731" y="1015"/>
                </a:moveTo>
                <a:lnTo>
                  <a:pt x="16763" y="3048"/>
                </a:lnTo>
                <a:lnTo>
                  <a:pt x="16763" y="6096"/>
                </a:lnTo>
                <a:lnTo>
                  <a:pt x="19812" y="3048"/>
                </a:lnTo>
                <a:lnTo>
                  <a:pt x="22859" y="3048"/>
                </a:lnTo>
                <a:lnTo>
                  <a:pt x="14731" y="1015"/>
                </a:lnTo>
                <a:close/>
              </a:path>
              <a:path w="27939" h="13970">
                <a:moveTo>
                  <a:pt x="9143" y="0"/>
                </a:moveTo>
                <a:lnTo>
                  <a:pt x="7619" y="0"/>
                </a:lnTo>
                <a:lnTo>
                  <a:pt x="7619" y="1524"/>
                </a:lnTo>
                <a:lnTo>
                  <a:pt x="9143" y="5334"/>
                </a:lnTo>
                <a:lnTo>
                  <a:pt x="9143" y="0"/>
                </a:lnTo>
                <a:close/>
              </a:path>
              <a:path w="27939" h="13970">
                <a:moveTo>
                  <a:pt x="9143" y="1524"/>
                </a:moveTo>
                <a:lnTo>
                  <a:pt x="10210" y="3657"/>
                </a:lnTo>
                <a:lnTo>
                  <a:pt x="10399" y="2151"/>
                </a:lnTo>
                <a:lnTo>
                  <a:pt x="9143" y="1524"/>
                </a:lnTo>
                <a:close/>
              </a:path>
              <a:path w="27939" h="13970">
                <a:moveTo>
                  <a:pt x="6095" y="0"/>
                </a:moveTo>
                <a:lnTo>
                  <a:pt x="4571" y="0"/>
                </a:lnTo>
                <a:lnTo>
                  <a:pt x="1524" y="3048"/>
                </a:lnTo>
                <a:lnTo>
                  <a:pt x="4571" y="1524"/>
                </a:lnTo>
                <a:lnTo>
                  <a:pt x="6095" y="1524"/>
                </a:lnTo>
                <a:lnTo>
                  <a:pt x="6095" y="0"/>
                </a:lnTo>
                <a:close/>
              </a:path>
              <a:path w="27939" h="13970">
                <a:moveTo>
                  <a:pt x="10668" y="0"/>
                </a:moveTo>
                <a:lnTo>
                  <a:pt x="10399" y="2151"/>
                </a:lnTo>
                <a:lnTo>
                  <a:pt x="12191" y="3048"/>
                </a:lnTo>
                <a:lnTo>
                  <a:pt x="10668" y="1524"/>
                </a:lnTo>
                <a:lnTo>
                  <a:pt x="11429" y="1524"/>
                </a:lnTo>
                <a:lnTo>
                  <a:pt x="10668" y="0"/>
                </a:lnTo>
                <a:close/>
              </a:path>
              <a:path w="27939" h="13970">
                <a:moveTo>
                  <a:pt x="11429" y="1524"/>
                </a:moveTo>
                <a:lnTo>
                  <a:pt x="10668" y="1524"/>
                </a:lnTo>
                <a:lnTo>
                  <a:pt x="12191" y="3048"/>
                </a:lnTo>
                <a:lnTo>
                  <a:pt x="11429" y="1524"/>
                </a:lnTo>
                <a:close/>
              </a:path>
              <a:path w="27939" h="13970">
                <a:moveTo>
                  <a:pt x="10668" y="0"/>
                </a:moveTo>
                <a:lnTo>
                  <a:pt x="9143" y="0"/>
                </a:lnTo>
                <a:lnTo>
                  <a:pt x="9143" y="1524"/>
                </a:lnTo>
                <a:lnTo>
                  <a:pt x="10399" y="2151"/>
                </a:lnTo>
                <a:lnTo>
                  <a:pt x="10668" y="0"/>
                </a:lnTo>
                <a:close/>
              </a:path>
              <a:path w="27939" h="13970">
                <a:moveTo>
                  <a:pt x="7619" y="0"/>
                </a:moveTo>
                <a:lnTo>
                  <a:pt x="6095" y="0"/>
                </a:lnTo>
                <a:lnTo>
                  <a:pt x="6095" y="1524"/>
                </a:lnTo>
                <a:lnTo>
                  <a:pt x="7619" y="0"/>
                </a:lnTo>
                <a:close/>
              </a:path>
              <a:path w="27939" h="13970">
                <a:moveTo>
                  <a:pt x="13715" y="0"/>
                </a:moveTo>
                <a:lnTo>
                  <a:pt x="12191" y="0"/>
                </a:lnTo>
                <a:lnTo>
                  <a:pt x="12699" y="508"/>
                </a:lnTo>
                <a:lnTo>
                  <a:pt x="14731" y="1015"/>
                </a:lnTo>
                <a:lnTo>
                  <a:pt x="13715" y="0"/>
                </a:lnTo>
                <a:close/>
              </a:path>
              <a:path w="27939" h="13970">
                <a:moveTo>
                  <a:pt x="12191" y="0"/>
                </a:moveTo>
                <a:lnTo>
                  <a:pt x="10668" y="0"/>
                </a:lnTo>
                <a:lnTo>
                  <a:pt x="12699" y="508"/>
                </a:lnTo>
                <a:lnTo>
                  <a:pt x="1219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93139" y="5815076"/>
            <a:ext cx="766190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65" dirty="0">
                <a:latin typeface="Arial" panose="020B0604020202020204"/>
                <a:cs typeface="Arial" panose="020B0604020202020204"/>
              </a:rPr>
              <a:t>Atomicity </a:t>
            </a:r>
            <a:r>
              <a:rPr sz="3000" spc="-195" dirty="0">
                <a:latin typeface="Arial" panose="020B0604020202020204"/>
                <a:cs typeface="Arial" panose="020B0604020202020204"/>
              </a:rPr>
              <a:t>bugs can </a:t>
            </a:r>
            <a:r>
              <a:rPr sz="3000" spc="-160" dirty="0">
                <a:latin typeface="Arial" panose="020B0604020202020204"/>
                <a:cs typeface="Arial" panose="020B0604020202020204"/>
              </a:rPr>
              <a:t>occur, </a:t>
            </a:r>
            <a:r>
              <a:rPr sz="3000" spc="-10" dirty="0">
                <a:latin typeface="Arial" panose="020B0604020202020204"/>
                <a:cs typeface="Arial" panose="020B0604020202020204"/>
              </a:rPr>
              <a:t>not </a:t>
            </a:r>
            <a:r>
              <a:rPr sz="3000" spc="-65" dirty="0">
                <a:latin typeface="Arial" panose="020B0604020202020204"/>
                <a:cs typeface="Arial" panose="020B0604020202020204"/>
              </a:rPr>
              <a:t>just </a:t>
            </a:r>
            <a:r>
              <a:rPr sz="3000" spc="-100" dirty="0">
                <a:latin typeface="Arial" panose="020B0604020202020204"/>
                <a:cs typeface="Arial" panose="020B0604020202020204"/>
              </a:rPr>
              <a:t>when</a:t>
            </a:r>
            <a:r>
              <a:rPr sz="3000" spc="-50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20" dirty="0">
                <a:latin typeface="Arial" panose="020B0604020202020204"/>
                <a:cs typeface="Arial" panose="020B0604020202020204"/>
              </a:rPr>
              <a:t>writing  </a:t>
            </a:r>
            <a:r>
              <a:rPr sz="3000" spc="30" dirty="0">
                <a:latin typeface="Arial" panose="020B0604020202020204"/>
                <a:cs typeface="Arial" panose="020B0604020202020204"/>
              </a:rPr>
              <a:t>to </a:t>
            </a:r>
            <a:r>
              <a:rPr sz="3000" spc="-155" dirty="0">
                <a:latin typeface="Arial" panose="020B0604020202020204"/>
                <a:cs typeface="Arial" panose="020B0604020202020204"/>
              </a:rPr>
              <a:t>shared </a:t>
            </a:r>
            <a:r>
              <a:rPr sz="3000" spc="-110" dirty="0">
                <a:latin typeface="Arial" panose="020B0604020202020204"/>
                <a:cs typeface="Arial" panose="020B0604020202020204"/>
              </a:rPr>
              <a:t>data, </a:t>
            </a:r>
            <a:r>
              <a:rPr sz="3000" spc="-10" dirty="0">
                <a:latin typeface="Arial" panose="020B0604020202020204"/>
                <a:cs typeface="Arial" panose="020B0604020202020204"/>
              </a:rPr>
              <a:t>but</a:t>
            </a:r>
            <a:r>
              <a:rPr sz="3000" spc="-58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60" dirty="0">
                <a:latin typeface="Arial" panose="020B0604020202020204"/>
                <a:cs typeface="Arial" panose="020B0604020202020204"/>
              </a:rPr>
              <a:t>even </a:t>
            </a:r>
            <a:r>
              <a:rPr sz="3000" spc="-100" dirty="0">
                <a:latin typeface="Arial" panose="020B0604020202020204"/>
                <a:cs typeface="Arial" panose="020B0604020202020204"/>
              </a:rPr>
              <a:t>when </a:t>
            </a:r>
            <a:r>
              <a:rPr sz="3000" spc="-120" dirty="0">
                <a:latin typeface="Arial" panose="020B0604020202020204"/>
                <a:cs typeface="Arial" panose="020B0604020202020204"/>
              </a:rPr>
              <a:t>reading </a:t>
            </a:r>
            <a:r>
              <a:rPr sz="3000" spc="90" dirty="0">
                <a:latin typeface="Arial" panose="020B0604020202020204"/>
                <a:cs typeface="Arial" panose="020B0604020202020204"/>
              </a:rPr>
              <a:t>it</a:t>
            </a:r>
            <a:endParaRPr sz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87089" y="3886200"/>
            <a:ext cx="3979129" cy="15213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003291" y="3904488"/>
            <a:ext cx="33655" cy="20320"/>
          </a:xfrm>
          <a:custGeom>
            <a:avLst/>
            <a:gdLst/>
            <a:ahLst/>
            <a:cxnLst/>
            <a:rect l="l" t="t" r="r" b="b"/>
            <a:pathLst>
              <a:path w="33654" h="20320">
                <a:moveTo>
                  <a:pt x="0" y="15239"/>
                </a:moveTo>
                <a:lnTo>
                  <a:pt x="0" y="16763"/>
                </a:lnTo>
                <a:lnTo>
                  <a:pt x="3048" y="19812"/>
                </a:lnTo>
                <a:lnTo>
                  <a:pt x="4572" y="19812"/>
                </a:lnTo>
                <a:lnTo>
                  <a:pt x="0" y="15239"/>
                </a:lnTo>
                <a:close/>
              </a:path>
              <a:path w="33654" h="20320">
                <a:moveTo>
                  <a:pt x="1524" y="15239"/>
                </a:moveTo>
                <a:lnTo>
                  <a:pt x="1524" y="16763"/>
                </a:lnTo>
                <a:lnTo>
                  <a:pt x="4572" y="19812"/>
                </a:lnTo>
                <a:lnTo>
                  <a:pt x="6096" y="19812"/>
                </a:lnTo>
                <a:lnTo>
                  <a:pt x="1524" y="15239"/>
                </a:lnTo>
                <a:close/>
              </a:path>
              <a:path w="33654" h="20320">
                <a:moveTo>
                  <a:pt x="3048" y="10667"/>
                </a:moveTo>
                <a:lnTo>
                  <a:pt x="3048" y="16763"/>
                </a:lnTo>
                <a:lnTo>
                  <a:pt x="6096" y="19812"/>
                </a:lnTo>
                <a:lnTo>
                  <a:pt x="4572" y="16763"/>
                </a:lnTo>
                <a:lnTo>
                  <a:pt x="4572" y="13715"/>
                </a:lnTo>
                <a:lnTo>
                  <a:pt x="3048" y="10667"/>
                </a:lnTo>
                <a:close/>
              </a:path>
              <a:path w="33654" h="20320">
                <a:moveTo>
                  <a:pt x="4572" y="16763"/>
                </a:moveTo>
                <a:lnTo>
                  <a:pt x="6096" y="19812"/>
                </a:lnTo>
                <a:lnTo>
                  <a:pt x="6096" y="18288"/>
                </a:lnTo>
                <a:lnTo>
                  <a:pt x="4572" y="16763"/>
                </a:lnTo>
                <a:close/>
              </a:path>
              <a:path w="33654" h="20320">
                <a:moveTo>
                  <a:pt x="6096" y="18288"/>
                </a:moveTo>
                <a:lnTo>
                  <a:pt x="6096" y="19812"/>
                </a:lnTo>
                <a:lnTo>
                  <a:pt x="7620" y="19812"/>
                </a:lnTo>
                <a:lnTo>
                  <a:pt x="6096" y="18288"/>
                </a:lnTo>
                <a:close/>
              </a:path>
              <a:path w="33654" h="20320">
                <a:moveTo>
                  <a:pt x="6096" y="16763"/>
                </a:moveTo>
                <a:lnTo>
                  <a:pt x="6096" y="18288"/>
                </a:lnTo>
                <a:lnTo>
                  <a:pt x="7620" y="19812"/>
                </a:lnTo>
                <a:lnTo>
                  <a:pt x="7620" y="18288"/>
                </a:lnTo>
                <a:lnTo>
                  <a:pt x="6096" y="16763"/>
                </a:lnTo>
                <a:close/>
              </a:path>
              <a:path w="33654" h="20320">
                <a:moveTo>
                  <a:pt x="7620" y="18288"/>
                </a:moveTo>
                <a:lnTo>
                  <a:pt x="7620" y="19812"/>
                </a:lnTo>
                <a:lnTo>
                  <a:pt x="9144" y="19812"/>
                </a:lnTo>
                <a:lnTo>
                  <a:pt x="7620" y="18288"/>
                </a:lnTo>
                <a:close/>
              </a:path>
              <a:path w="33654" h="20320">
                <a:moveTo>
                  <a:pt x="7620" y="16763"/>
                </a:moveTo>
                <a:lnTo>
                  <a:pt x="7620" y="18288"/>
                </a:lnTo>
                <a:lnTo>
                  <a:pt x="9144" y="19812"/>
                </a:lnTo>
                <a:lnTo>
                  <a:pt x="9144" y="18288"/>
                </a:lnTo>
                <a:lnTo>
                  <a:pt x="7620" y="16763"/>
                </a:lnTo>
                <a:close/>
              </a:path>
              <a:path w="33654" h="20320">
                <a:moveTo>
                  <a:pt x="9144" y="18288"/>
                </a:moveTo>
                <a:lnTo>
                  <a:pt x="9144" y="19812"/>
                </a:lnTo>
                <a:lnTo>
                  <a:pt x="10668" y="19812"/>
                </a:lnTo>
                <a:lnTo>
                  <a:pt x="9144" y="18288"/>
                </a:lnTo>
                <a:close/>
              </a:path>
              <a:path w="33654" h="20320">
                <a:moveTo>
                  <a:pt x="9144" y="16763"/>
                </a:moveTo>
                <a:lnTo>
                  <a:pt x="9144" y="18288"/>
                </a:lnTo>
                <a:lnTo>
                  <a:pt x="10668" y="19812"/>
                </a:lnTo>
                <a:lnTo>
                  <a:pt x="9144" y="16763"/>
                </a:lnTo>
                <a:close/>
              </a:path>
              <a:path w="33654" h="20320">
                <a:moveTo>
                  <a:pt x="9144" y="16763"/>
                </a:moveTo>
                <a:lnTo>
                  <a:pt x="10668" y="19812"/>
                </a:lnTo>
                <a:lnTo>
                  <a:pt x="10668" y="18288"/>
                </a:lnTo>
                <a:lnTo>
                  <a:pt x="9144" y="16763"/>
                </a:lnTo>
                <a:close/>
              </a:path>
              <a:path w="33654" h="20320">
                <a:moveTo>
                  <a:pt x="10668" y="18288"/>
                </a:moveTo>
                <a:lnTo>
                  <a:pt x="10668" y="19812"/>
                </a:lnTo>
                <a:lnTo>
                  <a:pt x="11430" y="19050"/>
                </a:lnTo>
                <a:lnTo>
                  <a:pt x="10668" y="18288"/>
                </a:lnTo>
                <a:close/>
              </a:path>
              <a:path w="33654" h="20320">
                <a:moveTo>
                  <a:pt x="11430" y="19050"/>
                </a:moveTo>
                <a:lnTo>
                  <a:pt x="10668" y="19812"/>
                </a:lnTo>
                <a:lnTo>
                  <a:pt x="12192" y="19812"/>
                </a:lnTo>
                <a:lnTo>
                  <a:pt x="11430" y="19050"/>
                </a:lnTo>
                <a:close/>
              </a:path>
              <a:path w="33654" h="20320">
                <a:moveTo>
                  <a:pt x="12192" y="18288"/>
                </a:moveTo>
                <a:lnTo>
                  <a:pt x="11430" y="19050"/>
                </a:lnTo>
                <a:lnTo>
                  <a:pt x="12192" y="19812"/>
                </a:lnTo>
                <a:lnTo>
                  <a:pt x="12192" y="18288"/>
                </a:lnTo>
                <a:close/>
              </a:path>
              <a:path w="33654" h="20320">
                <a:moveTo>
                  <a:pt x="12192" y="18288"/>
                </a:moveTo>
                <a:lnTo>
                  <a:pt x="12192" y="19812"/>
                </a:lnTo>
                <a:lnTo>
                  <a:pt x="12954" y="19050"/>
                </a:lnTo>
                <a:lnTo>
                  <a:pt x="12192" y="18288"/>
                </a:lnTo>
                <a:close/>
              </a:path>
              <a:path w="33654" h="20320">
                <a:moveTo>
                  <a:pt x="12954" y="19050"/>
                </a:moveTo>
                <a:lnTo>
                  <a:pt x="12192" y="19812"/>
                </a:lnTo>
                <a:lnTo>
                  <a:pt x="13716" y="19812"/>
                </a:lnTo>
                <a:lnTo>
                  <a:pt x="12954" y="19050"/>
                </a:lnTo>
                <a:close/>
              </a:path>
              <a:path w="33654" h="20320">
                <a:moveTo>
                  <a:pt x="13208" y="18796"/>
                </a:moveTo>
                <a:lnTo>
                  <a:pt x="12954" y="19050"/>
                </a:lnTo>
                <a:lnTo>
                  <a:pt x="13716" y="19812"/>
                </a:lnTo>
                <a:lnTo>
                  <a:pt x="13208" y="18796"/>
                </a:lnTo>
                <a:close/>
              </a:path>
              <a:path w="33654" h="20320">
                <a:moveTo>
                  <a:pt x="13716" y="18288"/>
                </a:moveTo>
                <a:lnTo>
                  <a:pt x="13208" y="18796"/>
                </a:lnTo>
                <a:lnTo>
                  <a:pt x="13716" y="19812"/>
                </a:lnTo>
                <a:lnTo>
                  <a:pt x="13716" y="18288"/>
                </a:lnTo>
                <a:close/>
              </a:path>
              <a:path w="33654" h="20320">
                <a:moveTo>
                  <a:pt x="14224" y="17779"/>
                </a:moveTo>
                <a:lnTo>
                  <a:pt x="13716" y="18288"/>
                </a:lnTo>
                <a:lnTo>
                  <a:pt x="13716" y="19812"/>
                </a:lnTo>
                <a:lnTo>
                  <a:pt x="15239" y="18288"/>
                </a:lnTo>
                <a:lnTo>
                  <a:pt x="14224" y="17779"/>
                </a:lnTo>
                <a:close/>
              </a:path>
              <a:path w="33654" h="20320">
                <a:moveTo>
                  <a:pt x="15240" y="18288"/>
                </a:moveTo>
                <a:lnTo>
                  <a:pt x="13716" y="19812"/>
                </a:lnTo>
                <a:lnTo>
                  <a:pt x="15240" y="19812"/>
                </a:lnTo>
                <a:lnTo>
                  <a:pt x="15240" y="18288"/>
                </a:lnTo>
                <a:close/>
              </a:path>
              <a:path w="33654" h="20320">
                <a:moveTo>
                  <a:pt x="15748" y="17779"/>
                </a:moveTo>
                <a:lnTo>
                  <a:pt x="15240" y="18288"/>
                </a:lnTo>
                <a:lnTo>
                  <a:pt x="15240" y="19812"/>
                </a:lnTo>
                <a:lnTo>
                  <a:pt x="16763" y="18288"/>
                </a:lnTo>
                <a:lnTo>
                  <a:pt x="15748" y="17779"/>
                </a:lnTo>
                <a:close/>
              </a:path>
              <a:path w="33654" h="20320">
                <a:moveTo>
                  <a:pt x="16763" y="18288"/>
                </a:moveTo>
                <a:lnTo>
                  <a:pt x="15240" y="19812"/>
                </a:lnTo>
                <a:lnTo>
                  <a:pt x="16763" y="19812"/>
                </a:lnTo>
                <a:lnTo>
                  <a:pt x="16763" y="18288"/>
                </a:lnTo>
                <a:close/>
              </a:path>
              <a:path w="33654" h="20320">
                <a:moveTo>
                  <a:pt x="17272" y="17779"/>
                </a:moveTo>
                <a:lnTo>
                  <a:pt x="16763" y="18288"/>
                </a:lnTo>
                <a:lnTo>
                  <a:pt x="16763" y="19812"/>
                </a:lnTo>
                <a:lnTo>
                  <a:pt x="18287" y="18288"/>
                </a:lnTo>
                <a:lnTo>
                  <a:pt x="17272" y="17779"/>
                </a:lnTo>
                <a:close/>
              </a:path>
              <a:path w="33654" h="20320">
                <a:moveTo>
                  <a:pt x="19303" y="17272"/>
                </a:moveTo>
                <a:lnTo>
                  <a:pt x="16763" y="19812"/>
                </a:lnTo>
                <a:lnTo>
                  <a:pt x="18287" y="19812"/>
                </a:lnTo>
                <a:lnTo>
                  <a:pt x="19431" y="17525"/>
                </a:lnTo>
                <a:lnTo>
                  <a:pt x="19303" y="17272"/>
                </a:lnTo>
                <a:close/>
              </a:path>
              <a:path w="33654" h="20320">
                <a:moveTo>
                  <a:pt x="19431" y="17525"/>
                </a:moveTo>
                <a:lnTo>
                  <a:pt x="18287" y="19812"/>
                </a:lnTo>
                <a:lnTo>
                  <a:pt x="19811" y="18288"/>
                </a:lnTo>
                <a:lnTo>
                  <a:pt x="19431" y="17525"/>
                </a:lnTo>
                <a:close/>
              </a:path>
              <a:path w="33654" h="20320">
                <a:moveTo>
                  <a:pt x="20574" y="17525"/>
                </a:moveTo>
                <a:lnTo>
                  <a:pt x="18287" y="19812"/>
                </a:lnTo>
                <a:lnTo>
                  <a:pt x="19812" y="19812"/>
                </a:lnTo>
                <a:lnTo>
                  <a:pt x="21335" y="18288"/>
                </a:lnTo>
                <a:lnTo>
                  <a:pt x="20574" y="17525"/>
                </a:lnTo>
                <a:close/>
              </a:path>
              <a:path w="33654" h="20320">
                <a:moveTo>
                  <a:pt x="22351" y="17779"/>
                </a:moveTo>
                <a:lnTo>
                  <a:pt x="21335" y="18288"/>
                </a:lnTo>
                <a:lnTo>
                  <a:pt x="19812" y="19812"/>
                </a:lnTo>
                <a:lnTo>
                  <a:pt x="21336" y="19812"/>
                </a:lnTo>
                <a:lnTo>
                  <a:pt x="22351" y="17779"/>
                </a:lnTo>
                <a:close/>
              </a:path>
              <a:path w="33654" h="20320">
                <a:moveTo>
                  <a:pt x="11430" y="17525"/>
                </a:moveTo>
                <a:lnTo>
                  <a:pt x="10668" y="18288"/>
                </a:lnTo>
                <a:lnTo>
                  <a:pt x="11430" y="19050"/>
                </a:lnTo>
                <a:lnTo>
                  <a:pt x="12191" y="18288"/>
                </a:lnTo>
                <a:lnTo>
                  <a:pt x="11430" y="17525"/>
                </a:lnTo>
                <a:close/>
              </a:path>
              <a:path w="33654" h="20320">
                <a:moveTo>
                  <a:pt x="12700" y="17779"/>
                </a:moveTo>
                <a:lnTo>
                  <a:pt x="12192" y="18288"/>
                </a:lnTo>
                <a:lnTo>
                  <a:pt x="12954" y="19050"/>
                </a:lnTo>
                <a:lnTo>
                  <a:pt x="13208" y="18796"/>
                </a:lnTo>
                <a:lnTo>
                  <a:pt x="12700" y="17779"/>
                </a:lnTo>
                <a:close/>
              </a:path>
              <a:path w="33654" h="20320">
                <a:moveTo>
                  <a:pt x="13208" y="17272"/>
                </a:moveTo>
                <a:lnTo>
                  <a:pt x="12700" y="17779"/>
                </a:lnTo>
                <a:lnTo>
                  <a:pt x="13208" y="18796"/>
                </a:lnTo>
                <a:lnTo>
                  <a:pt x="13715" y="18288"/>
                </a:lnTo>
                <a:lnTo>
                  <a:pt x="13716" y="17525"/>
                </a:lnTo>
                <a:lnTo>
                  <a:pt x="13208" y="17272"/>
                </a:lnTo>
                <a:close/>
              </a:path>
              <a:path w="33654" h="20320">
                <a:moveTo>
                  <a:pt x="4572" y="10667"/>
                </a:moveTo>
                <a:lnTo>
                  <a:pt x="4572" y="16763"/>
                </a:lnTo>
                <a:lnTo>
                  <a:pt x="6096" y="18288"/>
                </a:lnTo>
                <a:lnTo>
                  <a:pt x="6096" y="12192"/>
                </a:lnTo>
                <a:lnTo>
                  <a:pt x="4572" y="10667"/>
                </a:lnTo>
                <a:close/>
              </a:path>
              <a:path w="33654" h="20320">
                <a:moveTo>
                  <a:pt x="6096" y="12192"/>
                </a:moveTo>
                <a:lnTo>
                  <a:pt x="6096" y="16763"/>
                </a:lnTo>
                <a:lnTo>
                  <a:pt x="7620" y="18288"/>
                </a:lnTo>
                <a:lnTo>
                  <a:pt x="7620" y="13715"/>
                </a:lnTo>
                <a:lnTo>
                  <a:pt x="6096" y="12192"/>
                </a:lnTo>
                <a:close/>
              </a:path>
              <a:path w="33654" h="20320">
                <a:moveTo>
                  <a:pt x="7620" y="12192"/>
                </a:moveTo>
                <a:lnTo>
                  <a:pt x="7620" y="16763"/>
                </a:lnTo>
                <a:lnTo>
                  <a:pt x="9144" y="18288"/>
                </a:lnTo>
                <a:lnTo>
                  <a:pt x="9144" y="13715"/>
                </a:lnTo>
                <a:lnTo>
                  <a:pt x="7620" y="12192"/>
                </a:lnTo>
                <a:close/>
              </a:path>
              <a:path w="33654" h="20320">
                <a:moveTo>
                  <a:pt x="9144" y="10667"/>
                </a:moveTo>
                <a:lnTo>
                  <a:pt x="9144" y="16763"/>
                </a:lnTo>
                <a:lnTo>
                  <a:pt x="10668" y="18288"/>
                </a:lnTo>
                <a:lnTo>
                  <a:pt x="10668" y="12192"/>
                </a:lnTo>
                <a:lnTo>
                  <a:pt x="9144" y="10667"/>
                </a:lnTo>
                <a:close/>
              </a:path>
              <a:path w="33654" h="20320">
                <a:moveTo>
                  <a:pt x="10668" y="16763"/>
                </a:moveTo>
                <a:lnTo>
                  <a:pt x="10668" y="18288"/>
                </a:lnTo>
                <a:lnTo>
                  <a:pt x="11430" y="17525"/>
                </a:lnTo>
                <a:lnTo>
                  <a:pt x="10668" y="16763"/>
                </a:lnTo>
                <a:close/>
              </a:path>
              <a:path w="33654" h="20320">
                <a:moveTo>
                  <a:pt x="12192" y="16763"/>
                </a:moveTo>
                <a:lnTo>
                  <a:pt x="11430" y="17525"/>
                </a:lnTo>
                <a:lnTo>
                  <a:pt x="12192" y="18288"/>
                </a:lnTo>
                <a:lnTo>
                  <a:pt x="12192" y="16763"/>
                </a:lnTo>
                <a:close/>
              </a:path>
              <a:path w="33654" h="20320">
                <a:moveTo>
                  <a:pt x="12192" y="16763"/>
                </a:moveTo>
                <a:lnTo>
                  <a:pt x="12192" y="18288"/>
                </a:lnTo>
                <a:lnTo>
                  <a:pt x="12700" y="17779"/>
                </a:lnTo>
                <a:lnTo>
                  <a:pt x="12192" y="16763"/>
                </a:lnTo>
                <a:close/>
              </a:path>
              <a:path w="33654" h="20320">
                <a:moveTo>
                  <a:pt x="13716" y="17525"/>
                </a:moveTo>
                <a:lnTo>
                  <a:pt x="13716" y="18288"/>
                </a:lnTo>
                <a:lnTo>
                  <a:pt x="14224" y="17779"/>
                </a:lnTo>
                <a:lnTo>
                  <a:pt x="13716" y="17525"/>
                </a:lnTo>
                <a:close/>
              </a:path>
              <a:path w="33654" h="20320">
                <a:moveTo>
                  <a:pt x="14732" y="17272"/>
                </a:moveTo>
                <a:lnTo>
                  <a:pt x="14224" y="17779"/>
                </a:lnTo>
                <a:lnTo>
                  <a:pt x="15240" y="18288"/>
                </a:lnTo>
                <a:lnTo>
                  <a:pt x="15240" y="17525"/>
                </a:lnTo>
                <a:lnTo>
                  <a:pt x="14732" y="17272"/>
                </a:lnTo>
                <a:close/>
              </a:path>
              <a:path w="33654" h="20320">
                <a:moveTo>
                  <a:pt x="15240" y="17525"/>
                </a:moveTo>
                <a:lnTo>
                  <a:pt x="15240" y="18288"/>
                </a:lnTo>
                <a:lnTo>
                  <a:pt x="15748" y="17779"/>
                </a:lnTo>
                <a:lnTo>
                  <a:pt x="15240" y="17525"/>
                </a:lnTo>
                <a:close/>
              </a:path>
              <a:path w="33654" h="20320">
                <a:moveTo>
                  <a:pt x="16256" y="17272"/>
                </a:moveTo>
                <a:lnTo>
                  <a:pt x="15748" y="17779"/>
                </a:lnTo>
                <a:lnTo>
                  <a:pt x="16764" y="18288"/>
                </a:lnTo>
                <a:lnTo>
                  <a:pt x="16763" y="17525"/>
                </a:lnTo>
                <a:lnTo>
                  <a:pt x="16256" y="17272"/>
                </a:lnTo>
                <a:close/>
              </a:path>
              <a:path w="33654" h="20320">
                <a:moveTo>
                  <a:pt x="16763" y="17525"/>
                </a:moveTo>
                <a:lnTo>
                  <a:pt x="16763" y="18288"/>
                </a:lnTo>
                <a:lnTo>
                  <a:pt x="17272" y="17779"/>
                </a:lnTo>
                <a:lnTo>
                  <a:pt x="16763" y="17525"/>
                </a:lnTo>
                <a:close/>
              </a:path>
              <a:path w="33654" h="20320">
                <a:moveTo>
                  <a:pt x="17525" y="17525"/>
                </a:moveTo>
                <a:lnTo>
                  <a:pt x="17272" y="17779"/>
                </a:lnTo>
                <a:lnTo>
                  <a:pt x="18288" y="18288"/>
                </a:lnTo>
                <a:lnTo>
                  <a:pt x="17525" y="17525"/>
                </a:lnTo>
                <a:close/>
              </a:path>
              <a:path w="33654" h="20320">
                <a:moveTo>
                  <a:pt x="18287" y="16763"/>
                </a:moveTo>
                <a:lnTo>
                  <a:pt x="17525" y="17525"/>
                </a:lnTo>
                <a:lnTo>
                  <a:pt x="18288" y="18288"/>
                </a:lnTo>
                <a:lnTo>
                  <a:pt x="18287" y="16763"/>
                </a:lnTo>
                <a:close/>
              </a:path>
              <a:path w="33654" h="20320">
                <a:moveTo>
                  <a:pt x="18287" y="15239"/>
                </a:moveTo>
                <a:lnTo>
                  <a:pt x="18287" y="18288"/>
                </a:lnTo>
                <a:lnTo>
                  <a:pt x="19303" y="17272"/>
                </a:lnTo>
                <a:lnTo>
                  <a:pt x="18287" y="15239"/>
                </a:lnTo>
                <a:close/>
              </a:path>
              <a:path w="33654" h="20320">
                <a:moveTo>
                  <a:pt x="19812" y="16763"/>
                </a:moveTo>
                <a:lnTo>
                  <a:pt x="19558" y="17272"/>
                </a:lnTo>
                <a:lnTo>
                  <a:pt x="19558" y="17779"/>
                </a:lnTo>
                <a:lnTo>
                  <a:pt x="19812" y="18288"/>
                </a:lnTo>
                <a:lnTo>
                  <a:pt x="19812" y="16763"/>
                </a:lnTo>
                <a:close/>
              </a:path>
              <a:path w="33654" h="20320">
                <a:moveTo>
                  <a:pt x="19812" y="16763"/>
                </a:moveTo>
                <a:lnTo>
                  <a:pt x="19812" y="18288"/>
                </a:lnTo>
                <a:lnTo>
                  <a:pt x="20574" y="17525"/>
                </a:lnTo>
                <a:lnTo>
                  <a:pt x="19812" y="16763"/>
                </a:lnTo>
                <a:close/>
              </a:path>
              <a:path w="33654" h="20320">
                <a:moveTo>
                  <a:pt x="21336" y="16763"/>
                </a:moveTo>
                <a:lnTo>
                  <a:pt x="20574" y="17525"/>
                </a:lnTo>
                <a:lnTo>
                  <a:pt x="21336" y="18288"/>
                </a:lnTo>
                <a:lnTo>
                  <a:pt x="21336" y="16763"/>
                </a:lnTo>
                <a:close/>
              </a:path>
              <a:path w="33654" h="20320">
                <a:moveTo>
                  <a:pt x="21336" y="15239"/>
                </a:moveTo>
                <a:lnTo>
                  <a:pt x="21336" y="18288"/>
                </a:lnTo>
                <a:lnTo>
                  <a:pt x="22351" y="17272"/>
                </a:lnTo>
                <a:lnTo>
                  <a:pt x="21336" y="15239"/>
                </a:lnTo>
                <a:close/>
              </a:path>
              <a:path w="33654" h="20320">
                <a:moveTo>
                  <a:pt x="22351" y="17272"/>
                </a:moveTo>
                <a:lnTo>
                  <a:pt x="21335" y="18288"/>
                </a:lnTo>
                <a:lnTo>
                  <a:pt x="22351" y="17779"/>
                </a:lnTo>
                <a:lnTo>
                  <a:pt x="22479" y="17525"/>
                </a:lnTo>
                <a:lnTo>
                  <a:pt x="22351" y="17272"/>
                </a:lnTo>
                <a:close/>
              </a:path>
              <a:path w="33654" h="20320">
                <a:moveTo>
                  <a:pt x="22555" y="17678"/>
                </a:moveTo>
                <a:lnTo>
                  <a:pt x="22351" y="17779"/>
                </a:lnTo>
                <a:lnTo>
                  <a:pt x="22098" y="18288"/>
                </a:lnTo>
                <a:lnTo>
                  <a:pt x="22860" y="18288"/>
                </a:lnTo>
                <a:lnTo>
                  <a:pt x="22555" y="17678"/>
                </a:lnTo>
                <a:close/>
              </a:path>
              <a:path w="33654" h="20320">
                <a:moveTo>
                  <a:pt x="22860" y="17525"/>
                </a:moveTo>
                <a:lnTo>
                  <a:pt x="22555" y="17678"/>
                </a:lnTo>
                <a:lnTo>
                  <a:pt x="22860" y="18288"/>
                </a:lnTo>
                <a:lnTo>
                  <a:pt x="22860" y="17525"/>
                </a:lnTo>
                <a:close/>
              </a:path>
              <a:path w="33654" h="20320">
                <a:moveTo>
                  <a:pt x="24384" y="16763"/>
                </a:moveTo>
                <a:lnTo>
                  <a:pt x="22860" y="17525"/>
                </a:lnTo>
                <a:lnTo>
                  <a:pt x="22860" y="18288"/>
                </a:lnTo>
                <a:lnTo>
                  <a:pt x="24384" y="17525"/>
                </a:lnTo>
                <a:lnTo>
                  <a:pt x="24384" y="16763"/>
                </a:lnTo>
                <a:close/>
              </a:path>
              <a:path w="33654" h="20320">
                <a:moveTo>
                  <a:pt x="24384" y="17525"/>
                </a:moveTo>
                <a:lnTo>
                  <a:pt x="22859" y="18288"/>
                </a:lnTo>
                <a:lnTo>
                  <a:pt x="24384" y="18288"/>
                </a:lnTo>
                <a:lnTo>
                  <a:pt x="24384" y="17525"/>
                </a:lnTo>
                <a:close/>
              </a:path>
              <a:path w="33654" h="20320">
                <a:moveTo>
                  <a:pt x="25908" y="16763"/>
                </a:moveTo>
                <a:lnTo>
                  <a:pt x="24384" y="17525"/>
                </a:lnTo>
                <a:lnTo>
                  <a:pt x="24384" y="18288"/>
                </a:lnTo>
                <a:lnTo>
                  <a:pt x="25908" y="16763"/>
                </a:lnTo>
                <a:close/>
              </a:path>
              <a:path w="33654" h="20320">
                <a:moveTo>
                  <a:pt x="25908" y="9207"/>
                </a:moveTo>
                <a:lnTo>
                  <a:pt x="25908" y="16763"/>
                </a:lnTo>
                <a:lnTo>
                  <a:pt x="24383" y="18288"/>
                </a:lnTo>
                <a:lnTo>
                  <a:pt x="26416" y="17272"/>
                </a:lnTo>
                <a:lnTo>
                  <a:pt x="27432" y="15239"/>
                </a:lnTo>
                <a:lnTo>
                  <a:pt x="27432" y="10667"/>
                </a:lnTo>
                <a:lnTo>
                  <a:pt x="25908" y="9207"/>
                </a:lnTo>
                <a:close/>
              </a:path>
              <a:path w="33654" h="20320">
                <a:moveTo>
                  <a:pt x="26416" y="17272"/>
                </a:moveTo>
                <a:lnTo>
                  <a:pt x="24383" y="18288"/>
                </a:lnTo>
                <a:lnTo>
                  <a:pt x="25907" y="18288"/>
                </a:lnTo>
                <a:lnTo>
                  <a:pt x="26416" y="17272"/>
                </a:lnTo>
                <a:close/>
              </a:path>
              <a:path w="33654" h="20320">
                <a:moveTo>
                  <a:pt x="27432" y="16763"/>
                </a:moveTo>
                <a:lnTo>
                  <a:pt x="26416" y="17272"/>
                </a:lnTo>
                <a:lnTo>
                  <a:pt x="25907" y="18288"/>
                </a:lnTo>
                <a:lnTo>
                  <a:pt x="27432" y="16763"/>
                </a:lnTo>
                <a:close/>
              </a:path>
              <a:path w="33654" h="20320">
                <a:moveTo>
                  <a:pt x="28956" y="15239"/>
                </a:moveTo>
                <a:lnTo>
                  <a:pt x="25907" y="18288"/>
                </a:lnTo>
                <a:lnTo>
                  <a:pt x="27432" y="18288"/>
                </a:lnTo>
                <a:lnTo>
                  <a:pt x="28956" y="15239"/>
                </a:lnTo>
                <a:close/>
              </a:path>
              <a:path w="33654" h="20320">
                <a:moveTo>
                  <a:pt x="12192" y="16763"/>
                </a:moveTo>
                <a:lnTo>
                  <a:pt x="12700" y="17779"/>
                </a:lnTo>
                <a:lnTo>
                  <a:pt x="13208" y="17272"/>
                </a:lnTo>
                <a:lnTo>
                  <a:pt x="12192" y="16763"/>
                </a:lnTo>
                <a:close/>
              </a:path>
              <a:path w="33654" h="20320">
                <a:moveTo>
                  <a:pt x="13716" y="16763"/>
                </a:moveTo>
                <a:lnTo>
                  <a:pt x="13716" y="17525"/>
                </a:lnTo>
                <a:lnTo>
                  <a:pt x="14224" y="17779"/>
                </a:lnTo>
                <a:lnTo>
                  <a:pt x="14732" y="17272"/>
                </a:lnTo>
                <a:lnTo>
                  <a:pt x="13716" y="16763"/>
                </a:lnTo>
                <a:close/>
              </a:path>
              <a:path w="33654" h="20320">
                <a:moveTo>
                  <a:pt x="15240" y="16763"/>
                </a:moveTo>
                <a:lnTo>
                  <a:pt x="15240" y="17525"/>
                </a:lnTo>
                <a:lnTo>
                  <a:pt x="15748" y="17779"/>
                </a:lnTo>
                <a:lnTo>
                  <a:pt x="16256" y="17272"/>
                </a:lnTo>
                <a:lnTo>
                  <a:pt x="15240" y="16763"/>
                </a:lnTo>
                <a:close/>
              </a:path>
              <a:path w="33654" h="20320">
                <a:moveTo>
                  <a:pt x="16763" y="16763"/>
                </a:moveTo>
                <a:lnTo>
                  <a:pt x="16763" y="17525"/>
                </a:lnTo>
                <a:lnTo>
                  <a:pt x="17272" y="17779"/>
                </a:lnTo>
                <a:lnTo>
                  <a:pt x="17525" y="17525"/>
                </a:lnTo>
                <a:lnTo>
                  <a:pt x="16763" y="16763"/>
                </a:lnTo>
                <a:close/>
              </a:path>
              <a:path w="33654" h="20320">
                <a:moveTo>
                  <a:pt x="22479" y="17525"/>
                </a:moveTo>
                <a:lnTo>
                  <a:pt x="22351" y="17779"/>
                </a:lnTo>
                <a:lnTo>
                  <a:pt x="22555" y="17678"/>
                </a:lnTo>
                <a:lnTo>
                  <a:pt x="22479" y="17525"/>
                </a:lnTo>
                <a:close/>
              </a:path>
              <a:path w="33654" h="20320">
                <a:moveTo>
                  <a:pt x="22860" y="16763"/>
                </a:moveTo>
                <a:lnTo>
                  <a:pt x="22606" y="17272"/>
                </a:lnTo>
                <a:lnTo>
                  <a:pt x="22555" y="17678"/>
                </a:lnTo>
                <a:lnTo>
                  <a:pt x="22860" y="17525"/>
                </a:lnTo>
                <a:lnTo>
                  <a:pt x="22860" y="16763"/>
                </a:lnTo>
                <a:close/>
              </a:path>
              <a:path w="33654" h="20320">
                <a:moveTo>
                  <a:pt x="12192" y="15239"/>
                </a:moveTo>
                <a:lnTo>
                  <a:pt x="10668" y="16763"/>
                </a:lnTo>
                <a:lnTo>
                  <a:pt x="11430" y="17525"/>
                </a:lnTo>
                <a:lnTo>
                  <a:pt x="12192" y="16763"/>
                </a:lnTo>
                <a:lnTo>
                  <a:pt x="12192" y="15239"/>
                </a:lnTo>
                <a:close/>
              </a:path>
              <a:path w="33654" h="20320">
                <a:moveTo>
                  <a:pt x="13716" y="16763"/>
                </a:moveTo>
                <a:lnTo>
                  <a:pt x="13208" y="17272"/>
                </a:lnTo>
                <a:lnTo>
                  <a:pt x="13716" y="17525"/>
                </a:lnTo>
                <a:lnTo>
                  <a:pt x="13716" y="16763"/>
                </a:lnTo>
                <a:close/>
              </a:path>
              <a:path w="33654" h="20320">
                <a:moveTo>
                  <a:pt x="15240" y="16763"/>
                </a:moveTo>
                <a:lnTo>
                  <a:pt x="14732" y="17272"/>
                </a:lnTo>
                <a:lnTo>
                  <a:pt x="15240" y="17525"/>
                </a:lnTo>
                <a:lnTo>
                  <a:pt x="15240" y="16763"/>
                </a:lnTo>
                <a:close/>
              </a:path>
              <a:path w="33654" h="20320">
                <a:moveTo>
                  <a:pt x="16763" y="16763"/>
                </a:moveTo>
                <a:lnTo>
                  <a:pt x="16256" y="17272"/>
                </a:lnTo>
                <a:lnTo>
                  <a:pt x="16763" y="17525"/>
                </a:lnTo>
                <a:lnTo>
                  <a:pt x="16763" y="16763"/>
                </a:lnTo>
                <a:close/>
              </a:path>
              <a:path w="33654" h="20320">
                <a:moveTo>
                  <a:pt x="18287" y="12192"/>
                </a:moveTo>
                <a:lnTo>
                  <a:pt x="16763" y="13715"/>
                </a:lnTo>
                <a:lnTo>
                  <a:pt x="16763" y="16763"/>
                </a:lnTo>
                <a:lnTo>
                  <a:pt x="17525" y="17525"/>
                </a:lnTo>
                <a:lnTo>
                  <a:pt x="18287" y="16763"/>
                </a:lnTo>
                <a:lnTo>
                  <a:pt x="18287" y="12192"/>
                </a:lnTo>
                <a:close/>
              </a:path>
              <a:path w="33654" h="20320">
                <a:moveTo>
                  <a:pt x="19812" y="16763"/>
                </a:moveTo>
                <a:lnTo>
                  <a:pt x="19303" y="17272"/>
                </a:lnTo>
                <a:lnTo>
                  <a:pt x="19431" y="17525"/>
                </a:lnTo>
                <a:lnTo>
                  <a:pt x="19812" y="16763"/>
                </a:lnTo>
                <a:close/>
              </a:path>
              <a:path w="33654" h="20320">
                <a:moveTo>
                  <a:pt x="21336" y="12192"/>
                </a:moveTo>
                <a:lnTo>
                  <a:pt x="19812" y="13715"/>
                </a:lnTo>
                <a:lnTo>
                  <a:pt x="19812" y="16763"/>
                </a:lnTo>
                <a:lnTo>
                  <a:pt x="20574" y="17525"/>
                </a:lnTo>
                <a:lnTo>
                  <a:pt x="21336" y="16763"/>
                </a:lnTo>
                <a:lnTo>
                  <a:pt x="21336" y="12192"/>
                </a:lnTo>
                <a:close/>
              </a:path>
              <a:path w="33654" h="20320">
                <a:moveTo>
                  <a:pt x="22860" y="16763"/>
                </a:moveTo>
                <a:lnTo>
                  <a:pt x="22351" y="17272"/>
                </a:lnTo>
                <a:lnTo>
                  <a:pt x="22479" y="17525"/>
                </a:lnTo>
                <a:lnTo>
                  <a:pt x="22860" y="16763"/>
                </a:lnTo>
                <a:close/>
              </a:path>
              <a:path w="33654" h="20320">
                <a:moveTo>
                  <a:pt x="22860" y="13715"/>
                </a:moveTo>
                <a:lnTo>
                  <a:pt x="22860" y="17525"/>
                </a:lnTo>
                <a:lnTo>
                  <a:pt x="24384" y="16763"/>
                </a:lnTo>
                <a:lnTo>
                  <a:pt x="24384" y="15239"/>
                </a:lnTo>
                <a:lnTo>
                  <a:pt x="22860" y="13715"/>
                </a:lnTo>
                <a:close/>
              </a:path>
              <a:path w="33654" h="20320">
                <a:moveTo>
                  <a:pt x="24691" y="12499"/>
                </a:moveTo>
                <a:lnTo>
                  <a:pt x="24384" y="13715"/>
                </a:lnTo>
                <a:lnTo>
                  <a:pt x="24384" y="17525"/>
                </a:lnTo>
                <a:lnTo>
                  <a:pt x="25908" y="16763"/>
                </a:lnTo>
                <a:lnTo>
                  <a:pt x="25908" y="13715"/>
                </a:lnTo>
                <a:lnTo>
                  <a:pt x="24691" y="12499"/>
                </a:lnTo>
                <a:close/>
              </a:path>
              <a:path w="33654" h="20320">
                <a:moveTo>
                  <a:pt x="13716" y="15239"/>
                </a:moveTo>
                <a:lnTo>
                  <a:pt x="12192" y="16763"/>
                </a:lnTo>
                <a:lnTo>
                  <a:pt x="13208" y="17272"/>
                </a:lnTo>
                <a:lnTo>
                  <a:pt x="13716" y="16763"/>
                </a:lnTo>
                <a:lnTo>
                  <a:pt x="13716" y="15239"/>
                </a:lnTo>
                <a:close/>
              </a:path>
              <a:path w="33654" h="20320">
                <a:moveTo>
                  <a:pt x="14478" y="11429"/>
                </a:moveTo>
                <a:lnTo>
                  <a:pt x="13716" y="12192"/>
                </a:lnTo>
                <a:lnTo>
                  <a:pt x="13716" y="16763"/>
                </a:lnTo>
                <a:lnTo>
                  <a:pt x="14732" y="17272"/>
                </a:lnTo>
                <a:lnTo>
                  <a:pt x="15240" y="16763"/>
                </a:lnTo>
                <a:lnTo>
                  <a:pt x="15240" y="12192"/>
                </a:lnTo>
                <a:lnTo>
                  <a:pt x="14478" y="11429"/>
                </a:lnTo>
                <a:close/>
              </a:path>
              <a:path w="33654" h="20320">
                <a:moveTo>
                  <a:pt x="16002" y="12953"/>
                </a:moveTo>
                <a:lnTo>
                  <a:pt x="15240" y="13715"/>
                </a:lnTo>
                <a:lnTo>
                  <a:pt x="15240" y="16763"/>
                </a:lnTo>
                <a:lnTo>
                  <a:pt x="16256" y="17272"/>
                </a:lnTo>
                <a:lnTo>
                  <a:pt x="16763" y="16763"/>
                </a:lnTo>
                <a:lnTo>
                  <a:pt x="16763" y="13715"/>
                </a:lnTo>
                <a:lnTo>
                  <a:pt x="16002" y="12953"/>
                </a:lnTo>
                <a:close/>
              </a:path>
              <a:path w="33654" h="20320">
                <a:moveTo>
                  <a:pt x="18287" y="15239"/>
                </a:moveTo>
                <a:lnTo>
                  <a:pt x="19303" y="17272"/>
                </a:lnTo>
                <a:lnTo>
                  <a:pt x="19812" y="16763"/>
                </a:lnTo>
                <a:lnTo>
                  <a:pt x="18287" y="15239"/>
                </a:lnTo>
                <a:close/>
              </a:path>
              <a:path w="33654" h="20320">
                <a:moveTo>
                  <a:pt x="21336" y="15239"/>
                </a:moveTo>
                <a:lnTo>
                  <a:pt x="22351" y="17272"/>
                </a:lnTo>
                <a:lnTo>
                  <a:pt x="22860" y="16763"/>
                </a:lnTo>
                <a:lnTo>
                  <a:pt x="21336" y="15239"/>
                </a:lnTo>
                <a:close/>
              </a:path>
              <a:path w="33654" h="20320">
                <a:moveTo>
                  <a:pt x="27432" y="15239"/>
                </a:moveTo>
                <a:lnTo>
                  <a:pt x="26416" y="17272"/>
                </a:lnTo>
                <a:lnTo>
                  <a:pt x="27432" y="16763"/>
                </a:lnTo>
                <a:lnTo>
                  <a:pt x="27432" y="15239"/>
                </a:lnTo>
                <a:close/>
              </a:path>
              <a:path w="33654" h="20320">
                <a:moveTo>
                  <a:pt x="0" y="13715"/>
                </a:moveTo>
                <a:lnTo>
                  <a:pt x="0" y="15239"/>
                </a:lnTo>
                <a:lnTo>
                  <a:pt x="1524" y="16763"/>
                </a:lnTo>
                <a:lnTo>
                  <a:pt x="1524" y="15239"/>
                </a:lnTo>
                <a:lnTo>
                  <a:pt x="0" y="13715"/>
                </a:lnTo>
                <a:close/>
              </a:path>
              <a:path w="33654" h="20320">
                <a:moveTo>
                  <a:pt x="1524" y="14477"/>
                </a:moveTo>
                <a:lnTo>
                  <a:pt x="1524" y="15239"/>
                </a:lnTo>
                <a:lnTo>
                  <a:pt x="3048" y="16763"/>
                </a:lnTo>
                <a:lnTo>
                  <a:pt x="3048" y="15239"/>
                </a:lnTo>
                <a:lnTo>
                  <a:pt x="1524" y="14477"/>
                </a:lnTo>
                <a:close/>
              </a:path>
              <a:path w="33654" h="20320">
                <a:moveTo>
                  <a:pt x="12192" y="14477"/>
                </a:moveTo>
                <a:lnTo>
                  <a:pt x="10668" y="15239"/>
                </a:lnTo>
                <a:lnTo>
                  <a:pt x="10668" y="16763"/>
                </a:lnTo>
                <a:lnTo>
                  <a:pt x="12192" y="15239"/>
                </a:lnTo>
                <a:lnTo>
                  <a:pt x="12192" y="14477"/>
                </a:lnTo>
                <a:close/>
              </a:path>
              <a:path w="33654" h="20320">
                <a:moveTo>
                  <a:pt x="13716" y="13715"/>
                </a:moveTo>
                <a:lnTo>
                  <a:pt x="12192" y="15239"/>
                </a:lnTo>
                <a:lnTo>
                  <a:pt x="12192" y="16763"/>
                </a:lnTo>
                <a:lnTo>
                  <a:pt x="13716" y="15239"/>
                </a:lnTo>
                <a:lnTo>
                  <a:pt x="13716" y="13715"/>
                </a:lnTo>
                <a:close/>
              </a:path>
              <a:path w="33654" h="20320">
                <a:moveTo>
                  <a:pt x="18796" y="11683"/>
                </a:moveTo>
                <a:lnTo>
                  <a:pt x="18287" y="12192"/>
                </a:lnTo>
                <a:lnTo>
                  <a:pt x="18287" y="15239"/>
                </a:lnTo>
                <a:lnTo>
                  <a:pt x="19812" y="16763"/>
                </a:lnTo>
                <a:lnTo>
                  <a:pt x="19812" y="13715"/>
                </a:lnTo>
                <a:lnTo>
                  <a:pt x="18796" y="11683"/>
                </a:lnTo>
                <a:close/>
              </a:path>
              <a:path w="33654" h="20320">
                <a:moveTo>
                  <a:pt x="22860" y="10667"/>
                </a:moveTo>
                <a:lnTo>
                  <a:pt x="21336" y="12192"/>
                </a:lnTo>
                <a:lnTo>
                  <a:pt x="21336" y="15239"/>
                </a:lnTo>
                <a:lnTo>
                  <a:pt x="22860" y="16763"/>
                </a:lnTo>
                <a:lnTo>
                  <a:pt x="22860" y="10667"/>
                </a:lnTo>
                <a:close/>
              </a:path>
              <a:path w="33654" h="20320">
                <a:moveTo>
                  <a:pt x="28956" y="14477"/>
                </a:moveTo>
                <a:lnTo>
                  <a:pt x="27432" y="15239"/>
                </a:lnTo>
                <a:lnTo>
                  <a:pt x="27432" y="16763"/>
                </a:lnTo>
                <a:lnTo>
                  <a:pt x="28956" y="15239"/>
                </a:lnTo>
                <a:lnTo>
                  <a:pt x="28956" y="14477"/>
                </a:lnTo>
                <a:close/>
              </a:path>
              <a:path w="33654" h="20320">
                <a:moveTo>
                  <a:pt x="0" y="13715"/>
                </a:moveTo>
                <a:lnTo>
                  <a:pt x="1524" y="15239"/>
                </a:lnTo>
                <a:lnTo>
                  <a:pt x="1524" y="14477"/>
                </a:lnTo>
                <a:lnTo>
                  <a:pt x="0" y="13715"/>
                </a:lnTo>
                <a:close/>
              </a:path>
              <a:path w="33654" h="20320">
                <a:moveTo>
                  <a:pt x="1524" y="13715"/>
                </a:moveTo>
                <a:lnTo>
                  <a:pt x="1524" y="14477"/>
                </a:lnTo>
                <a:lnTo>
                  <a:pt x="3048" y="15239"/>
                </a:lnTo>
                <a:lnTo>
                  <a:pt x="1524" y="13715"/>
                </a:lnTo>
                <a:close/>
              </a:path>
              <a:path w="33654" h="20320">
                <a:moveTo>
                  <a:pt x="1524" y="12192"/>
                </a:moveTo>
                <a:lnTo>
                  <a:pt x="1524" y="13715"/>
                </a:lnTo>
                <a:lnTo>
                  <a:pt x="3048" y="15239"/>
                </a:lnTo>
                <a:lnTo>
                  <a:pt x="3048" y="13715"/>
                </a:lnTo>
                <a:lnTo>
                  <a:pt x="1524" y="12192"/>
                </a:lnTo>
                <a:close/>
              </a:path>
              <a:path w="33654" h="20320">
                <a:moveTo>
                  <a:pt x="11430" y="12953"/>
                </a:moveTo>
                <a:lnTo>
                  <a:pt x="10668" y="13715"/>
                </a:lnTo>
                <a:lnTo>
                  <a:pt x="10668" y="15239"/>
                </a:lnTo>
                <a:lnTo>
                  <a:pt x="12192" y="13715"/>
                </a:lnTo>
                <a:lnTo>
                  <a:pt x="11430" y="12953"/>
                </a:lnTo>
                <a:close/>
              </a:path>
              <a:path w="33654" h="20320">
                <a:moveTo>
                  <a:pt x="12192" y="13715"/>
                </a:moveTo>
                <a:lnTo>
                  <a:pt x="10668" y="15239"/>
                </a:lnTo>
                <a:lnTo>
                  <a:pt x="12192" y="14477"/>
                </a:lnTo>
                <a:lnTo>
                  <a:pt x="12192" y="13715"/>
                </a:lnTo>
                <a:close/>
              </a:path>
              <a:path w="33654" h="20320">
                <a:moveTo>
                  <a:pt x="13716" y="13715"/>
                </a:moveTo>
                <a:lnTo>
                  <a:pt x="12192" y="14477"/>
                </a:lnTo>
                <a:lnTo>
                  <a:pt x="12192" y="15239"/>
                </a:lnTo>
                <a:lnTo>
                  <a:pt x="13716" y="13715"/>
                </a:lnTo>
                <a:close/>
              </a:path>
              <a:path w="33654" h="20320">
                <a:moveTo>
                  <a:pt x="24384" y="12192"/>
                </a:moveTo>
                <a:lnTo>
                  <a:pt x="22860" y="13715"/>
                </a:lnTo>
                <a:lnTo>
                  <a:pt x="24384" y="15239"/>
                </a:lnTo>
                <a:lnTo>
                  <a:pt x="24384" y="12192"/>
                </a:lnTo>
                <a:close/>
              </a:path>
              <a:path w="33654" h="20320">
                <a:moveTo>
                  <a:pt x="28956" y="12192"/>
                </a:moveTo>
                <a:lnTo>
                  <a:pt x="27432" y="13715"/>
                </a:lnTo>
                <a:lnTo>
                  <a:pt x="27432" y="15239"/>
                </a:lnTo>
                <a:lnTo>
                  <a:pt x="28956" y="14477"/>
                </a:lnTo>
                <a:lnTo>
                  <a:pt x="28956" y="12192"/>
                </a:lnTo>
                <a:close/>
              </a:path>
              <a:path w="33654" h="20320">
                <a:moveTo>
                  <a:pt x="0" y="12192"/>
                </a:moveTo>
                <a:lnTo>
                  <a:pt x="0" y="13715"/>
                </a:lnTo>
                <a:lnTo>
                  <a:pt x="1524" y="14477"/>
                </a:lnTo>
                <a:lnTo>
                  <a:pt x="1524" y="13715"/>
                </a:lnTo>
                <a:lnTo>
                  <a:pt x="0" y="12192"/>
                </a:lnTo>
                <a:close/>
              </a:path>
              <a:path w="33654" h="20320">
                <a:moveTo>
                  <a:pt x="13716" y="12192"/>
                </a:moveTo>
                <a:lnTo>
                  <a:pt x="12192" y="13715"/>
                </a:lnTo>
                <a:lnTo>
                  <a:pt x="12192" y="14477"/>
                </a:lnTo>
                <a:lnTo>
                  <a:pt x="13716" y="13715"/>
                </a:lnTo>
                <a:lnTo>
                  <a:pt x="13716" y="12192"/>
                </a:lnTo>
                <a:close/>
              </a:path>
              <a:path w="33654" h="20320">
                <a:moveTo>
                  <a:pt x="30480" y="10667"/>
                </a:moveTo>
                <a:lnTo>
                  <a:pt x="29265" y="11882"/>
                </a:lnTo>
                <a:lnTo>
                  <a:pt x="28956" y="13715"/>
                </a:lnTo>
                <a:lnTo>
                  <a:pt x="28956" y="14477"/>
                </a:lnTo>
                <a:lnTo>
                  <a:pt x="30480" y="13715"/>
                </a:lnTo>
                <a:lnTo>
                  <a:pt x="30480" y="10667"/>
                </a:lnTo>
                <a:close/>
              </a:path>
              <a:path w="33654" h="20320">
                <a:moveTo>
                  <a:pt x="0" y="10667"/>
                </a:moveTo>
                <a:lnTo>
                  <a:pt x="0" y="12192"/>
                </a:lnTo>
                <a:lnTo>
                  <a:pt x="1524" y="13715"/>
                </a:lnTo>
                <a:lnTo>
                  <a:pt x="1524" y="12192"/>
                </a:lnTo>
                <a:lnTo>
                  <a:pt x="0" y="10667"/>
                </a:lnTo>
                <a:close/>
              </a:path>
              <a:path w="33654" h="20320">
                <a:moveTo>
                  <a:pt x="3048" y="8509"/>
                </a:moveTo>
                <a:lnTo>
                  <a:pt x="1650" y="9207"/>
                </a:lnTo>
                <a:lnTo>
                  <a:pt x="1524" y="12192"/>
                </a:lnTo>
                <a:lnTo>
                  <a:pt x="3048" y="13715"/>
                </a:lnTo>
                <a:lnTo>
                  <a:pt x="3048" y="8509"/>
                </a:lnTo>
                <a:close/>
              </a:path>
              <a:path w="33654" h="20320">
                <a:moveTo>
                  <a:pt x="4572" y="8509"/>
                </a:moveTo>
                <a:lnTo>
                  <a:pt x="3175" y="9207"/>
                </a:lnTo>
                <a:lnTo>
                  <a:pt x="3048" y="10667"/>
                </a:lnTo>
                <a:lnTo>
                  <a:pt x="4572" y="13715"/>
                </a:lnTo>
                <a:lnTo>
                  <a:pt x="4572" y="8509"/>
                </a:lnTo>
                <a:close/>
              </a:path>
              <a:path w="33654" h="20320">
                <a:moveTo>
                  <a:pt x="6096" y="10667"/>
                </a:moveTo>
                <a:lnTo>
                  <a:pt x="6096" y="12192"/>
                </a:lnTo>
                <a:lnTo>
                  <a:pt x="7620" y="13715"/>
                </a:lnTo>
                <a:lnTo>
                  <a:pt x="7620" y="12192"/>
                </a:lnTo>
                <a:lnTo>
                  <a:pt x="6096" y="10667"/>
                </a:lnTo>
                <a:close/>
              </a:path>
              <a:path w="33654" h="20320">
                <a:moveTo>
                  <a:pt x="9144" y="9207"/>
                </a:moveTo>
                <a:lnTo>
                  <a:pt x="7620" y="10667"/>
                </a:lnTo>
                <a:lnTo>
                  <a:pt x="7620" y="12192"/>
                </a:lnTo>
                <a:lnTo>
                  <a:pt x="9144" y="13715"/>
                </a:lnTo>
                <a:lnTo>
                  <a:pt x="9144" y="9207"/>
                </a:lnTo>
                <a:close/>
              </a:path>
              <a:path w="33654" h="20320">
                <a:moveTo>
                  <a:pt x="10668" y="12192"/>
                </a:moveTo>
                <a:lnTo>
                  <a:pt x="10668" y="13715"/>
                </a:lnTo>
                <a:lnTo>
                  <a:pt x="11430" y="12953"/>
                </a:lnTo>
                <a:lnTo>
                  <a:pt x="10668" y="12192"/>
                </a:lnTo>
                <a:close/>
              </a:path>
              <a:path w="33654" h="20320">
                <a:moveTo>
                  <a:pt x="12192" y="12192"/>
                </a:moveTo>
                <a:lnTo>
                  <a:pt x="11430" y="12953"/>
                </a:lnTo>
                <a:lnTo>
                  <a:pt x="12192" y="13715"/>
                </a:lnTo>
                <a:lnTo>
                  <a:pt x="12192" y="12192"/>
                </a:lnTo>
                <a:close/>
              </a:path>
              <a:path w="33654" h="20320">
                <a:moveTo>
                  <a:pt x="13716" y="10667"/>
                </a:moveTo>
                <a:lnTo>
                  <a:pt x="12192" y="12192"/>
                </a:lnTo>
                <a:lnTo>
                  <a:pt x="12192" y="13715"/>
                </a:lnTo>
                <a:lnTo>
                  <a:pt x="13715" y="12192"/>
                </a:lnTo>
                <a:lnTo>
                  <a:pt x="13716" y="10667"/>
                </a:lnTo>
                <a:close/>
              </a:path>
              <a:path w="33654" h="20320">
                <a:moveTo>
                  <a:pt x="15240" y="12192"/>
                </a:moveTo>
                <a:lnTo>
                  <a:pt x="15240" y="13715"/>
                </a:lnTo>
                <a:lnTo>
                  <a:pt x="16002" y="12953"/>
                </a:lnTo>
                <a:lnTo>
                  <a:pt x="15240" y="12192"/>
                </a:lnTo>
                <a:close/>
              </a:path>
              <a:path w="33654" h="20320">
                <a:moveTo>
                  <a:pt x="16763" y="12192"/>
                </a:moveTo>
                <a:lnTo>
                  <a:pt x="16002" y="12953"/>
                </a:lnTo>
                <a:lnTo>
                  <a:pt x="16763" y="13715"/>
                </a:lnTo>
                <a:lnTo>
                  <a:pt x="16763" y="12192"/>
                </a:lnTo>
                <a:close/>
              </a:path>
              <a:path w="33654" h="20320">
                <a:moveTo>
                  <a:pt x="18287" y="10667"/>
                </a:moveTo>
                <a:lnTo>
                  <a:pt x="16763" y="12192"/>
                </a:lnTo>
                <a:lnTo>
                  <a:pt x="16763" y="13715"/>
                </a:lnTo>
                <a:lnTo>
                  <a:pt x="18287" y="12192"/>
                </a:lnTo>
                <a:lnTo>
                  <a:pt x="18287" y="10667"/>
                </a:lnTo>
                <a:close/>
              </a:path>
              <a:path w="33654" h="20320">
                <a:moveTo>
                  <a:pt x="19812" y="10667"/>
                </a:moveTo>
                <a:lnTo>
                  <a:pt x="18803" y="11676"/>
                </a:lnTo>
                <a:lnTo>
                  <a:pt x="19812" y="13715"/>
                </a:lnTo>
                <a:lnTo>
                  <a:pt x="19812" y="10667"/>
                </a:lnTo>
                <a:close/>
              </a:path>
              <a:path w="33654" h="20320">
                <a:moveTo>
                  <a:pt x="19812" y="9207"/>
                </a:moveTo>
                <a:lnTo>
                  <a:pt x="19812" y="13715"/>
                </a:lnTo>
                <a:lnTo>
                  <a:pt x="21335" y="12192"/>
                </a:lnTo>
                <a:lnTo>
                  <a:pt x="21336" y="10667"/>
                </a:lnTo>
                <a:lnTo>
                  <a:pt x="19812" y="9207"/>
                </a:lnTo>
                <a:close/>
              </a:path>
              <a:path w="33654" h="20320">
                <a:moveTo>
                  <a:pt x="22860" y="10667"/>
                </a:moveTo>
                <a:lnTo>
                  <a:pt x="22860" y="13715"/>
                </a:lnTo>
                <a:lnTo>
                  <a:pt x="24383" y="12192"/>
                </a:lnTo>
                <a:lnTo>
                  <a:pt x="22860" y="10667"/>
                </a:lnTo>
                <a:close/>
              </a:path>
              <a:path w="33654" h="20320">
                <a:moveTo>
                  <a:pt x="24384" y="12192"/>
                </a:moveTo>
                <a:lnTo>
                  <a:pt x="24384" y="13715"/>
                </a:lnTo>
                <a:lnTo>
                  <a:pt x="24691" y="12499"/>
                </a:lnTo>
                <a:lnTo>
                  <a:pt x="24384" y="12192"/>
                </a:lnTo>
                <a:close/>
              </a:path>
              <a:path w="33654" h="20320">
                <a:moveTo>
                  <a:pt x="25908" y="10667"/>
                </a:moveTo>
                <a:lnTo>
                  <a:pt x="24899" y="11676"/>
                </a:lnTo>
                <a:lnTo>
                  <a:pt x="24691" y="12499"/>
                </a:lnTo>
                <a:lnTo>
                  <a:pt x="25908" y="13715"/>
                </a:lnTo>
                <a:lnTo>
                  <a:pt x="25908" y="10667"/>
                </a:lnTo>
                <a:close/>
              </a:path>
              <a:path w="33654" h="20320">
                <a:moveTo>
                  <a:pt x="25908" y="7747"/>
                </a:moveTo>
                <a:lnTo>
                  <a:pt x="27432" y="10667"/>
                </a:lnTo>
                <a:lnTo>
                  <a:pt x="27432" y="13715"/>
                </a:lnTo>
                <a:lnTo>
                  <a:pt x="28955" y="12192"/>
                </a:lnTo>
                <a:lnTo>
                  <a:pt x="28956" y="10667"/>
                </a:lnTo>
                <a:lnTo>
                  <a:pt x="27495" y="9329"/>
                </a:lnTo>
                <a:lnTo>
                  <a:pt x="25908" y="7747"/>
                </a:lnTo>
                <a:close/>
              </a:path>
              <a:path w="33654" h="20320">
                <a:moveTo>
                  <a:pt x="29265" y="11882"/>
                </a:moveTo>
                <a:lnTo>
                  <a:pt x="28956" y="12192"/>
                </a:lnTo>
                <a:lnTo>
                  <a:pt x="28956" y="13715"/>
                </a:lnTo>
                <a:lnTo>
                  <a:pt x="29265" y="11882"/>
                </a:lnTo>
                <a:close/>
              </a:path>
              <a:path w="33654" h="20320">
                <a:moveTo>
                  <a:pt x="30480" y="3175"/>
                </a:moveTo>
                <a:lnTo>
                  <a:pt x="28956" y="3175"/>
                </a:lnTo>
                <a:lnTo>
                  <a:pt x="30480" y="4699"/>
                </a:lnTo>
                <a:lnTo>
                  <a:pt x="30480" y="13715"/>
                </a:lnTo>
                <a:lnTo>
                  <a:pt x="33528" y="10667"/>
                </a:lnTo>
                <a:lnTo>
                  <a:pt x="33528" y="6223"/>
                </a:lnTo>
                <a:lnTo>
                  <a:pt x="30480" y="3175"/>
                </a:lnTo>
                <a:close/>
              </a:path>
              <a:path w="33654" h="20320">
                <a:moveTo>
                  <a:pt x="12192" y="9207"/>
                </a:moveTo>
                <a:lnTo>
                  <a:pt x="10668" y="10667"/>
                </a:lnTo>
                <a:lnTo>
                  <a:pt x="10668" y="12192"/>
                </a:lnTo>
                <a:lnTo>
                  <a:pt x="11430" y="12953"/>
                </a:lnTo>
                <a:lnTo>
                  <a:pt x="12191" y="12192"/>
                </a:lnTo>
                <a:lnTo>
                  <a:pt x="12192" y="9207"/>
                </a:lnTo>
                <a:close/>
              </a:path>
              <a:path w="33654" h="20320">
                <a:moveTo>
                  <a:pt x="16720" y="9249"/>
                </a:moveTo>
                <a:lnTo>
                  <a:pt x="15240" y="10667"/>
                </a:lnTo>
                <a:lnTo>
                  <a:pt x="15240" y="12192"/>
                </a:lnTo>
                <a:lnTo>
                  <a:pt x="16002" y="12953"/>
                </a:lnTo>
                <a:lnTo>
                  <a:pt x="16763" y="12192"/>
                </a:lnTo>
                <a:lnTo>
                  <a:pt x="16720" y="9249"/>
                </a:lnTo>
                <a:close/>
              </a:path>
              <a:path w="33654" h="20320">
                <a:moveTo>
                  <a:pt x="24899" y="11676"/>
                </a:moveTo>
                <a:lnTo>
                  <a:pt x="24384" y="12192"/>
                </a:lnTo>
                <a:lnTo>
                  <a:pt x="24691" y="12499"/>
                </a:lnTo>
                <a:lnTo>
                  <a:pt x="24899" y="11676"/>
                </a:lnTo>
                <a:close/>
              </a:path>
              <a:path w="33654" h="20320">
                <a:moveTo>
                  <a:pt x="3048" y="6223"/>
                </a:moveTo>
                <a:lnTo>
                  <a:pt x="63" y="9207"/>
                </a:lnTo>
                <a:lnTo>
                  <a:pt x="0" y="10667"/>
                </a:lnTo>
                <a:lnTo>
                  <a:pt x="1524" y="12192"/>
                </a:lnTo>
                <a:lnTo>
                  <a:pt x="1650" y="9207"/>
                </a:lnTo>
                <a:lnTo>
                  <a:pt x="3048" y="8509"/>
                </a:lnTo>
                <a:lnTo>
                  <a:pt x="3048" y="6223"/>
                </a:lnTo>
                <a:close/>
              </a:path>
              <a:path w="33654" h="20320">
                <a:moveTo>
                  <a:pt x="6096" y="8509"/>
                </a:moveTo>
                <a:lnTo>
                  <a:pt x="4699" y="9207"/>
                </a:lnTo>
                <a:lnTo>
                  <a:pt x="4572" y="10667"/>
                </a:lnTo>
                <a:lnTo>
                  <a:pt x="6096" y="12192"/>
                </a:lnTo>
                <a:lnTo>
                  <a:pt x="6096" y="8509"/>
                </a:lnTo>
                <a:close/>
              </a:path>
              <a:path w="33654" h="20320">
                <a:moveTo>
                  <a:pt x="7620" y="8509"/>
                </a:moveTo>
                <a:lnTo>
                  <a:pt x="6223" y="9207"/>
                </a:lnTo>
                <a:lnTo>
                  <a:pt x="6096" y="10667"/>
                </a:lnTo>
                <a:lnTo>
                  <a:pt x="7620" y="12192"/>
                </a:lnTo>
                <a:lnTo>
                  <a:pt x="7620" y="8509"/>
                </a:lnTo>
                <a:close/>
              </a:path>
              <a:path w="33654" h="20320">
                <a:moveTo>
                  <a:pt x="10668" y="9207"/>
                </a:moveTo>
                <a:lnTo>
                  <a:pt x="9144" y="10667"/>
                </a:lnTo>
                <a:lnTo>
                  <a:pt x="10668" y="12192"/>
                </a:lnTo>
                <a:lnTo>
                  <a:pt x="10668" y="9207"/>
                </a:lnTo>
                <a:close/>
              </a:path>
              <a:path w="33654" h="20320">
                <a:moveTo>
                  <a:pt x="13672" y="9249"/>
                </a:moveTo>
                <a:lnTo>
                  <a:pt x="12192" y="10667"/>
                </a:lnTo>
                <a:lnTo>
                  <a:pt x="12192" y="12192"/>
                </a:lnTo>
                <a:lnTo>
                  <a:pt x="13716" y="10667"/>
                </a:lnTo>
                <a:lnTo>
                  <a:pt x="13672" y="9249"/>
                </a:lnTo>
                <a:close/>
              </a:path>
              <a:path w="33654" h="20320">
                <a:moveTo>
                  <a:pt x="13716" y="10667"/>
                </a:moveTo>
                <a:lnTo>
                  <a:pt x="13716" y="12192"/>
                </a:lnTo>
                <a:lnTo>
                  <a:pt x="14478" y="11429"/>
                </a:lnTo>
                <a:lnTo>
                  <a:pt x="13716" y="10667"/>
                </a:lnTo>
                <a:close/>
              </a:path>
              <a:path w="33654" h="20320">
                <a:moveTo>
                  <a:pt x="15240" y="10667"/>
                </a:moveTo>
                <a:lnTo>
                  <a:pt x="14478" y="11429"/>
                </a:lnTo>
                <a:lnTo>
                  <a:pt x="15240" y="12192"/>
                </a:lnTo>
                <a:lnTo>
                  <a:pt x="15240" y="10667"/>
                </a:lnTo>
                <a:close/>
              </a:path>
              <a:path w="33654" h="20320">
                <a:moveTo>
                  <a:pt x="17657" y="8955"/>
                </a:moveTo>
                <a:lnTo>
                  <a:pt x="16763" y="10667"/>
                </a:lnTo>
                <a:lnTo>
                  <a:pt x="16763" y="12192"/>
                </a:lnTo>
                <a:lnTo>
                  <a:pt x="18287" y="10667"/>
                </a:lnTo>
                <a:lnTo>
                  <a:pt x="18161" y="9207"/>
                </a:lnTo>
                <a:lnTo>
                  <a:pt x="17657" y="8955"/>
                </a:lnTo>
                <a:close/>
              </a:path>
              <a:path w="33654" h="20320">
                <a:moveTo>
                  <a:pt x="18287" y="10667"/>
                </a:moveTo>
                <a:lnTo>
                  <a:pt x="18287" y="12192"/>
                </a:lnTo>
                <a:lnTo>
                  <a:pt x="18796" y="11683"/>
                </a:lnTo>
                <a:lnTo>
                  <a:pt x="18287" y="10667"/>
                </a:lnTo>
                <a:close/>
              </a:path>
              <a:path w="33654" h="20320">
                <a:moveTo>
                  <a:pt x="22114" y="9953"/>
                </a:moveTo>
                <a:lnTo>
                  <a:pt x="21336" y="10667"/>
                </a:lnTo>
                <a:lnTo>
                  <a:pt x="21336" y="12192"/>
                </a:lnTo>
                <a:lnTo>
                  <a:pt x="22860" y="10667"/>
                </a:lnTo>
                <a:lnTo>
                  <a:pt x="22114" y="9953"/>
                </a:lnTo>
                <a:close/>
              </a:path>
              <a:path w="33654" h="20320">
                <a:moveTo>
                  <a:pt x="23638" y="9953"/>
                </a:moveTo>
                <a:lnTo>
                  <a:pt x="22860" y="10667"/>
                </a:lnTo>
                <a:lnTo>
                  <a:pt x="24384" y="12192"/>
                </a:lnTo>
                <a:lnTo>
                  <a:pt x="24384" y="10667"/>
                </a:lnTo>
                <a:lnTo>
                  <a:pt x="23638" y="9953"/>
                </a:lnTo>
                <a:close/>
              </a:path>
              <a:path w="33654" h="20320">
                <a:moveTo>
                  <a:pt x="24384" y="9207"/>
                </a:moveTo>
                <a:lnTo>
                  <a:pt x="24384" y="12192"/>
                </a:lnTo>
                <a:lnTo>
                  <a:pt x="24892" y="11683"/>
                </a:lnTo>
                <a:lnTo>
                  <a:pt x="25300" y="10086"/>
                </a:lnTo>
                <a:lnTo>
                  <a:pt x="24384" y="9207"/>
                </a:lnTo>
                <a:close/>
              </a:path>
              <a:path w="33654" h="20320">
                <a:moveTo>
                  <a:pt x="28477" y="9749"/>
                </a:moveTo>
                <a:lnTo>
                  <a:pt x="28956" y="10667"/>
                </a:lnTo>
                <a:lnTo>
                  <a:pt x="28956" y="12192"/>
                </a:lnTo>
                <a:lnTo>
                  <a:pt x="29265" y="11882"/>
                </a:lnTo>
                <a:lnTo>
                  <a:pt x="29543" y="10238"/>
                </a:lnTo>
                <a:lnTo>
                  <a:pt x="28477" y="9749"/>
                </a:lnTo>
                <a:close/>
              </a:path>
              <a:path w="33654" h="20320">
                <a:moveTo>
                  <a:pt x="29543" y="10238"/>
                </a:moveTo>
                <a:lnTo>
                  <a:pt x="29265" y="11882"/>
                </a:lnTo>
                <a:lnTo>
                  <a:pt x="30480" y="10667"/>
                </a:lnTo>
                <a:lnTo>
                  <a:pt x="29543" y="10238"/>
                </a:lnTo>
                <a:close/>
              </a:path>
              <a:path w="33654" h="20320">
                <a:moveTo>
                  <a:pt x="19050" y="9937"/>
                </a:moveTo>
                <a:lnTo>
                  <a:pt x="18287" y="10667"/>
                </a:lnTo>
                <a:lnTo>
                  <a:pt x="18796" y="11683"/>
                </a:lnTo>
                <a:lnTo>
                  <a:pt x="19812" y="10667"/>
                </a:lnTo>
                <a:lnTo>
                  <a:pt x="19050" y="9937"/>
                </a:lnTo>
                <a:close/>
              </a:path>
              <a:path w="33654" h="20320">
                <a:moveTo>
                  <a:pt x="25300" y="10086"/>
                </a:moveTo>
                <a:lnTo>
                  <a:pt x="24899" y="11676"/>
                </a:lnTo>
                <a:lnTo>
                  <a:pt x="25908" y="10667"/>
                </a:lnTo>
                <a:lnTo>
                  <a:pt x="25300" y="10086"/>
                </a:lnTo>
                <a:close/>
              </a:path>
              <a:path w="33654" h="20320">
                <a:moveTo>
                  <a:pt x="15196" y="9249"/>
                </a:moveTo>
                <a:lnTo>
                  <a:pt x="13716" y="10667"/>
                </a:lnTo>
                <a:lnTo>
                  <a:pt x="14478" y="11429"/>
                </a:lnTo>
                <a:lnTo>
                  <a:pt x="15240" y="10667"/>
                </a:lnTo>
                <a:lnTo>
                  <a:pt x="15196" y="9249"/>
                </a:lnTo>
                <a:close/>
              </a:path>
              <a:path w="33654" h="20320">
                <a:moveTo>
                  <a:pt x="9144" y="7747"/>
                </a:moveTo>
                <a:lnTo>
                  <a:pt x="7683" y="8477"/>
                </a:lnTo>
                <a:lnTo>
                  <a:pt x="7620" y="10667"/>
                </a:lnTo>
                <a:lnTo>
                  <a:pt x="9143" y="9207"/>
                </a:lnTo>
                <a:lnTo>
                  <a:pt x="9144" y="7747"/>
                </a:lnTo>
                <a:close/>
              </a:path>
              <a:path w="33654" h="20320">
                <a:moveTo>
                  <a:pt x="10668" y="7747"/>
                </a:moveTo>
                <a:lnTo>
                  <a:pt x="9144" y="9207"/>
                </a:lnTo>
                <a:lnTo>
                  <a:pt x="9144" y="10667"/>
                </a:lnTo>
                <a:lnTo>
                  <a:pt x="10668" y="7747"/>
                </a:lnTo>
                <a:close/>
              </a:path>
              <a:path w="33654" h="20320">
                <a:moveTo>
                  <a:pt x="10668" y="7747"/>
                </a:moveTo>
                <a:lnTo>
                  <a:pt x="9144" y="10667"/>
                </a:lnTo>
                <a:lnTo>
                  <a:pt x="10667" y="9207"/>
                </a:lnTo>
                <a:lnTo>
                  <a:pt x="10668" y="7747"/>
                </a:lnTo>
                <a:close/>
              </a:path>
              <a:path w="33654" h="20320">
                <a:moveTo>
                  <a:pt x="11669" y="8247"/>
                </a:moveTo>
                <a:lnTo>
                  <a:pt x="10668" y="9207"/>
                </a:lnTo>
                <a:lnTo>
                  <a:pt x="10668" y="10667"/>
                </a:lnTo>
                <a:lnTo>
                  <a:pt x="12191" y="9207"/>
                </a:lnTo>
                <a:lnTo>
                  <a:pt x="12128" y="8477"/>
                </a:lnTo>
                <a:lnTo>
                  <a:pt x="11669" y="8247"/>
                </a:lnTo>
                <a:close/>
              </a:path>
              <a:path w="33654" h="20320">
                <a:moveTo>
                  <a:pt x="12670" y="8748"/>
                </a:moveTo>
                <a:lnTo>
                  <a:pt x="12192" y="9207"/>
                </a:lnTo>
                <a:lnTo>
                  <a:pt x="12192" y="10667"/>
                </a:lnTo>
                <a:lnTo>
                  <a:pt x="12953" y="9207"/>
                </a:lnTo>
                <a:lnTo>
                  <a:pt x="12994" y="8910"/>
                </a:lnTo>
                <a:lnTo>
                  <a:pt x="12670" y="8748"/>
                </a:lnTo>
                <a:close/>
              </a:path>
              <a:path w="33654" h="20320">
                <a:moveTo>
                  <a:pt x="13085" y="8955"/>
                </a:moveTo>
                <a:lnTo>
                  <a:pt x="12192" y="10667"/>
                </a:lnTo>
                <a:lnTo>
                  <a:pt x="13588" y="9329"/>
                </a:lnTo>
                <a:lnTo>
                  <a:pt x="13085" y="8955"/>
                </a:lnTo>
                <a:close/>
              </a:path>
              <a:path w="33654" h="20320">
                <a:moveTo>
                  <a:pt x="14194" y="8748"/>
                </a:moveTo>
                <a:lnTo>
                  <a:pt x="13716" y="9207"/>
                </a:lnTo>
                <a:lnTo>
                  <a:pt x="13716" y="10667"/>
                </a:lnTo>
                <a:lnTo>
                  <a:pt x="15112" y="9329"/>
                </a:lnTo>
                <a:lnTo>
                  <a:pt x="14194" y="8748"/>
                </a:lnTo>
                <a:close/>
              </a:path>
              <a:path w="33654" h="20320">
                <a:moveTo>
                  <a:pt x="15718" y="8748"/>
                </a:moveTo>
                <a:lnTo>
                  <a:pt x="15240" y="9207"/>
                </a:lnTo>
                <a:lnTo>
                  <a:pt x="15240" y="10667"/>
                </a:lnTo>
                <a:lnTo>
                  <a:pt x="16636" y="9329"/>
                </a:lnTo>
                <a:lnTo>
                  <a:pt x="15718" y="8748"/>
                </a:lnTo>
                <a:close/>
              </a:path>
              <a:path w="33654" h="20320">
                <a:moveTo>
                  <a:pt x="17242" y="8748"/>
                </a:moveTo>
                <a:lnTo>
                  <a:pt x="16763" y="9207"/>
                </a:lnTo>
                <a:lnTo>
                  <a:pt x="16763" y="10667"/>
                </a:lnTo>
                <a:lnTo>
                  <a:pt x="17525" y="9207"/>
                </a:lnTo>
                <a:lnTo>
                  <a:pt x="17566" y="8910"/>
                </a:lnTo>
                <a:lnTo>
                  <a:pt x="17242" y="8748"/>
                </a:lnTo>
                <a:close/>
              </a:path>
              <a:path w="33654" h="20320">
                <a:moveTo>
                  <a:pt x="18288" y="9207"/>
                </a:moveTo>
                <a:lnTo>
                  <a:pt x="18287" y="10667"/>
                </a:lnTo>
                <a:lnTo>
                  <a:pt x="18796" y="9694"/>
                </a:lnTo>
                <a:lnTo>
                  <a:pt x="18288" y="9207"/>
                </a:lnTo>
                <a:close/>
              </a:path>
              <a:path w="33654" h="20320">
                <a:moveTo>
                  <a:pt x="18796" y="9694"/>
                </a:moveTo>
                <a:lnTo>
                  <a:pt x="18287" y="10667"/>
                </a:lnTo>
                <a:lnTo>
                  <a:pt x="19050" y="9937"/>
                </a:lnTo>
                <a:lnTo>
                  <a:pt x="18796" y="9694"/>
                </a:lnTo>
                <a:close/>
              </a:path>
              <a:path w="33654" h="20320">
                <a:moveTo>
                  <a:pt x="19303" y="9694"/>
                </a:moveTo>
                <a:lnTo>
                  <a:pt x="19050" y="9937"/>
                </a:lnTo>
                <a:lnTo>
                  <a:pt x="19812" y="10667"/>
                </a:lnTo>
                <a:lnTo>
                  <a:pt x="19303" y="9694"/>
                </a:lnTo>
                <a:close/>
              </a:path>
              <a:path w="33654" h="20320">
                <a:moveTo>
                  <a:pt x="19812" y="9207"/>
                </a:moveTo>
                <a:lnTo>
                  <a:pt x="19303" y="9694"/>
                </a:lnTo>
                <a:lnTo>
                  <a:pt x="19812" y="10667"/>
                </a:lnTo>
                <a:lnTo>
                  <a:pt x="19812" y="9207"/>
                </a:lnTo>
                <a:close/>
              </a:path>
              <a:path w="33654" h="20320">
                <a:moveTo>
                  <a:pt x="20574" y="8477"/>
                </a:moveTo>
                <a:lnTo>
                  <a:pt x="19812" y="9207"/>
                </a:lnTo>
                <a:lnTo>
                  <a:pt x="21336" y="10667"/>
                </a:lnTo>
                <a:lnTo>
                  <a:pt x="21336" y="9207"/>
                </a:lnTo>
                <a:lnTo>
                  <a:pt x="20574" y="8477"/>
                </a:lnTo>
                <a:close/>
              </a:path>
              <a:path w="33654" h="20320">
                <a:moveTo>
                  <a:pt x="21336" y="9207"/>
                </a:moveTo>
                <a:lnTo>
                  <a:pt x="21336" y="10667"/>
                </a:lnTo>
                <a:lnTo>
                  <a:pt x="21844" y="9694"/>
                </a:lnTo>
                <a:lnTo>
                  <a:pt x="21336" y="9207"/>
                </a:lnTo>
                <a:close/>
              </a:path>
              <a:path w="33654" h="20320">
                <a:moveTo>
                  <a:pt x="21844" y="9694"/>
                </a:moveTo>
                <a:lnTo>
                  <a:pt x="21336" y="10667"/>
                </a:lnTo>
                <a:lnTo>
                  <a:pt x="22114" y="9953"/>
                </a:lnTo>
                <a:lnTo>
                  <a:pt x="21844" y="9694"/>
                </a:lnTo>
                <a:close/>
              </a:path>
              <a:path w="33654" h="20320">
                <a:moveTo>
                  <a:pt x="22366" y="9722"/>
                </a:moveTo>
                <a:lnTo>
                  <a:pt x="22114" y="9953"/>
                </a:lnTo>
                <a:lnTo>
                  <a:pt x="22860" y="10667"/>
                </a:lnTo>
                <a:lnTo>
                  <a:pt x="22366" y="9722"/>
                </a:lnTo>
                <a:close/>
              </a:path>
              <a:path w="33654" h="20320">
                <a:moveTo>
                  <a:pt x="22860" y="9271"/>
                </a:moveTo>
                <a:lnTo>
                  <a:pt x="22398" y="9694"/>
                </a:lnTo>
                <a:lnTo>
                  <a:pt x="22478" y="9937"/>
                </a:lnTo>
                <a:lnTo>
                  <a:pt x="22860" y="10667"/>
                </a:lnTo>
                <a:lnTo>
                  <a:pt x="22860" y="9271"/>
                </a:lnTo>
                <a:close/>
              </a:path>
              <a:path w="33654" h="20320">
                <a:moveTo>
                  <a:pt x="22860" y="9207"/>
                </a:moveTo>
                <a:lnTo>
                  <a:pt x="22860" y="10667"/>
                </a:lnTo>
                <a:lnTo>
                  <a:pt x="23638" y="9953"/>
                </a:lnTo>
                <a:lnTo>
                  <a:pt x="22860" y="9207"/>
                </a:lnTo>
                <a:close/>
              </a:path>
              <a:path w="33654" h="20320">
                <a:moveTo>
                  <a:pt x="24384" y="9271"/>
                </a:moveTo>
                <a:lnTo>
                  <a:pt x="23638" y="9953"/>
                </a:lnTo>
                <a:lnTo>
                  <a:pt x="24384" y="10667"/>
                </a:lnTo>
                <a:lnTo>
                  <a:pt x="24384" y="9271"/>
                </a:lnTo>
                <a:close/>
              </a:path>
              <a:path w="33654" h="20320">
                <a:moveTo>
                  <a:pt x="25400" y="9694"/>
                </a:moveTo>
                <a:lnTo>
                  <a:pt x="25300" y="10086"/>
                </a:lnTo>
                <a:lnTo>
                  <a:pt x="25908" y="10667"/>
                </a:lnTo>
                <a:lnTo>
                  <a:pt x="25400" y="9694"/>
                </a:lnTo>
                <a:close/>
              </a:path>
              <a:path w="33654" h="20320">
                <a:moveTo>
                  <a:pt x="25598" y="8910"/>
                </a:moveTo>
                <a:lnTo>
                  <a:pt x="25526" y="9937"/>
                </a:lnTo>
                <a:lnTo>
                  <a:pt x="25908" y="10667"/>
                </a:lnTo>
                <a:lnTo>
                  <a:pt x="25908" y="9207"/>
                </a:lnTo>
                <a:lnTo>
                  <a:pt x="25598" y="8910"/>
                </a:lnTo>
                <a:close/>
              </a:path>
              <a:path w="33654" h="20320">
                <a:moveTo>
                  <a:pt x="25908" y="7747"/>
                </a:moveTo>
                <a:lnTo>
                  <a:pt x="25908" y="9207"/>
                </a:lnTo>
                <a:lnTo>
                  <a:pt x="27432" y="10667"/>
                </a:lnTo>
                <a:lnTo>
                  <a:pt x="25908" y="7747"/>
                </a:lnTo>
                <a:close/>
              </a:path>
              <a:path w="33654" h="20320">
                <a:moveTo>
                  <a:pt x="27432" y="9271"/>
                </a:moveTo>
                <a:lnTo>
                  <a:pt x="28956" y="10667"/>
                </a:lnTo>
                <a:lnTo>
                  <a:pt x="27559" y="9329"/>
                </a:lnTo>
                <a:lnTo>
                  <a:pt x="27432" y="9271"/>
                </a:lnTo>
                <a:close/>
              </a:path>
              <a:path w="33654" h="20320">
                <a:moveTo>
                  <a:pt x="27559" y="9329"/>
                </a:moveTo>
                <a:lnTo>
                  <a:pt x="28956" y="10667"/>
                </a:lnTo>
                <a:lnTo>
                  <a:pt x="28477" y="9749"/>
                </a:lnTo>
                <a:lnTo>
                  <a:pt x="27559" y="9329"/>
                </a:lnTo>
                <a:close/>
              </a:path>
              <a:path w="33654" h="20320">
                <a:moveTo>
                  <a:pt x="30480" y="4699"/>
                </a:moveTo>
                <a:lnTo>
                  <a:pt x="29543" y="10238"/>
                </a:lnTo>
                <a:lnTo>
                  <a:pt x="30480" y="10667"/>
                </a:lnTo>
                <a:lnTo>
                  <a:pt x="30480" y="4699"/>
                </a:lnTo>
                <a:close/>
              </a:path>
              <a:path w="33654" h="20320">
                <a:moveTo>
                  <a:pt x="29964" y="7747"/>
                </a:moveTo>
                <a:lnTo>
                  <a:pt x="27432" y="7747"/>
                </a:lnTo>
                <a:lnTo>
                  <a:pt x="28477" y="9749"/>
                </a:lnTo>
                <a:lnTo>
                  <a:pt x="29543" y="10238"/>
                </a:lnTo>
                <a:lnTo>
                  <a:pt x="29964" y="7747"/>
                </a:lnTo>
                <a:close/>
              </a:path>
              <a:path w="33654" h="20320">
                <a:moveTo>
                  <a:pt x="24384" y="7747"/>
                </a:moveTo>
                <a:lnTo>
                  <a:pt x="24384" y="9207"/>
                </a:lnTo>
                <a:lnTo>
                  <a:pt x="25300" y="10086"/>
                </a:lnTo>
                <a:lnTo>
                  <a:pt x="25400" y="9694"/>
                </a:lnTo>
                <a:lnTo>
                  <a:pt x="24384" y="7747"/>
                </a:lnTo>
                <a:close/>
              </a:path>
              <a:path w="33654" h="20320">
                <a:moveTo>
                  <a:pt x="22098" y="9207"/>
                </a:moveTo>
                <a:lnTo>
                  <a:pt x="21844" y="9694"/>
                </a:lnTo>
                <a:lnTo>
                  <a:pt x="22114" y="9953"/>
                </a:lnTo>
                <a:lnTo>
                  <a:pt x="22337" y="9749"/>
                </a:lnTo>
                <a:lnTo>
                  <a:pt x="22098" y="9207"/>
                </a:lnTo>
                <a:close/>
              </a:path>
              <a:path w="33654" h="20320">
                <a:moveTo>
                  <a:pt x="22860" y="7747"/>
                </a:moveTo>
                <a:lnTo>
                  <a:pt x="22860" y="9207"/>
                </a:lnTo>
                <a:lnTo>
                  <a:pt x="23638" y="9953"/>
                </a:lnTo>
                <a:lnTo>
                  <a:pt x="24320" y="9329"/>
                </a:lnTo>
                <a:lnTo>
                  <a:pt x="22860" y="7747"/>
                </a:lnTo>
                <a:close/>
              </a:path>
              <a:path w="33654" h="20320">
                <a:moveTo>
                  <a:pt x="19050" y="9207"/>
                </a:moveTo>
                <a:lnTo>
                  <a:pt x="18796" y="9694"/>
                </a:lnTo>
                <a:lnTo>
                  <a:pt x="19050" y="9937"/>
                </a:lnTo>
                <a:lnTo>
                  <a:pt x="19303" y="9694"/>
                </a:lnTo>
                <a:lnTo>
                  <a:pt x="19050" y="9207"/>
                </a:lnTo>
                <a:close/>
              </a:path>
              <a:path w="33654" h="20320">
                <a:moveTo>
                  <a:pt x="27432" y="1650"/>
                </a:moveTo>
                <a:lnTo>
                  <a:pt x="25908" y="7683"/>
                </a:lnTo>
                <a:lnTo>
                  <a:pt x="27559" y="9329"/>
                </a:lnTo>
                <a:lnTo>
                  <a:pt x="28477" y="9749"/>
                </a:lnTo>
                <a:lnTo>
                  <a:pt x="27432" y="7747"/>
                </a:lnTo>
                <a:lnTo>
                  <a:pt x="29964" y="7747"/>
                </a:lnTo>
                <a:lnTo>
                  <a:pt x="30480" y="4699"/>
                </a:lnTo>
                <a:lnTo>
                  <a:pt x="27432" y="1650"/>
                </a:lnTo>
                <a:close/>
              </a:path>
              <a:path w="33654" h="20320">
                <a:moveTo>
                  <a:pt x="22337" y="8748"/>
                </a:moveTo>
                <a:lnTo>
                  <a:pt x="22252" y="8910"/>
                </a:lnTo>
                <a:lnTo>
                  <a:pt x="22161" y="9329"/>
                </a:lnTo>
                <a:lnTo>
                  <a:pt x="22366" y="9722"/>
                </a:lnTo>
                <a:lnTo>
                  <a:pt x="22796" y="9329"/>
                </a:lnTo>
                <a:lnTo>
                  <a:pt x="22337" y="8748"/>
                </a:lnTo>
                <a:close/>
              </a:path>
              <a:path w="33654" h="20320">
                <a:moveTo>
                  <a:pt x="18287" y="7747"/>
                </a:moveTo>
                <a:lnTo>
                  <a:pt x="18320" y="9238"/>
                </a:lnTo>
                <a:lnTo>
                  <a:pt x="18796" y="9694"/>
                </a:lnTo>
                <a:lnTo>
                  <a:pt x="19049" y="9207"/>
                </a:lnTo>
                <a:lnTo>
                  <a:pt x="18287" y="7747"/>
                </a:lnTo>
                <a:close/>
              </a:path>
              <a:path w="33654" h="20320">
                <a:moveTo>
                  <a:pt x="19303" y="8720"/>
                </a:moveTo>
                <a:lnTo>
                  <a:pt x="19204" y="8910"/>
                </a:lnTo>
                <a:lnTo>
                  <a:pt x="19113" y="9329"/>
                </a:lnTo>
                <a:lnTo>
                  <a:pt x="19303" y="9694"/>
                </a:lnTo>
                <a:lnTo>
                  <a:pt x="19811" y="9207"/>
                </a:lnTo>
                <a:lnTo>
                  <a:pt x="19303" y="8720"/>
                </a:lnTo>
                <a:close/>
              </a:path>
              <a:path w="33654" h="20320">
                <a:moveTo>
                  <a:pt x="21336" y="7747"/>
                </a:moveTo>
                <a:lnTo>
                  <a:pt x="21368" y="9238"/>
                </a:lnTo>
                <a:lnTo>
                  <a:pt x="21844" y="9694"/>
                </a:lnTo>
                <a:lnTo>
                  <a:pt x="22097" y="9207"/>
                </a:lnTo>
                <a:lnTo>
                  <a:pt x="21336" y="7747"/>
                </a:lnTo>
                <a:close/>
              </a:path>
              <a:path w="33654" h="20320">
                <a:moveTo>
                  <a:pt x="24384" y="7747"/>
                </a:moveTo>
                <a:lnTo>
                  <a:pt x="25400" y="9694"/>
                </a:lnTo>
                <a:lnTo>
                  <a:pt x="25598" y="8910"/>
                </a:lnTo>
                <a:lnTo>
                  <a:pt x="24384" y="7747"/>
                </a:lnTo>
                <a:close/>
              </a:path>
              <a:path w="33654" h="20320">
                <a:moveTo>
                  <a:pt x="27498" y="9271"/>
                </a:moveTo>
                <a:close/>
              </a:path>
              <a:path w="33654" h="20320">
                <a:moveTo>
                  <a:pt x="3048" y="4699"/>
                </a:moveTo>
                <a:lnTo>
                  <a:pt x="63" y="7683"/>
                </a:lnTo>
                <a:lnTo>
                  <a:pt x="0" y="9271"/>
                </a:lnTo>
                <a:lnTo>
                  <a:pt x="3048" y="6223"/>
                </a:lnTo>
                <a:lnTo>
                  <a:pt x="3048" y="4699"/>
                </a:lnTo>
                <a:close/>
              </a:path>
              <a:path w="33654" h="20320">
                <a:moveTo>
                  <a:pt x="4572" y="7747"/>
                </a:moveTo>
                <a:lnTo>
                  <a:pt x="3111" y="8477"/>
                </a:lnTo>
                <a:lnTo>
                  <a:pt x="3048" y="9271"/>
                </a:lnTo>
                <a:lnTo>
                  <a:pt x="4572" y="8509"/>
                </a:lnTo>
                <a:lnTo>
                  <a:pt x="4572" y="7747"/>
                </a:lnTo>
                <a:close/>
              </a:path>
              <a:path w="33654" h="20320">
                <a:moveTo>
                  <a:pt x="6096" y="7747"/>
                </a:moveTo>
                <a:lnTo>
                  <a:pt x="4635" y="8477"/>
                </a:lnTo>
                <a:lnTo>
                  <a:pt x="4572" y="9271"/>
                </a:lnTo>
                <a:lnTo>
                  <a:pt x="6096" y="7747"/>
                </a:lnTo>
                <a:close/>
              </a:path>
              <a:path w="33654" h="20320">
                <a:moveTo>
                  <a:pt x="6096" y="7747"/>
                </a:moveTo>
                <a:lnTo>
                  <a:pt x="4572" y="9271"/>
                </a:lnTo>
                <a:lnTo>
                  <a:pt x="6096" y="8509"/>
                </a:lnTo>
                <a:lnTo>
                  <a:pt x="6096" y="7747"/>
                </a:lnTo>
                <a:close/>
              </a:path>
              <a:path w="33654" h="20320">
                <a:moveTo>
                  <a:pt x="7620" y="7747"/>
                </a:moveTo>
                <a:lnTo>
                  <a:pt x="6159" y="8477"/>
                </a:lnTo>
                <a:lnTo>
                  <a:pt x="6096" y="9271"/>
                </a:lnTo>
                <a:lnTo>
                  <a:pt x="7620" y="8509"/>
                </a:lnTo>
                <a:lnTo>
                  <a:pt x="7620" y="7747"/>
                </a:lnTo>
                <a:close/>
              </a:path>
              <a:path w="33654" h="20320">
                <a:moveTo>
                  <a:pt x="17779" y="8720"/>
                </a:moveTo>
                <a:lnTo>
                  <a:pt x="17657" y="8955"/>
                </a:lnTo>
                <a:lnTo>
                  <a:pt x="18287" y="9271"/>
                </a:lnTo>
                <a:lnTo>
                  <a:pt x="17779" y="8720"/>
                </a:lnTo>
                <a:close/>
              </a:path>
              <a:path w="33654" h="20320">
                <a:moveTo>
                  <a:pt x="22351" y="8720"/>
                </a:moveTo>
                <a:lnTo>
                  <a:pt x="22860" y="9271"/>
                </a:lnTo>
                <a:lnTo>
                  <a:pt x="22351" y="8720"/>
                </a:lnTo>
                <a:close/>
              </a:path>
              <a:path w="33654" h="20320">
                <a:moveTo>
                  <a:pt x="13193" y="8748"/>
                </a:moveTo>
                <a:lnTo>
                  <a:pt x="13085" y="8955"/>
                </a:lnTo>
                <a:lnTo>
                  <a:pt x="13672" y="9249"/>
                </a:lnTo>
                <a:lnTo>
                  <a:pt x="13193" y="8748"/>
                </a:lnTo>
                <a:close/>
              </a:path>
              <a:path w="33654" h="20320">
                <a:moveTo>
                  <a:pt x="14717" y="8247"/>
                </a:moveTo>
                <a:lnTo>
                  <a:pt x="14194" y="8748"/>
                </a:lnTo>
                <a:lnTo>
                  <a:pt x="15196" y="9249"/>
                </a:lnTo>
                <a:lnTo>
                  <a:pt x="15176" y="8477"/>
                </a:lnTo>
                <a:lnTo>
                  <a:pt x="14717" y="8247"/>
                </a:lnTo>
                <a:close/>
              </a:path>
              <a:path w="33654" h="20320">
                <a:moveTo>
                  <a:pt x="16241" y="8247"/>
                </a:moveTo>
                <a:lnTo>
                  <a:pt x="15718" y="8748"/>
                </a:lnTo>
                <a:lnTo>
                  <a:pt x="16720" y="9249"/>
                </a:lnTo>
                <a:lnTo>
                  <a:pt x="16700" y="8477"/>
                </a:lnTo>
                <a:lnTo>
                  <a:pt x="16241" y="8247"/>
                </a:lnTo>
                <a:close/>
              </a:path>
              <a:path w="33654" h="20320">
                <a:moveTo>
                  <a:pt x="13400" y="8351"/>
                </a:moveTo>
                <a:lnTo>
                  <a:pt x="13193" y="8748"/>
                </a:lnTo>
                <a:lnTo>
                  <a:pt x="13683" y="9238"/>
                </a:lnTo>
                <a:lnTo>
                  <a:pt x="13652" y="8477"/>
                </a:lnTo>
                <a:lnTo>
                  <a:pt x="13400" y="8351"/>
                </a:lnTo>
                <a:close/>
              </a:path>
              <a:path w="33654" h="20320">
                <a:moveTo>
                  <a:pt x="10668" y="3175"/>
                </a:moveTo>
                <a:lnTo>
                  <a:pt x="9144" y="4699"/>
                </a:lnTo>
                <a:lnTo>
                  <a:pt x="9144" y="9207"/>
                </a:lnTo>
                <a:lnTo>
                  <a:pt x="10668" y="7747"/>
                </a:lnTo>
                <a:lnTo>
                  <a:pt x="10668" y="3175"/>
                </a:lnTo>
                <a:close/>
              </a:path>
              <a:path w="33654" h="20320">
                <a:moveTo>
                  <a:pt x="10668" y="7747"/>
                </a:moveTo>
                <a:lnTo>
                  <a:pt x="10668" y="9207"/>
                </a:lnTo>
                <a:lnTo>
                  <a:pt x="11669" y="8247"/>
                </a:lnTo>
                <a:lnTo>
                  <a:pt x="10668" y="7747"/>
                </a:lnTo>
                <a:close/>
              </a:path>
              <a:path w="33654" h="20320">
                <a:moveTo>
                  <a:pt x="12192" y="8509"/>
                </a:moveTo>
                <a:lnTo>
                  <a:pt x="12192" y="9207"/>
                </a:lnTo>
                <a:lnTo>
                  <a:pt x="12501" y="8910"/>
                </a:lnTo>
                <a:lnTo>
                  <a:pt x="12615" y="8720"/>
                </a:lnTo>
                <a:lnTo>
                  <a:pt x="12192" y="8509"/>
                </a:lnTo>
                <a:close/>
              </a:path>
              <a:path w="33654" h="20320">
                <a:moveTo>
                  <a:pt x="13716" y="8509"/>
                </a:moveTo>
                <a:lnTo>
                  <a:pt x="13716" y="9207"/>
                </a:lnTo>
                <a:lnTo>
                  <a:pt x="14025" y="8910"/>
                </a:lnTo>
                <a:lnTo>
                  <a:pt x="14139" y="8720"/>
                </a:lnTo>
                <a:lnTo>
                  <a:pt x="13716" y="8509"/>
                </a:lnTo>
                <a:close/>
              </a:path>
              <a:path w="33654" h="20320">
                <a:moveTo>
                  <a:pt x="15240" y="8509"/>
                </a:moveTo>
                <a:lnTo>
                  <a:pt x="15240" y="9207"/>
                </a:lnTo>
                <a:lnTo>
                  <a:pt x="15549" y="8910"/>
                </a:lnTo>
                <a:lnTo>
                  <a:pt x="15663" y="8720"/>
                </a:lnTo>
                <a:lnTo>
                  <a:pt x="15240" y="8509"/>
                </a:lnTo>
                <a:close/>
              </a:path>
              <a:path w="33654" h="20320">
                <a:moveTo>
                  <a:pt x="16763" y="8509"/>
                </a:moveTo>
                <a:lnTo>
                  <a:pt x="16763" y="9207"/>
                </a:lnTo>
                <a:lnTo>
                  <a:pt x="17073" y="8910"/>
                </a:lnTo>
                <a:lnTo>
                  <a:pt x="17187" y="8720"/>
                </a:lnTo>
                <a:lnTo>
                  <a:pt x="16763" y="8509"/>
                </a:lnTo>
                <a:close/>
              </a:path>
              <a:path w="33654" h="20320">
                <a:moveTo>
                  <a:pt x="18287" y="7747"/>
                </a:moveTo>
                <a:lnTo>
                  <a:pt x="17906" y="8477"/>
                </a:lnTo>
                <a:lnTo>
                  <a:pt x="17809" y="8748"/>
                </a:lnTo>
                <a:lnTo>
                  <a:pt x="18288" y="9207"/>
                </a:lnTo>
                <a:lnTo>
                  <a:pt x="18287" y="7747"/>
                </a:lnTo>
                <a:close/>
              </a:path>
              <a:path w="33654" h="20320">
                <a:moveTo>
                  <a:pt x="18287" y="7747"/>
                </a:moveTo>
                <a:lnTo>
                  <a:pt x="19050" y="9207"/>
                </a:lnTo>
                <a:lnTo>
                  <a:pt x="19303" y="8720"/>
                </a:lnTo>
                <a:lnTo>
                  <a:pt x="18287" y="7747"/>
                </a:lnTo>
                <a:close/>
              </a:path>
              <a:path w="33654" h="20320">
                <a:moveTo>
                  <a:pt x="19812" y="7747"/>
                </a:moveTo>
                <a:lnTo>
                  <a:pt x="19430" y="8477"/>
                </a:lnTo>
                <a:lnTo>
                  <a:pt x="19333" y="8748"/>
                </a:lnTo>
                <a:lnTo>
                  <a:pt x="19812" y="9207"/>
                </a:lnTo>
                <a:lnTo>
                  <a:pt x="19812" y="7747"/>
                </a:lnTo>
                <a:close/>
              </a:path>
              <a:path w="33654" h="20320">
                <a:moveTo>
                  <a:pt x="19812" y="7747"/>
                </a:moveTo>
                <a:lnTo>
                  <a:pt x="19812" y="9207"/>
                </a:lnTo>
                <a:lnTo>
                  <a:pt x="20574" y="8477"/>
                </a:lnTo>
                <a:lnTo>
                  <a:pt x="19812" y="7747"/>
                </a:lnTo>
                <a:close/>
              </a:path>
              <a:path w="33654" h="20320">
                <a:moveTo>
                  <a:pt x="21336" y="7747"/>
                </a:moveTo>
                <a:lnTo>
                  <a:pt x="20705" y="8351"/>
                </a:lnTo>
                <a:lnTo>
                  <a:pt x="20607" y="8509"/>
                </a:lnTo>
                <a:lnTo>
                  <a:pt x="21336" y="9207"/>
                </a:lnTo>
                <a:lnTo>
                  <a:pt x="21336" y="7747"/>
                </a:lnTo>
                <a:close/>
              </a:path>
              <a:path w="33654" h="20320">
                <a:moveTo>
                  <a:pt x="21336" y="7747"/>
                </a:moveTo>
                <a:lnTo>
                  <a:pt x="22098" y="9207"/>
                </a:lnTo>
                <a:lnTo>
                  <a:pt x="22229" y="8955"/>
                </a:lnTo>
                <a:lnTo>
                  <a:pt x="22309" y="8720"/>
                </a:lnTo>
                <a:lnTo>
                  <a:pt x="21336" y="7747"/>
                </a:lnTo>
                <a:close/>
              </a:path>
              <a:path w="33654" h="20320">
                <a:moveTo>
                  <a:pt x="22860" y="7747"/>
                </a:moveTo>
                <a:lnTo>
                  <a:pt x="22478" y="8477"/>
                </a:lnTo>
                <a:lnTo>
                  <a:pt x="22381" y="8748"/>
                </a:lnTo>
                <a:lnTo>
                  <a:pt x="22860" y="9207"/>
                </a:lnTo>
                <a:lnTo>
                  <a:pt x="22860" y="7747"/>
                </a:lnTo>
                <a:close/>
              </a:path>
              <a:path w="33654" h="20320">
                <a:moveTo>
                  <a:pt x="24384" y="4699"/>
                </a:moveTo>
                <a:lnTo>
                  <a:pt x="22860" y="6223"/>
                </a:lnTo>
                <a:lnTo>
                  <a:pt x="22860" y="7747"/>
                </a:lnTo>
                <a:lnTo>
                  <a:pt x="24384" y="9207"/>
                </a:lnTo>
                <a:lnTo>
                  <a:pt x="24384" y="4699"/>
                </a:lnTo>
                <a:close/>
              </a:path>
              <a:path w="33654" h="20320">
                <a:moveTo>
                  <a:pt x="25908" y="7683"/>
                </a:moveTo>
                <a:lnTo>
                  <a:pt x="25765" y="8247"/>
                </a:lnTo>
                <a:lnTo>
                  <a:pt x="25645" y="8955"/>
                </a:lnTo>
                <a:lnTo>
                  <a:pt x="25908" y="9207"/>
                </a:lnTo>
                <a:lnTo>
                  <a:pt x="25908" y="7683"/>
                </a:lnTo>
                <a:close/>
              </a:path>
              <a:path w="33654" h="20320">
                <a:moveTo>
                  <a:pt x="12937" y="8492"/>
                </a:moveTo>
                <a:lnTo>
                  <a:pt x="12670" y="8748"/>
                </a:lnTo>
                <a:lnTo>
                  <a:pt x="13085" y="8955"/>
                </a:lnTo>
                <a:lnTo>
                  <a:pt x="13165" y="8720"/>
                </a:lnTo>
                <a:lnTo>
                  <a:pt x="12937" y="8492"/>
                </a:lnTo>
                <a:close/>
              </a:path>
              <a:path w="33654" h="20320">
                <a:moveTo>
                  <a:pt x="17525" y="8477"/>
                </a:moveTo>
                <a:lnTo>
                  <a:pt x="17242" y="8748"/>
                </a:lnTo>
                <a:lnTo>
                  <a:pt x="17657" y="8955"/>
                </a:lnTo>
                <a:lnTo>
                  <a:pt x="17779" y="8720"/>
                </a:lnTo>
                <a:lnTo>
                  <a:pt x="17525" y="8477"/>
                </a:lnTo>
                <a:close/>
              </a:path>
              <a:path w="33654" h="20320">
                <a:moveTo>
                  <a:pt x="25146" y="3937"/>
                </a:moveTo>
                <a:lnTo>
                  <a:pt x="24384" y="4699"/>
                </a:lnTo>
                <a:lnTo>
                  <a:pt x="24384" y="7747"/>
                </a:lnTo>
                <a:lnTo>
                  <a:pt x="25598" y="8910"/>
                </a:lnTo>
                <a:lnTo>
                  <a:pt x="25891" y="7747"/>
                </a:lnTo>
                <a:lnTo>
                  <a:pt x="25908" y="4699"/>
                </a:lnTo>
                <a:lnTo>
                  <a:pt x="25146" y="3937"/>
                </a:lnTo>
                <a:close/>
              </a:path>
              <a:path w="33654" h="20320">
                <a:moveTo>
                  <a:pt x="12192" y="7747"/>
                </a:moveTo>
                <a:lnTo>
                  <a:pt x="12192" y="8509"/>
                </a:lnTo>
                <a:lnTo>
                  <a:pt x="12670" y="8748"/>
                </a:lnTo>
                <a:lnTo>
                  <a:pt x="12920" y="8509"/>
                </a:lnTo>
                <a:lnTo>
                  <a:pt x="12692" y="8247"/>
                </a:lnTo>
                <a:lnTo>
                  <a:pt x="12192" y="7747"/>
                </a:lnTo>
                <a:close/>
              </a:path>
              <a:path w="33654" h="20320">
                <a:moveTo>
                  <a:pt x="13193" y="8247"/>
                </a:moveTo>
                <a:lnTo>
                  <a:pt x="12954" y="8477"/>
                </a:lnTo>
                <a:lnTo>
                  <a:pt x="13193" y="8748"/>
                </a:lnTo>
                <a:lnTo>
                  <a:pt x="13400" y="8351"/>
                </a:lnTo>
                <a:lnTo>
                  <a:pt x="13193" y="8247"/>
                </a:lnTo>
                <a:close/>
              </a:path>
              <a:path w="33654" h="20320">
                <a:moveTo>
                  <a:pt x="13716" y="7747"/>
                </a:moveTo>
                <a:lnTo>
                  <a:pt x="13716" y="8509"/>
                </a:lnTo>
                <a:lnTo>
                  <a:pt x="14194" y="8748"/>
                </a:lnTo>
                <a:lnTo>
                  <a:pt x="14717" y="8247"/>
                </a:lnTo>
                <a:lnTo>
                  <a:pt x="13716" y="7747"/>
                </a:lnTo>
                <a:close/>
              </a:path>
              <a:path w="33654" h="20320">
                <a:moveTo>
                  <a:pt x="15240" y="7747"/>
                </a:moveTo>
                <a:lnTo>
                  <a:pt x="15240" y="8509"/>
                </a:lnTo>
                <a:lnTo>
                  <a:pt x="15718" y="8748"/>
                </a:lnTo>
                <a:lnTo>
                  <a:pt x="16241" y="8247"/>
                </a:lnTo>
                <a:lnTo>
                  <a:pt x="15240" y="7747"/>
                </a:lnTo>
                <a:close/>
              </a:path>
              <a:path w="33654" h="20320">
                <a:moveTo>
                  <a:pt x="16763" y="7747"/>
                </a:moveTo>
                <a:lnTo>
                  <a:pt x="16763" y="8509"/>
                </a:lnTo>
                <a:lnTo>
                  <a:pt x="17242" y="8748"/>
                </a:lnTo>
                <a:lnTo>
                  <a:pt x="17525" y="8477"/>
                </a:lnTo>
                <a:lnTo>
                  <a:pt x="16763" y="7747"/>
                </a:lnTo>
                <a:close/>
              </a:path>
              <a:path w="33654" h="20320">
                <a:moveTo>
                  <a:pt x="21336" y="7747"/>
                </a:moveTo>
                <a:lnTo>
                  <a:pt x="22337" y="8748"/>
                </a:lnTo>
                <a:lnTo>
                  <a:pt x="21336" y="7747"/>
                </a:lnTo>
                <a:close/>
              </a:path>
              <a:path w="33654" h="20320">
                <a:moveTo>
                  <a:pt x="18287" y="7747"/>
                </a:moveTo>
                <a:lnTo>
                  <a:pt x="17657" y="8351"/>
                </a:lnTo>
                <a:lnTo>
                  <a:pt x="17559" y="8509"/>
                </a:lnTo>
                <a:lnTo>
                  <a:pt x="17779" y="8720"/>
                </a:lnTo>
                <a:lnTo>
                  <a:pt x="18287" y="7747"/>
                </a:lnTo>
                <a:close/>
              </a:path>
              <a:path w="33654" h="20320">
                <a:moveTo>
                  <a:pt x="18796" y="3683"/>
                </a:moveTo>
                <a:lnTo>
                  <a:pt x="18287" y="4699"/>
                </a:lnTo>
                <a:lnTo>
                  <a:pt x="18287" y="7747"/>
                </a:lnTo>
                <a:lnTo>
                  <a:pt x="19303" y="8720"/>
                </a:lnTo>
                <a:lnTo>
                  <a:pt x="19812" y="7747"/>
                </a:lnTo>
                <a:lnTo>
                  <a:pt x="19812" y="4699"/>
                </a:lnTo>
                <a:lnTo>
                  <a:pt x="18796" y="3683"/>
                </a:lnTo>
                <a:close/>
              </a:path>
              <a:path w="33654" h="20320">
                <a:moveTo>
                  <a:pt x="22860" y="7747"/>
                </a:moveTo>
                <a:lnTo>
                  <a:pt x="21336" y="7747"/>
                </a:lnTo>
                <a:lnTo>
                  <a:pt x="22351" y="8720"/>
                </a:lnTo>
                <a:lnTo>
                  <a:pt x="22860" y="7747"/>
                </a:lnTo>
                <a:close/>
              </a:path>
              <a:path w="33654" h="20320">
                <a:moveTo>
                  <a:pt x="7620" y="0"/>
                </a:moveTo>
                <a:lnTo>
                  <a:pt x="4572" y="0"/>
                </a:lnTo>
                <a:lnTo>
                  <a:pt x="3048" y="4699"/>
                </a:lnTo>
                <a:lnTo>
                  <a:pt x="3048" y="8509"/>
                </a:lnTo>
                <a:lnTo>
                  <a:pt x="4572" y="7747"/>
                </a:lnTo>
                <a:lnTo>
                  <a:pt x="4572" y="4699"/>
                </a:lnTo>
                <a:lnTo>
                  <a:pt x="7620" y="0"/>
                </a:lnTo>
                <a:close/>
              </a:path>
              <a:path w="33654" h="20320">
                <a:moveTo>
                  <a:pt x="7620" y="0"/>
                </a:moveTo>
                <a:lnTo>
                  <a:pt x="4572" y="4699"/>
                </a:lnTo>
                <a:lnTo>
                  <a:pt x="4572" y="8509"/>
                </a:lnTo>
                <a:lnTo>
                  <a:pt x="6096" y="7747"/>
                </a:lnTo>
                <a:lnTo>
                  <a:pt x="6096" y="4699"/>
                </a:lnTo>
                <a:lnTo>
                  <a:pt x="7620" y="3175"/>
                </a:lnTo>
                <a:lnTo>
                  <a:pt x="7620" y="0"/>
                </a:lnTo>
                <a:close/>
              </a:path>
              <a:path w="33654" h="20320">
                <a:moveTo>
                  <a:pt x="7620" y="3175"/>
                </a:moveTo>
                <a:lnTo>
                  <a:pt x="6096" y="4699"/>
                </a:lnTo>
                <a:lnTo>
                  <a:pt x="6096" y="8509"/>
                </a:lnTo>
                <a:lnTo>
                  <a:pt x="7620" y="7747"/>
                </a:lnTo>
                <a:lnTo>
                  <a:pt x="7620" y="3175"/>
                </a:lnTo>
                <a:close/>
              </a:path>
              <a:path w="33654" h="20320">
                <a:moveTo>
                  <a:pt x="9144" y="1650"/>
                </a:moveTo>
                <a:lnTo>
                  <a:pt x="7620" y="3175"/>
                </a:lnTo>
                <a:lnTo>
                  <a:pt x="7620" y="8509"/>
                </a:lnTo>
                <a:lnTo>
                  <a:pt x="9144" y="7747"/>
                </a:lnTo>
                <a:lnTo>
                  <a:pt x="9144" y="1650"/>
                </a:lnTo>
                <a:close/>
              </a:path>
              <a:path w="33654" h="20320">
                <a:moveTo>
                  <a:pt x="12192" y="7747"/>
                </a:moveTo>
                <a:lnTo>
                  <a:pt x="11669" y="8247"/>
                </a:lnTo>
                <a:lnTo>
                  <a:pt x="12192" y="8509"/>
                </a:lnTo>
                <a:lnTo>
                  <a:pt x="12192" y="7747"/>
                </a:lnTo>
                <a:close/>
              </a:path>
              <a:path w="33654" h="20320">
                <a:moveTo>
                  <a:pt x="13716" y="7747"/>
                </a:moveTo>
                <a:lnTo>
                  <a:pt x="13400" y="8351"/>
                </a:lnTo>
                <a:lnTo>
                  <a:pt x="13716" y="8509"/>
                </a:lnTo>
                <a:lnTo>
                  <a:pt x="13716" y="7747"/>
                </a:lnTo>
                <a:close/>
              </a:path>
              <a:path w="33654" h="20320">
                <a:moveTo>
                  <a:pt x="15240" y="7747"/>
                </a:moveTo>
                <a:lnTo>
                  <a:pt x="14717" y="8247"/>
                </a:lnTo>
                <a:lnTo>
                  <a:pt x="15240" y="8509"/>
                </a:lnTo>
                <a:lnTo>
                  <a:pt x="15240" y="7747"/>
                </a:lnTo>
                <a:close/>
              </a:path>
              <a:path w="33654" h="20320">
                <a:moveTo>
                  <a:pt x="16763" y="7747"/>
                </a:moveTo>
                <a:lnTo>
                  <a:pt x="16241" y="8247"/>
                </a:lnTo>
                <a:lnTo>
                  <a:pt x="16763" y="8509"/>
                </a:lnTo>
                <a:lnTo>
                  <a:pt x="16763" y="7747"/>
                </a:lnTo>
                <a:close/>
              </a:path>
              <a:path w="33654" h="20320">
                <a:moveTo>
                  <a:pt x="12192" y="7747"/>
                </a:moveTo>
                <a:lnTo>
                  <a:pt x="12937" y="8492"/>
                </a:lnTo>
                <a:lnTo>
                  <a:pt x="13193" y="8247"/>
                </a:lnTo>
                <a:lnTo>
                  <a:pt x="12192" y="7747"/>
                </a:lnTo>
                <a:close/>
              </a:path>
              <a:path w="33654" h="20320">
                <a:moveTo>
                  <a:pt x="16764" y="2349"/>
                </a:moveTo>
                <a:lnTo>
                  <a:pt x="16763" y="7747"/>
                </a:lnTo>
                <a:lnTo>
                  <a:pt x="17525" y="8477"/>
                </a:lnTo>
                <a:lnTo>
                  <a:pt x="18287" y="7747"/>
                </a:lnTo>
                <a:lnTo>
                  <a:pt x="18287" y="4699"/>
                </a:lnTo>
                <a:lnTo>
                  <a:pt x="16764" y="2349"/>
                </a:lnTo>
                <a:close/>
              </a:path>
              <a:path w="33654" h="20320">
                <a:moveTo>
                  <a:pt x="19812" y="1650"/>
                </a:moveTo>
                <a:lnTo>
                  <a:pt x="19812" y="7747"/>
                </a:lnTo>
                <a:lnTo>
                  <a:pt x="20574" y="8477"/>
                </a:lnTo>
                <a:lnTo>
                  <a:pt x="21336" y="7747"/>
                </a:lnTo>
                <a:lnTo>
                  <a:pt x="22860" y="7747"/>
                </a:lnTo>
                <a:lnTo>
                  <a:pt x="22860" y="4699"/>
                </a:lnTo>
                <a:lnTo>
                  <a:pt x="19812" y="1650"/>
                </a:lnTo>
                <a:close/>
              </a:path>
              <a:path w="33654" h="20320">
                <a:moveTo>
                  <a:pt x="13716" y="7747"/>
                </a:moveTo>
                <a:lnTo>
                  <a:pt x="13193" y="8247"/>
                </a:lnTo>
                <a:lnTo>
                  <a:pt x="13400" y="8351"/>
                </a:lnTo>
                <a:lnTo>
                  <a:pt x="13716" y="7747"/>
                </a:lnTo>
                <a:close/>
              </a:path>
              <a:path w="33654" h="20320">
                <a:moveTo>
                  <a:pt x="10668" y="6223"/>
                </a:moveTo>
                <a:lnTo>
                  <a:pt x="10668" y="7747"/>
                </a:lnTo>
                <a:lnTo>
                  <a:pt x="11669" y="8247"/>
                </a:lnTo>
                <a:lnTo>
                  <a:pt x="12192" y="7747"/>
                </a:lnTo>
                <a:lnTo>
                  <a:pt x="10668" y="6223"/>
                </a:lnTo>
                <a:close/>
              </a:path>
              <a:path w="33654" h="20320">
                <a:moveTo>
                  <a:pt x="10668" y="4699"/>
                </a:moveTo>
                <a:lnTo>
                  <a:pt x="10668" y="6223"/>
                </a:lnTo>
                <a:lnTo>
                  <a:pt x="12192" y="7747"/>
                </a:lnTo>
                <a:lnTo>
                  <a:pt x="13193" y="8247"/>
                </a:lnTo>
                <a:lnTo>
                  <a:pt x="13716" y="7747"/>
                </a:lnTo>
                <a:lnTo>
                  <a:pt x="10668" y="4699"/>
                </a:lnTo>
                <a:close/>
              </a:path>
              <a:path w="33654" h="20320">
                <a:moveTo>
                  <a:pt x="14640" y="3774"/>
                </a:moveTo>
                <a:lnTo>
                  <a:pt x="13716" y="4699"/>
                </a:lnTo>
                <a:lnTo>
                  <a:pt x="13716" y="7747"/>
                </a:lnTo>
                <a:lnTo>
                  <a:pt x="14717" y="8247"/>
                </a:lnTo>
                <a:lnTo>
                  <a:pt x="15240" y="7747"/>
                </a:lnTo>
                <a:lnTo>
                  <a:pt x="15240" y="4699"/>
                </a:lnTo>
                <a:lnTo>
                  <a:pt x="14640" y="3774"/>
                </a:lnTo>
                <a:close/>
              </a:path>
              <a:path w="33654" h="20320">
                <a:moveTo>
                  <a:pt x="16489" y="1925"/>
                </a:moveTo>
                <a:lnTo>
                  <a:pt x="14731" y="3683"/>
                </a:lnTo>
                <a:lnTo>
                  <a:pt x="14745" y="3937"/>
                </a:lnTo>
                <a:lnTo>
                  <a:pt x="15240" y="4699"/>
                </a:lnTo>
                <a:lnTo>
                  <a:pt x="15240" y="7747"/>
                </a:lnTo>
                <a:lnTo>
                  <a:pt x="16241" y="8247"/>
                </a:lnTo>
                <a:lnTo>
                  <a:pt x="16763" y="7747"/>
                </a:lnTo>
                <a:lnTo>
                  <a:pt x="16763" y="2349"/>
                </a:lnTo>
                <a:lnTo>
                  <a:pt x="16489" y="1925"/>
                </a:lnTo>
                <a:close/>
              </a:path>
              <a:path w="33654" h="20320">
                <a:moveTo>
                  <a:pt x="3542" y="3175"/>
                </a:moveTo>
                <a:lnTo>
                  <a:pt x="3048" y="3175"/>
                </a:lnTo>
                <a:lnTo>
                  <a:pt x="0" y="6223"/>
                </a:lnTo>
                <a:lnTo>
                  <a:pt x="0" y="7747"/>
                </a:lnTo>
                <a:lnTo>
                  <a:pt x="3048" y="4699"/>
                </a:lnTo>
                <a:lnTo>
                  <a:pt x="3542" y="3175"/>
                </a:lnTo>
                <a:close/>
              </a:path>
              <a:path w="33654" h="20320">
                <a:moveTo>
                  <a:pt x="10668" y="3175"/>
                </a:moveTo>
                <a:lnTo>
                  <a:pt x="10668" y="4699"/>
                </a:lnTo>
                <a:lnTo>
                  <a:pt x="13716" y="7747"/>
                </a:lnTo>
                <a:lnTo>
                  <a:pt x="13716" y="6223"/>
                </a:lnTo>
                <a:lnTo>
                  <a:pt x="10668" y="3175"/>
                </a:lnTo>
                <a:close/>
              </a:path>
              <a:path w="33654" h="20320">
                <a:moveTo>
                  <a:pt x="27046" y="3175"/>
                </a:moveTo>
                <a:lnTo>
                  <a:pt x="25908" y="3175"/>
                </a:lnTo>
                <a:lnTo>
                  <a:pt x="25146" y="3937"/>
                </a:lnTo>
                <a:lnTo>
                  <a:pt x="25908" y="4699"/>
                </a:lnTo>
                <a:lnTo>
                  <a:pt x="25908" y="7683"/>
                </a:lnTo>
                <a:lnTo>
                  <a:pt x="27046" y="3175"/>
                </a:lnTo>
                <a:close/>
              </a:path>
              <a:path w="33654" h="20320">
                <a:moveTo>
                  <a:pt x="4036" y="1650"/>
                </a:moveTo>
                <a:lnTo>
                  <a:pt x="3048" y="1650"/>
                </a:lnTo>
                <a:lnTo>
                  <a:pt x="0" y="4699"/>
                </a:lnTo>
                <a:lnTo>
                  <a:pt x="0" y="6223"/>
                </a:lnTo>
                <a:lnTo>
                  <a:pt x="3048" y="3175"/>
                </a:lnTo>
                <a:lnTo>
                  <a:pt x="3542" y="3175"/>
                </a:lnTo>
                <a:lnTo>
                  <a:pt x="4036" y="1650"/>
                </a:lnTo>
                <a:close/>
              </a:path>
              <a:path w="33654" h="20320">
                <a:moveTo>
                  <a:pt x="11430" y="2412"/>
                </a:moveTo>
                <a:lnTo>
                  <a:pt x="10668" y="3175"/>
                </a:lnTo>
                <a:lnTo>
                  <a:pt x="13716" y="6223"/>
                </a:lnTo>
                <a:lnTo>
                  <a:pt x="13716" y="4699"/>
                </a:lnTo>
                <a:lnTo>
                  <a:pt x="11430" y="2412"/>
                </a:lnTo>
                <a:close/>
              </a:path>
              <a:path w="33654" h="20320">
                <a:moveTo>
                  <a:pt x="22860" y="1650"/>
                </a:moveTo>
                <a:lnTo>
                  <a:pt x="19812" y="1650"/>
                </a:lnTo>
                <a:lnTo>
                  <a:pt x="22860" y="4699"/>
                </a:lnTo>
                <a:lnTo>
                  <a:pt x="22860" y="6223"/>
                </a:lnTo>
                <a:lnTo>
                  <a:pt x="24384" y="4699"/>
                </a:lnTo>
                <a:lnTo>
                  <a:pt x="24384" y="3175"/>
                </a:lnTo>
                <a:lnTo>
                  <a:pt x="22860" y="1650"/>
                </a:lnTo>
                <a:close/>
              </a:path>
              <a:path w="33654" h="20320">
                <a:moveTo>
                  <a:pt x="4572" y="0"/>
                </a:moveTo>
                <a:lnTo>
                  <a:pt x="3048" y="0"/>
                </a:lnTo>
                <a:lnTo>
                  <a:pt x="0" y="4699"/>
                </a:lnTo>
                <a:lnTo>
                  <a:pt x="3048" y="1650"/>
                </a:lnTo>
                <a:lnTo>
                  <a:pt x="4036" y="1650"/>
                </a:lnTo>
                <a:lnTo>
                  <a:pt x="4572" y="0"/>
                </a:lnTo>
                <a:close/>
              </a:path>
              <a:path w="33654" h="20320">
                <a:moveTo>
                  <a:pt x="10668" y="0"/>
                </a:moveTo>
                <a:lnTo>
                  <a:pt x="9144" y="0"/>
                </a:lnTo>
                <a:lnTo>
                  <a:pt x="9144" y="4699"/>
                </a:lnTo>
                <a:lnTo>
                  <a:pt x="10668" y="3175"/>
                </a:lnTo>
                <a:lnTo>
                  <a:pt x="10668" y="0"/>
                </a:lnTo>
                <a:close/>
              </a:path>
              <a:path w="33654" h="20320">
                <a:moveTo>
                  <a:pt x="11917" y="1925"/>
                </a:moveTo>
                <a:lnTo>
                  <a:pt x="11430" y="2412"/>
                </a:lnTo>
                <a:lnTo>
                  <a:pt x="13716" y="4699"/>
                </a:lnTo>
                <a:lnTo>
                  <a:pt x="11917" y="1925"/>
                </a:lnTo>
                <a:close/>
              </a:path>
              <a:path w="33654" h="20320">
                <a:moveTo>
                  <a:pt x="13262" y="1650"/>
                </a:moveTo>
                <a:lnTo>
                  <a:pt x="12192" y="1650"/>
                </a:lnTo>
                <a:lnTo>
                  <a:pt x="11917" y="1925"/>
                </a:lnTo>
                <a:lnTo>
                  <a:pt x="13716" y="4699"/>
                </a:lnTo>
                <a:lnTo>
                  <a:pt x="13716" y="2349"/>
                </a:lnTo>
                <a:lnTo>
                  <a:pt x="13262" y="1650"/>
                </a:lnTo>
                <a:close/>
              </a:path>
              <a:path w="33654" h="20320">
                <a:moveTo>
                  <a:pt x="13716" y="2349"/>
                </a:moveTo>
                <a:lnTo>
                  <a:pt x="13716" y="4699"/>
                </a:lnTo>
                <a:lnTo>
                  <a:pt x="14640" y="3774"/>
                </a:lnTo>
                <a:lnTo>
                  <a:pt x="13716" y="2349"/>
                </a:lnTo>
                <a:close/>
              </a:path>
              <a:path w="33654" h="20320">
                <a:moveTo>
                  <a:pt x="16763" y="1650"/>
                </a:moveTo>
                <a:lnTo>
                  <a:pt x="16805" y="2412"/>
                </a:lnTo>
                <a:lnTo>
                  <a:pt x="18287" y="4699"/>
                </a:lnTo>
                <a:lnTo>
                  <a:pt x="18796" y="3683"/>
                </a:lnTo>
                <a:lnTo>
                  <a:pt x="16763" y="1650"/>
                </a:lnTo>
                <a:close/>
              </a:path>
              <a:path w="33654" h="20320">
                <a:moveTo>
                  <a:pt x="19812" y="1650"/>
                </a:moveTo>
                <a:lnTo>
                  <a:pt x="18796" y="3683"/>
                </a:lnTo>
                <a:lnTo>
                  <a:pt x="19812" y="4699"/>
                </a:lnTo>
                <a:lnTo>
                  <a:pt x="19812" y="1650"/>
                </a:lnTo>
                <a:close/>
              </a:path>
              <a:path w="33654" h="20320">
                <a:moveTo>
                  <a:pt x="24384" y="3175"/>
                </a:moveTo>
                <a:lnTo>
                  <a:pt x="24384" y="4699"/>
                </a:lnTo>
                <a:lnTo>
                  <a:pt x="25146" y="3937"/>
                </a:lnTo>
                <a:lnTo>
                  <a:pt x="24384" y="3175"/>
                </a:lnTo>
                <a:close/>
              </a:path>
              <a:path w="33654" h="20320">
                <a:moveTo>
                  <a:pt x="27432" y="1650"/>
                </a:moveTo>
                <a:lnTo>
                  <a:pt x="24384" y="1650"/>
                </a:lnTo>
                <a:lnTo>
                  <a:pt x="24384" y="3175"/>
                </a:lnTo>
                <a:lnTo>
                  <a:pt x="25146" y="3937"/>
                </a:lnTo>
                <a:lnTo>
                  <a:pt x="25908" y="3175"/>
                </a:lnTo>
                <a:lnTo>
                  <a:pt x="27046" y="3175"/>
                </a:lnTo>
                <a:lnTo>
                  <a:pt x="27432" y="1650"/>
                </a:lnTo>
                <a:close/>
              </a:path>
              <a:path w="33654" h="20320">
                <a:moveTo>
                  <a:pt x="15240" y="0"/>
                </a:moveTo>
                <a:lnTo>
                  <a:pt x="12192" y="0"/>
                </a:lnTo>
                <a:lnTo>
                  <a:pt x="13017" y="1272"/>
                </a:lnTo>
                <a:lnTo>
                  <a:pt x="13716" y="1650"/>
                </a:lnTo>
                <a:lnTo>
                  <a:pt x="13757" y="2412"/>
                </a:lnTo>
                <a:lnTo>
                  <a:pt x="14640" y="3774"/>
                </a:lnTo>
                <a:lnTo>
                  <a:pt x="16489" y="1925"/>
                </a:lnTo>
                <a:lnTo>
                  <a:pt x="15240" y="0"/>
                </a:lnTo>
                <a:close/>
              </a:path>
              <a:path w="33654" h="20320">
                <a:moveTo>
                  <a:pt x="19812" y="1650"/>
                </a:moveTo>
                <a:lnTo>
                  <a:pt x="16763" y="1650"/>
                </a:lnTo>
                <a:lnTo>
                  <a:pt x="18796" y="3683"/>
                </a:lnTo>
                <a:lnTo>
                  <a:pt x="19812" y="1650"/>
                </a:lnTo>
                <a:close/>
              </a:path>
              <a:path w="33654" h="20320">
                <a:moveTo>
                  <a:pt x="9144" y="0"/>
                </a:moveTo>
                <a:lnTo>
                  <a:pt x="7620" y="0"/>
                </a:lnTo>
                <a:lnTo>
                  <a:pt x="7620" y="3175"/>
                </a:lnTo>
                <a:lnTo>
                  <a:pt x="9144" y="1650"/>
                </a:lnTo>
                <a:lnTo>
                  <a:pt x="9144" y="0"/>
                </a:lnTo>
                <a:close/>
              </a:path>
              <a:path w="33654" h="20320">
                <a:moveTo>
                  <a:pt x="10668" y="1650"/>
                </a:moveTo>
                <a:lnTo>
                  <a:pt x="10668" y="3175"/>
                </a:lnTo>
                <a:lnTo>
                  <a:pt x="11430" y="2412"/>
                </a:lnTo>
                <a:lnTo>
                  <a:pt x="10668" y="1650"/>
                </a:lnTo>
                <a:close/>
              </a:path>
              <a:path w="33654" h="20320">
                <a:moveTo>
                  <a:pt x="24384" y="1650"/>
                </a:moveTo>
                <a:lnTo>
                  <a:pt x="22860" y="1650"/>
                </a:lnTo>
                <a:lnTo>
                  <a:pt x="24384" y="3175"/>
                </a:lnTo>
                <a:lnTo>
                  <a:pt x="24384" y="1650"/>
                </a:lnTo>
                <a:close/>
              </a:path>
              <a:path w="33654" h="20320">
                <a:moveTo>
                  <a:pt x="10668" y="0"/>
                </a:moveTo>
                <a:lnTo>
                  <a:pt x="10668" y="1650"/>
                </a:lnTo>
                <a:lnTo>
                  <a:pt x="11430" y="2412"/>
                </a:lnTo>
                <a:lnTo>
                  <a:pt x="11917" y="1925"/>
                </a:lnTo>
                <a:lnTo>
                  <a:pt x="10668" y="0"/>
                </a:lnTo>
                <a:close/>
              </a:path>
              <a:path w="33654" h="20320">
                <a:moveTo>
                  <a:pt x="13017" y="1272"/>
                </a:moveTo>
                <a:lnTo>
                  <a:pt x="13716" y="2349"/>
                </a:lnTo>
                <a:lnTo>
                  <a:pt x="13716" y="1650"/>
                </a:lnTo>
                <a:lnTo>
                  <a:pt x="13017" y="1272"/>
                </a:lnTo>
                <a:close/>
              </a:path>
              <a:path w="33654" h="20320">
                <a:moveTo>
                  <a:pt x="16763" y="1650"/>
                </a:moveTo>
                <a:lnTo>
                  <a:pt x="16489" y="1925"/>
                </a:lnTo>
                <a:lnTo>
                  <a:pt x="16764" y="2349"/>
                </a:lnTo>
                <a:lnTo>
                  <a:pt x="16763" y="1650"/>
                </a:lnTo>
                <a:close/>
              </a:path>
              <a:path w="33654" h="20320">
                <a:moveTo>
                  <a:pt x="10668" y="0"/>
                </a:moveTo>
                <a:lnTo>
                  <a:pt x="11917" y="1925"/>
                </a:lnTo>
                <a:lnTo>
                  <a:pt x="12192" y="1650"/>
                </a:lnTo>
                <a:lnTo>
                  <a:pt x="13262" y="1650"/>
                </a:lnTo>
                <a:lnTo>
                  <a:pt x="13017" y="1272"/>
                </a:lnTo>
                <a:lnTo>
                  <a:pt x="10668" y="0"/>
                </a:lnTo>
                <a:close/>
              </a:path>
              <a:path w="33654" h="20320">
                <a:moveTo>
                  <a:pt x="16763" y="1650"/>
                </a:moveTo>
                <a:lnTo>
                  <a:pt x="16310" y="1650"/>
                </a:lnTo>
                <a:lnTo>
                  <a:pt x="16489" y="1925"/>
                </a:lnTo>
                <a:lnTo>
                  <a:pt x="16763" y="1650"/>
                </a:lnTo>
                <a:close/>
              </a:path>
              <a:path w="33654" h="20320">
                <a:moveTo>
                  <a:pt x="12192" y="0"/>
                </a:moveTo>
                <a:lnTo>
                  <a:pt x="10668" y="0"/>
                </a:lnTo>
                <a:lnTo>
                  <a:pt x="13017" y="1272"/>
                </a:lnTo>
                <a:lnTo>
                  <a:pt x="121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4854" y="918781"/>
            <a:ext cx="60198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Atomicity </a:t>
            </a:r>
            <a:r>
              <a:rPr spc="-220" dirty="0"/>
              <a:t>bug </a:t>
            </a:r>
            <a:r>
              <a:rPr spc="-200" dirty="0"/>
              <a:t>example:</a:t>
            </a:r>
            <a:r>
              <a:rPr spc="-465" dirty="0"/>
              <a:t> </a:t>
            </a:r>
            <a:r>
              <a:rPr spc="-55" dirty="0"/>
              <a:t>fix</a:t>
            </a:r>
            <a:endParaRPr spc="-5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64512"/>
            <a:ext cx="77800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95" dirty="0">
                <a:latin typeface="Arial" panose="020B0604020202020204"/>
                <a:cs typeface="Arial" panose="020B0604020202020204"/>
              </a:rPr>
              <a:t>Always </a:t>
            </a:r>
            <a:r>
              <a:rPr sz="3200" spc="-215" dirty="0">
                <a:latin typeface="Arial" panose="020B0604020202020204"/>
                <a:cs typeface="Arial" panose="020B0604020202020204"/>
              </a:rPr>
              <a:t>use </a:t>
            </a:r>
            <a:r>
              <a:rPr sz="3200" spc="-170" dirty="0">
                <a:latin typeface="Arial" panose="020B0604020202020204"/>
                <a:cs typeface="Arial" panose="020B0604020202020204"/>
              </a:rPr>
              <a:t>locks </a:t>
            </a:r>
            <a:r>
              <a:rPr sz="3200" spc="-105" dirty="0">
                <a:latin typeface="Arial" panose="020B0604020202020204"/>
                <a:cs typeface="Arial" panose="020B0604020202020204"/>
              </a:rPr>
              <a:t>when </a:t>
            </a:r>
            <a:r>
              <a:rPr sz="3200" spc="-220" dirty="0">
                <a:latin typeface="Arial" panose="020B0604020202020204"/>
                <a:cs typeface="Arial" panose="020B0604020202020204"/>
              </a:rPr>
              <a:t>accessing </a:t>
            </a:r>
            <a:r>
              <a:rPr sz="3200" spc="-165" dirty="0">
                <a:latin typeface="Arial" panose="020B0604020202020204"/>
                <a:cs typeface="Arial" panose="020B0604020202020204"/>
              </a:rPr>
              <a:t>shared</a:t>
            </a:r>
            <a:r>
              <a:rPr sz="3200" spc="-18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20" dirty="0">
                <a:latin typeface="Arial" panose="020B0604020202020204"/>
                <a:cs typeface="Arial" panose="020B0604020202020204"/>
              </a:rPr>
              <a:t>data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67923" y="3048339"/>
            <a:ext cx="7636819" cy="342762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9224" y="918781"/>
            <a:ext cx="66122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Order </a:t>
            </a:r>
            <a:r>
              <a:rPr spc="-75" dirty="0"/>
              <a:t>violation </a:t>
            </a:r>
            <a:r>
              <a:rPr spc="-175" dirty="0"/>
              <a:t>bug:</a:t>
            </a:r>
            <a:r>
              <a:rPr spc="-520" dirty="0"/>
              <a:t> </a:t>
            </a:r>
            <a:r>
              <a:rPr spc="-220" dirty="0"/>
              <a:t>example</a:t>
            </a:r>
            <a:endParaRPr spc="-220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15744"/>
            <a:ext cx="732472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70" dirty="0">
                <a:latin typeface="Arial" panose="020B0604020202020204"/>
                <a:cs typeface="Arial" panose="020B0604020202020204"/>
              </a:rPr>
              <a:t>Thread1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assumes </a:t>
            </a:r>
            <a:r>
              <a:rPr sz="3200" spc="-170" dirty="0">
                <a:latin typeface="Arial" panose="020B0604020202020204"/>
                <a:cs typeface="Arial" panose="020B0604020202020204"/>
              </a:rPr>
              <a:t>Thread2 </a:t>
            </a:r>
            <a:r>
              <a:rPr sz="3200" spc="-235" dirty="0">
                <a:latin typeface="Arial" panose="020B0604020202020204"/>
                <a:cs typeface="Arial" panose="020B0604020202020204"/>
              </a:rPr>
              <a:t>has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already</a:t>
            </a:r>
            <a:r>
              <a:rPr sz="3200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55" dirty="0">
                <a:latin typeface="Arial" panose="020B0604020202020204"/>
                <a:cs typeface="Arial" panose="020B0604020202020204"/>
              </a:rPr>
              <a:t>run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14569" y="2743295"/>
            <a:ext cx="5409108" cy="114442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93139" y="5770879"/>
            <a:ext cx="7168515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70" dirty="0">
                <a:latin typeface="Arial" panose="020B0604020202020204"/>
                <a:cs typeface="Arial" panose="020B0604020202020204"/>
              </a:rPr>
              <a:t>No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assumptions </a:t>
            </a:r>
            <a:r>
              <a:rPr sz="3200" spc="-210" dirty="0">
                <a:latin typeface="Arial" panose="020B0604020202020204"/>
                <a:cs typeface="Arial" panose="020B0604020202020204"/>
              </a:rPr>
              <a:t>can </a:t>
            </a:r>
            <a:r>
              <a:rPr sz="3200" spc="-145" dirty="0">
                <a:latin typeface="Arial" panose="020B0604020202020204"/>
                <a:cs typeface="Arial" panose="020B0604020202020204"/>
              </a:rPr>
              <a:t>be </a:t>
            </a:r>
            <a:r>
              <a:rPr sz="3200" spc="-165" dirty="0">
                <a:latin typeface="Arial" panose="020B0604020202020204"/>
                <a:cs typeface="Arial" panose="020B0604020202020204"/>
              </a:rPr>
              <a:t>made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on </a:t>
            </a:r>
            <a:r>
              <a:rPr sz="3200" spc="-70" dirty="0">
                <a:latin typeface="Arial" panose="020B0604020202020204"/>
                <a:cs typeface="Arial" panose="020B0604020202020204"/>
              </a:rPr>
              <a:t>order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0" dirty="0">
                <a:latin typeface="Arial" panose="020B0604020202020204"/>
                <a:cs typeface="Arial" panose="020B0604020202020204"/>
              </a:rPr>
              <a:t>of  </a:t>
            </a:r>
            <a:r>
              <a:rPr sz="3200" spc="-120" dirty="0">
                <a:latin typeface="Arial" panose="020B0604020202020204"/>
                <a:cs typeface="Arial" panose="020B0604020202020204"/>
              </a:rPr>
              <a:t>execution </a:t>
            </a:r>
            <a:r>
              <a:rPr sz="3200" spc="-5" dirty="0">
                <a:latin typeface="Arial" panose="020B0604020202020204"/>
                <a:cs typeface="Arial" panose="020B0604020202020204"/>
              </a:rPr>
              <a:t>of </a:t>
            </a:r>
            <a:r>
              <a:rPr sz="3200" spc="-95" dirty="0">
                <a:latin typeface="Arial" panose="020B0604020202020204"/>
                <a:cs typeface="Arial" panose="020B0604020202020204"/>
              </a:rPr>
              <a:t>concurrent</a:t>
            </a:r>
            <a:r>
              <a:rPr sz="3200" spc="-44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threads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38384" y="3886200"/>
            <a:ext cx="3894939" cy="18277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2574" y="918781"/>
            <a:ext cx="79622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Ordering </a:t>
            </a:r>
            <a:r>
              <a:rPr spc="-75" dirty="0"/>
              <a:t>violation </a:t>
            </a:r>
            <a:r>
              <a:rPr spc="-220" dirty="0"/>
              <a:t>bug </a:t>
            </a:r>
            <a:r>
              <a:rPr spc="-200" dirty="0"/>
              <a:t>example:</a:t>
            </a:r>
            <a:r>
              <a:rPr spc="-505" dirty="0"/>
              <a:t> </a:t>
            </a:r>
            <a:r>
              <a:rPr spc="-55" dirty="0"/>
              <a:t>fix</a:t>
            </a:r>
            <a:endParaRPr spc="-5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653349"/>
            <a:ext cx="67621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270" dirty="0">
                <a:latin typeface="Arial" panose="020B0604020202020204"/>
                <a:cs typeface="Arial" panose="020B0604020202020204"/>
              </a:rPr>
              <a:t>Use </a:t>
            </a:r>
            <a:r>
              <a:rPr sz="3200" spc="-65" dirty="0">
                <a:latin typeface="Arial" panose="020B0604020202020204"/>
                <a:cs typeface="Arial" panose="020B0604020202020204"/>
              </a:rPr>
              <a:t>condition </a:t>
            </a:r>
            <a:r>
              <a:rPr sz="3200" spc="-140" dirty="0">
                <a:latin typeface="Arial" panose="020B0604020202020204"/>
                <a:cs typeface="Arial" panose="020B0604020202020204"/>
              </a:rPr>
              <a:t>variables </a:t>
            </a:r>
            <a:r>
              <a:rPr sz="3200" spc="-25" dirty="0">
                <a:latin typeface="Arial" panose="020B0604020202020204"/>
                <a:cs typeface="Arial" panose="020B0604020202020204"/>
              </a:rPr>
              <a:t>or</a:t>
            </a:r>
            <a:r>
              <a:rPr sz="3200" spc="-21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75" dirty="0">
                <a:latin typeface="Arial" panose="020B0604020202020204"/>
                <a:cs typeface="Arial" panose="020B0604020202020204"/>
              </a:rPr>
              <a:t>semaphores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5539" y="2229611"/>
            <a:ext cx="5103540" cy="165811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30779" y="3950269"/>
            <a:ext cx="5227320" cy="3427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8166" y="918781"/>
            <a:ext cx="33153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9" dirty="0"/>
              <a:t>Deadlock</a:t>
            </a:r>
            <a:r>
              <a:rPr spc="-345" dirty="0"/>
              <a:t> </a:t>
            </a:r>
            <a:r>
              <a:rPr spc="-285" dirty="0"/>
              <a:t>bugs</a:t>
            </a:r>
            <a:endParaRPr spc="-28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64512"/>
            <a:ext cx="7777480" cy="1489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254" dirty="0">
                <a:latin typeface="Arial" panose="020B0604020202020204"/>
                <a:cs typeface="Arial" panose="020B0604020202020204"/>
              </a:rPr>
              <a:t>Classic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example: </a:t>
            </a:r>
            <a:r>
              <a:rPr sz="3200" spc="-170" dirty="0">
                <a:latin typeface="Arial" panose="020B0604020202020204"/>
                <a:cs typeface="Arial" panose="020B0604020202020204"/>
              </a:rPr>
              <a:t>Thread1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holds </a:t>
            </a:r>
            <a:r>
              <a:rPr sz="3200" spc="-120" dirty="0">
                <a:latin typeface="Arial" panose="020B0604020202020204"/>
                <a:cs typeface="Arial" panose="020B0604020202020204"/>
              </a:rPr>
              <a:t>lock </a:t>
            </a:r>
            <a:r>
              <a:rPr sz="3200" spc="-300" dirty="0">
                <a:latin typeface="Arial" panose="020B0604020202020204"/>
                <a:cs typeface="Arial" panose="020B0604020202020204"/>
              </a:rPr>
              <a:t>L1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and </a:t>
            </a:r>
            <a:r>
              <a:rPr sz="3200" spc="-165" dirty="0">
                <a:latin typeface="Arial" panose="020B0604020202020204"/>
                <a:cs typeface="Arial" panose="020B0604020202020204"/>
              </a:rPr>
              <a:t>is  </a:t>
            </a:r>
            <a:r>
              <a:rPr sz="3200" spc="-70" dirty="0">
                <a:latin typeface="Arial" panose="020B0604020202020204"/>
                <a:cs typeface="Arial" panose="020B0604020202020204"/>
              </a:rPr>
              <a:t>waiting </a:t>
            </a:r>
            <a:r>
              <a:rPr sz="3200" spc="-15" dirty="0">
                <a:latin typeface="Arial" panose="020B0604020202020204"/>
                <a:cs typeface="Arial" panose="020B0604020202020204"/>
              </a:rPr>
              <a:t>for </a:t>
            </a:r>
            <a:r>
              <a:rPr sz="3200" spc="-120" dirty="0">
                <a:latin typeface="Arial" panose="020B0604020202020204"/>
                <a:cs typeface="Arial" panose="020B0604020202020204"/>
              </a:rPr>
              <a:t>lock </a:t>
            </a:r>
            <a:r>
              <a:rPr sz="3200" spc="-229" dirty="0">
                <a:latin typeface="Arial" panose="020B0604020202020204"/>
                <a:cs typeface="Arial" panose="020B0604020202020204"/>
              </a:rPr>
              <a:t>L2. </a:t>
            </a:r>
            <a:r>
              <a:rPr sz="3200" spc="-170" dirty="0">
                <a:latin typeface="Arial" panose="020B0604020202020204"/>
                <a:cs typeface="Arial" panose="020B0604020202020204"/>
              </a:rPr>
              <a:t>Thread2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holds </a:t>
            </a:r>
            <a:r>
              <a:rPr sz="3200" spc="-300" dirty="0">
                <a:latin typeface="Arial" panose="020B0604020202020204"/>
                <a:cs typeface="Arial" panose="020B0604020202020204"/>
              </a:rPr>
              <a:t>L2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and </a:t>
            </a:r>
            <a:r>
              <a:rPr sz="3200" spc="-165" dirty="0">
                <a:latin typeface="Arial" panose="020B0604020202020204"/>
                <a:cs typeface="Arial" panose="020B0604020202020204"/>
              </a:rPr>
              <a:t>is  </a:t>
            </a:r>
            <a:r>
              <a:rPr sz="3200" spc="-70" dirty="0">
                <a:latin typeface="Arial" panose="020B0604020202020204"/>
                <a:cs typeface="Arial" panose="020B0604020202020204"/>
              </a:rPr>
              <a:t>waiting </a:t>
            </a:r>
            <a:r>
              <a:rPr sz="3200" spc="-15" dirty="0">
                <a:latin typeface="Arial" panose="020B0604020202020204"/>
                <a:cs typeface="Arial" panose="020B0604020202020204"/>
              </a:rPr>
              <a:t>for</a:t>
            </a:r>
            <a:r>
              <a:rPr sz="3200" spc="-26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229" dirty="0">
                <a:latin typeface="Arial" panose="020B0604020202020204"/>
                <a:cs typeface="Arial" panose="020B0604020202020204"/>
              </a:rPr>
              <a:t>L1.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39" y="4795520"/>
            <a:ext cx="804672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70" dirty="0">
                <a:latin typeface="Arial" panose="020B0604020202020204"/>
                <a:cs typeface="Arial" panose="020B0604020202020204"/>
              </a:rPr>
              <a:t>Deadlock </a:t>
            </a:r>
            <a:r>
              <a:rPr sz="3200" spc="-145" dirty="0">
                <a:latin typeface="Arial" panose="020B0604020202020204"/>
                <a:cs typeface="Arial" panose="020B0604020202020204"/>
              </a:rPr>
              <a:t>need </a:t>
            </a:r>
            <a:r>
              <a:rPr sz="3200" spc="-5" dirty="0">
                <a:latin typeface="Arial" panose="020B0604020202020204"/>
                <a:cs typeface="Arial" panose="020B0604020202020204"/>
              </a:rPr>
              <a:t>not </a:t>
            </a:r>
            <a:r>
              <a:rPr sz="3200" spc="-185" dirty="0">
                <a:latin typeface="Arial" panose="020B0604020202020204"/>
                <a:cs typeface="Arial" panose="020B0604020202020204"/>
              </a:rPr>
              <a:t>always </a:t>
            </a:r>
            <a:r>
              <a:rPr sz="3200" spc="-180" dirty="0">
                <a:latin typeface="Arial" panose="020B0604020202020204"/>
                <a:cs typeface="Arial" panose="020B0604020202020204"/>
              </a:rPr>
              <a:t>occur. </a:t>
            </a:r>
            <a:r>
              <a:rPr sz="3200" spc="-155" dirty="0">
                <a:latin typeface="Arial" panose="020B0604020202020204"/>
                <a:cs typeface="Arial" panose="020B0604020202020204"/>
              </a:rPr>
              <a:t>Only </a:t>
            </a:r>
            <a:r>
              <a:rPr sz="3200" spc="-180" dirty="0">
                <a:latin typeface="Arial" panose="020B0604020202020204"/>
                <a:cs typeface="Arial" panose="020B0604020202020204"/>
              </a:rPr>
              <a:t>occurs</a:t>
            </a:r>
            <a:r>
              <a:rPr sz="3200" spc="-38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50" dirty="0">
                <a:latin typeface="Arial" panose="020B0604020202020204"/>
                <a:cs typeface="Arial" panose="020B0604020202020204"/>
              </a:rPr>
              <a:t>if  </a:t>
            </a:r>
            <a:r>
              <a:rPr sz="3200" spc="-145" dirty="0">
                <a:latin typeface="Arial" panose="020B0604020202020204"/>
                <a:cs typeface="Arial" panose="020B0604020202020204"/>
              </a:rPr>
              <a:t>executions 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overlap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and </a:t>
            </a:r>
            <a:r>
              <a:rPr sz="3200" spc="-90" dirty="0">
                <a:latin typeface="Arial" panose="020B0604020202020204"/>
                <a:cs typeface="Arial" panose="020B0604020202020204"/>
              </a:rPr>
              <a:t>context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switch </a:t>
            </a:r>
            <a:r>
              <a:rPr sz="3200" spc="-35" dirty="0">
                <a:latin typeface="Arial" panose="020B0604020202020204"/>
                <a:cs typeface="Arial" panose="020B0604020202020204"/>
              </a:rPr>
              <a:t>from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 </a:t>
            </a:r>
            <a:r>
              <a:rPr sz="3200" spc="-80" dirty="0">
                <a:latin typeface="Arial" panose="020B0604020202020204"/>
                <a:cs typeface="Arial" panose="020B0604020202020204"/>
              </a:rPr>
              <a:t>thread </a:t>
            </a:r>
            <a:r>
              <a:rPr sz="3200" spc="-40" dirty="0">
                <a:latin typeface="Arial" panose="020B0604020202020204"/>
                <a:cs typeface="Arial" panose="020B0604020202020204"/>
              </a:rPr>
              <a:t>after 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acquiring </a:t>
            </a:r>
            <a:r>
              <a:rPr sz="3200" spc="-85" dirty="0">
                <a:latin typeface="Arial" panose="020B0604020202020204"/>
                <a:cs typeface="Arial" panose="020B0604020202020204"/>
              </a:rPr>
              <a:t>only </a:t>
            </a:r>
            <a:r>
              <a:rPr sz="3200" spc="-130" dirty="0">
                <a:latin typeface="Arial" panose="020B0604020202020204"/>
                <a:cs typeface="Arial" panose="020B0604020202020204"/>
              </a:rPr>
              <a:t>one</a:t>
            </a:r>
            <a:r>
              <a:rPr sz="3200" spc="-51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14" dirty="0">
                <a:latin typeface="Arial" panose="020B0604020202020204"/>
                <a:cs typeface="Arial" panose="020B0604020202020204"/>
              </a:rPr>
              <a:t>lock.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34235" y="3819525"/>
            <a:ext cx="6495288" cy="83667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726179" y="3886200"/>
            <a:ext cx="50800" cy="9525"/>
          </a:xfrm>
          <a:custGeom>
            <a:avLst/>
            <a:gdLst/>
            <a:ahLst/>
            <a:cxnLst/>
            <a:rect l="l" t="t" r="r" b="b"/>
            <a:pathLst>
              <a:path w="50800" h="9525">
                <a:moveTo>
                  <a:pt x="16154" y="8534"/>
                </a:moveTo>
                <a:lnTo>
                  <a:pt x="16764" y="9144"/>
                </a:lnTo>
                <a:lnTo>
                  <a:pt x="19812" y="9144"/>
                </a:lnTo>
                <a:lnTo>
                  <a:pt x="16154" y="8534"/>
                </a:lnTo>
                <a:close/>
              </a:path>
              <a:path w="50800" h="9525">
                <a:moveTo>
                  <a:pt x="20193" y="0"/>
                </a:moveTo>
                <a:lnTo>
                  <a:pt x="18287" y="0"/>
                </a:lnTo>
                <a:lnTo>
                  <a:pt x="18287" y="4572"/>
                </a:lnTo>
                <a:lnTo>
                  <a:pt x="15240" y="7620"/>
                </a:lnTo>
                <a:lnTo>
                  <a:pt x="16154" y="8534"/>
                </a:lnTo>
                <a:lnTo>
                  <a:pt x="19812" y="9144"/>
                </a:lnTo>
                <a:lnTo>
                  <a:pt x="20827" y="5079"/>
                </a:lnTo>
                <a:lnTo>
                  <a:pt x="20193" y="0"/>
                </a:lnTo>
                <a:close/>
              </a:path>
              <a:path w="50800" h="9525">
                <a:moveTo>
                  <a:pt x="20827" y="5079"/>
                </a:moveTo>
                <a:lnTo>
                  <a:pt x="19812" y="9144"/>
                </a:lnTo>
                <a:lnTo>
                  <a:pt x="21336" y="9144"/>
                </a:lnTo>
                <a:lnTo>
                  <a:pt x="20827" y="5079"/>
                </a:lnTo>
                <a:close/>
              </a:path>
              <a:path w="50800" h="9525">
                <a:moveTo>
                  <a:pt x="22860" y="0"/>
                </a:moveTo>
                <a:lnTo>
                  <a:pt x="22098" y="0"/>
                </a:lnTo>
                <a:lnTo>
                  <a:pt x="20954" y="4572"/>
                </a:lnTo>
                <a:lnTo>
                  <a:pt x="20954" y="6096"/>
                </a:lnTo>
                <a:lnTo>
                  <a:pt x="21336" y="9144"/>
                </a:lnTo>
                <a:lnTo>
                  <a:pt x="24384" y="9144"/>
                </a:lnTo>
                <a:lnTo>
                  <a:pt x="25146" y="8382"/>
                </a:lnTo>
                <a:lnTo>
                  <a:pt x="22860" y="6096"/>
                </a:lnTo>
                <a:lnTo>
                  <a:pt x="22860" y="0"/>
                </a:lnTo>
                <a:close/>
              </a:path>
              <a:path w="50800" h="9525">
                <a:moveTo>
                  <a:pt x="25146" y="8382"/>
                </a:moveTo>
                <a:lnTo>
                  <a:pt x="24384" y="9144"/>
                </a:lnTo>
                <a:lnTo>
                  <a:pt x="25908" y="9144"/>
                </a:lnTo>
                <a:lnTo>
                  <a:pt x="25146" y="8382"/>
                </a:lnTo>
                <a:close/>
              </a:path>
              <a:path w="50800" h="9525">
                <a:moveTo>
                  <a:pt x="29146" y="0"/>
                </a:moveTo>
                <a:lnTo>
                  <a:pt x="27432" y="0"/>
                </a:lnTo>
                <a:lnTo>
                  <a:pt x="27432" y="6096"/>
                </a:lnTo>
                <a:lnTo>
                  <a:pt x="25146" y="8382"/>
                </a:lnTo>
                <a:lnTo>
                  <a:pt x="25908" y="9144"/>
                </a:lnTo>
                <a:lnTo>
                  <a:pt x="30480" y="9144"/>
                </a:lnTo>
                <a:lnTo>
                  <a:pt x="29597" y="1203"/>
                </a:lnTo>
                <a:lnTo>
                  <a:pt x="29146" y="0"/>
                </a:lnTo>
                <a:close/>
              </a:path>
              <a:path w="50800" h="9525">
                <a:moveTo>
                  <a:pt x="29597" y="1203"/>
                </a:moveTo>
                <a:lnTo>
                  <a:pt x="30480" y="9144"/>
                </a:lnTo>
                <a:lnTo>
                  <a:pt x="33528" y="9144"/>
                </a:lnTo>
                <a:lnTo>
                  <a:pt x="35051" y="7620"/>
                </a:lnTo>
                <a:lnTo>
                  <a:pt x="32004" y="7620"/>
                </a:lnTo>
                <a:lnTo>
                  <a:pt x="29597" y="1203"/>
                </a:lnTo>
                <a:close/>
              </a:path>
              <a:path w="50800" h="9525">
                <a:moveTo>
                  <a:pt x="13716" y="0"/>
                </a:moveTo>
                <a:lnTo>
                  <a:pt x="12627" y="0"/>
                </a:lnTo>
                <a:lnTo>
                  <a:pt x="12530" y="169"/>
                </a:lnTo>
                <a:lnTo>
                  <a:pt x="10668" y="7620"/>
                </a:lnTo>
                <a:lnTo>
                  <a:pt x="16154" y="8534"/>
                </a:lnTo>
                <a:lnTo>
                  <a:pt x="13716" y="6096"/>
                </a:lnTo>
                <a:lnTo>
                  <a:pt x="13716" y="0"/>
                </a:lnTo>
                <a:close/>
              </a:path>
              <a:path w="50800" h="9525">
                <a:moveTo>
                  <a:pt x="27432" y="0"/>
                </a:moveTo>
                <a:lnTo>
                  <a:pt x="22860" y="0"/>
                </a:lnTo>
                <a:lnTo>
                  <a:pt x="22860" y="6096"/>
                </a:lnTo>
                <a:lnTo>
                  <a:pt x="25146" y="8382"/>
                </a:lnTo>
                <a:lnTo>
                  <a:pt x="27432" y="6096"/>
                </a:lnTo>
                <a:lnTo>
                  <a:pt x="27432" y="0"/>
                </a:lnTo>
                <a:close/>
              </a:path>
              <a:path w="50800" h="9525">
                <a:moveTo>
                  <a:pt x="6096" y="4572"/>
                </a:moveTo>
                <a:lnTo>
                  <a:pt x="9144" y="7620"/>
                </a:lnTo>
                <a:lnTo>
                  <a:pt x="10668" y="7620"/>
                </a:lnTo>
                <a:lnTo>
                  <a:pt x="11049" y="6096"/>
                </a:lnTo>
                <a:lnTo>
                  <a:pt x="9144" y="6096"/>
                </a:lnTo>
                <a:lnTo>
                  <a:pt x="6096" y="4572"/>
                </a:lnTo>
                <a:close/>
              </a:path>
              <a:path w="50800" h="9525">
                <a:moveTo>
                  <a:pt x="18287" y="0"/>
                </a:moveTo>
                <a:lnTo>
                  <a:pt x="13716" y="0"/>
                </a:lnTo>
                <a:lnTo>
                  <a:pt x="13716" y="6096"/>
                </a:lnTo>
                <a:lnTo>
                  <a:pt x="15240" y="7620"/>
                </a:lnTo>
                <a:lnTo>
                  <a:pt x="18287" y="4572"/>
                </a:lnTo>
                <a:lnTo>
                  <a:pt x="18287" y="0"/>
                </a:lnTo>
                <a:close/>
              </a:path>
              <a:path w="50800" h="9525">
                <a:moveTo>
                  <a:pt x="32004" y="0"/>
                </a:moveTo>
                <a:lnTo>
                  <a:pt x="29464" y="0"/>
                </a:lnTo>
                <a:lnTo>
                  <a:pt x="29597" y="1203"/>
                </a:lnTo>
                <a:lnTo>
                  <a:pt x="32004" y="7620"/>
                </a:lnTo>
                <a:lnTo>
                  <a:pt x="36575" y="6096"/>
                </a:lnTo>
                <a:lnTo>
                  <a:pt x="36575" y="4572"/>
                </a:lnTo>
                <a:lnTo>
                  <a:pt x="35052" y="4572"/>
                </a:lnTo>
                <a:lnTo>
                  <a:pt x="32004" y="1524"/>
                </a:lnTo>
                <a:lnTo>
                  <a:pt x="32004" y="0"/>
                </a:lnTo>
                <a:close/>
              </a:path>
              <a:path w="50800" h="9525">
                <a:moveTo>
                  <a:pt x="36575" y="6096"/>
                </a:moveTo>
                <a:lnTo>
                  <a:pt x="32004" y="7620"/>
                </a:lnTo>
                <a:lnTo>
                  <a:pt x="35051" y="7620"/>
                </a:lnTo>
                <a:lnTo>
                  <a:pt x="36575" y="6096"/>
                </a:lnTo>
                <a:close/>
              </a:path>
              <a:path w="50800" h="9525">
                <a:moveTo>
                  <a:pt x="12192" y="0"/>
                </a:moveTo>
                <a:lnTo>
                  <a:pt x="6096" y="0"/>
                </a:lnTo>
                <a:lnTo>
                  <a:pt x="6096" y="4572"/>
                </a:lnTo>
                <a:lnTo>
                  <a:pt x="9144" y="6096"/>
                </a:lnTo>
                <a:lnTo>
                  <a:pt x="10885" y="3048"/>
                </a:lnTo>
                <a:lnTo>
                  <a:pt x="9144" y="3048"/>
                </a:lnTo>
                <a:lnTo>
                  <a:pt x="12192" y="0"/>
                </a:lnTo>
                <a:close/>
              </a:path>
              <a:path w="50800" h="9525">
                <a:moveTo>
                  <a:pt x="12530" y="169"/>
                </a:moveTo>
                <a:lnTo>
                  <a:pt x="9144" y="6096"/>
                </a:lnTo>
                <a:lnTo>
                  <a:pt x="11049" y="6096"/>
                </a:lnTo>
                <a:lnTo>
                  <a:pt x="12530" y="169"/>
                </a:lnTo>
                <a:close/>
              </a:path>
              <a:path w="50800" h="9525">
                <a:moveTo>
                  <a:pt x="39433" y="0"/>
                </a:moveTo>
                <a:lnTo>
                  <a:pt x="36575" y="0"/>
                </a:lnTo>
                <a:lnTo>
                  <a:pt x="36575" y="6096"/>
                </a:lnTo>
                <a:lnTo>
                  <a:pt x="41148" y="4572"/>
                </a:lnTo>
                <a:lnTo>
                  <a:pt x="39433" y="0"/>
                </a:lnTo>
                <a:close/>
              </a:path>
              <a:path w="50800" h="9525">
                <a:moveTo>
                  <a:pt x="22098" y="0"/>
                </a:moveTo>
                <a:lnTo>
                  <a:pt x="20193" y="0"/>
                </a:lnTo>
                <a:lnTo>
                  <a:pt x="20827" y="5079"/>
                </a:lnTo>
                <a:lnTo>
                  <a:pt x="22098" y="0"/>
                </a:lnTo>
                <a:close/>
              </a:path>
              <a:path w="50800" h="9525">
                <a:moveTo>
                  <a:pt x="6096" y="0"/>
                </a:moveTo>
                <a:lnTo>
                  <a:pt x="4789" y="0"/>
                </a:lnTo>
                <a:lnTo>
                  <a:pt x="3048" y="3048"/>
                </a:lnTo>
                <a:lnTo>
                  <a:pt x="6096" y="4572"/>
                </a:lnTo>
                <a:lnTo>
                  <a:pt x="6096" y="0"/>
                </a:lnTo>
                <a:close/>
              </a:path>
              <a:path w="50800" h="9525">
                <a:moveTo>
                  <a:pt x="36575" y="0"/>
                </a:moveTo>
                <a:lnTo>
                  <a:pt x="32004" y="0"/>
                </a:lnTo>
                <a:lnTo>
                  <a:pt x="32004" y="1524"/>
                </a:lnTo>
                <a:lnTo>
                  <a:pt x="35052" y="4572"/>
                </a:lnTo>
                <a:lnTo>
                  <a:pt x="36575" y="4572"/>
                </a:lnTo>
                <a:lnTo>
                  <a:pt x="36575" y="0"/>
                </a:lnTo>
                <a:close/>
              </a:path>
              <a:path w="50800" h="9525">
                <a:moveTo>
                  <a:pt x="39814" y="0"/>
                </a:moveTo>
                <a:lnTo>
                  <a:pt x="39433" y="0"/>
                </a:lnTo>
                <a:lnTo>
                  <a:pt x="41148" y="4572"/>
                </a:lnTo>
                <a:lnTo>
                  <a:pt x="42672" y="4572"/>
                </a:lnTo>
                <a:lnTo>
                  <a:pt x="39814" y="0"/>
                </a:lnTo>
                <a:close/>
              </a:path>
              <a:path w="50800" h="9525">
                <a:moveTo>
                  <a:pt x="45720" y="0"/>
                </a:moveTo>
                <a:lnTo>
                  <a:pt x="39814" y="0"/>
                </a:lnTo>
                <a:lnTo>
                  <a:pt x="42672" y="4572"/>
                </a:lnTo>
                <a:lnTo>
                  <a:pt x="45720" y="1524"/>
                </a:lnTo>
                <a:lnTo>
                  <a:pt x="45720" y="0"/>
                </a:lnTo>
                <a:close/>
              </a:path>
              <a:path w="50800" h="9525">
                <a:moveTo>
                  <a:pt x="50673" y="0"/>
                </a:moveTo>
                <a:lnTo>
                  <a:pt x="45720" y="0"/>
                </a:lnTo>
                <a:lnTo>
                  <a:pt x="45720" y="1524"/>
                </a:lnTo>
                <a:lnTo>
                  <a:pt x="42672" y="4572"/>
                </a:lnTo>
                <a:lnTo>
                  <a:pt x="50673" y="0"/>
                </a:lnTo>
                <a:close/>
              </a:path>
              <a:path w="50800" h="9525">
                <a:moveTo>
                  <a:pt x="4789" y="0"/>
                </a:moveTo>
                <a:lnTo>
                  <a:pt x="3048" y="0"/>
                </a:lnTo>
                <a:lnTo>
                  <a:pt x="1524" y="1524"/>
                </a:lnTo>
                <a:lnTo>
                  <a:pt x="3048" y="3048"/>
                </a:lnTo>
                <a:lnTo>
                  <a:pt x="4789" y="0"/>
                </a:lnTo>
                <a:close/>
              </a:path>
              <a:path w="50800" h="9525">
                <a:moveTo>
                  <a:pt x="12573" y="0"/>
                </a:moveTo>
                <a:lnTo>
                  <a:pt x="12192" y="0"/>
                </a:lnTo>
                <a:lnTo>
                  <a:pt x="9144" y="3048"/>
                </a:lnTo>
                <a:lnTo>
                  <a:pt x="10885" y="3048"/>
                </a:lnTo>
                <a:lnTo>
                  <a:pt x="12530" y="169"/>
                </a:lnTo>
                <a:lnTo>
                  <a:pt x="12573" y="0"/>
                </a:lnTo>
                <a:close/>
              </a:path>
              <a:path w="50800" h="9525">
                <a:moveTo>
                  <a:pt x="3048" y="0"/>
                </a:moveTo>
                <a:lnTo>
                  <a:pt x="0" y="0"/>
                </a:lnTo>
                <a:lnTo>
                  <a:pt x="1524" y="1524"/>
                </a:lnTo>
                <a:lnTo>
                  <a:pt x="3048" y="0"/>
                </a:lnTo>
                <a:close/>
              </a:path>
              <a:path w="50800" h="9525">
                <a:moveTo>
                  <a:pt x="29464" y="0"/>
                </a:moveTo>
                <a:lnTo>
                  <a:pt x="29146" y="0"/>
                </a:lnTo>
                <a:lnTo>
                  <a:pt x="29597" y="1203"/>
                </a:lnTo>
                <a:lnTo>
                  <a:pt x="29464" y="0"/>
                </a:lnTo>
                <a:close/>
              </a:path>
              <a:path w="50800" h="9525">
                <a:moveTo>
                  <a:pt x="12627" y="0"/>
                </a:moveTo>
                <a:lnTo>
                  <a:pt x="12530" y="169"/>
                </a:lnTo>
                <a:lnTo>
                  <a:pt x="1262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0694" y="918781"/>
            <a:ext cx="75666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15" dirty="0"/>
              <a:t>Deadlock: </a:t>
            </a:r>
            <a:r>
              <a:rPr spc="-340" dirty="0"/>
              <a:t>a </a:t>
            </a:r>
            <a:r>
              <a:rPr spc="-190" dirty="0"/>
              <a:t>visual</a:t>
            </a:r>
            <a:r>
              <a:rPr spc="-125" dirty="0"/>
              <a:t> representation</a:t>
            </a:r>
            <a:endParaRPr spc="-125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912112"/>
            <a:ext cx="50755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245" dirty="0">
                <a:latin typeface="Arial" panose="020B0604020202020204"/>
                <a:cs typeface="Arial" panose="020B0604020202020204"/>
              </a:rPr>
              <a:t>Cycle </a:t>
            </a:r>
            <a:r>
              <a:rPr sz="3200" spc="-40" dirty="0">
                <a:latin typeface="Arial" panose="020B0604020202020204"/>
                <a:cs typeface="Arial" panose="020B0604020202020204"/>
              </a:rPr>
              <a:t>in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dependency</a:t>
            </a:r>
            <a:r>
              <a:rPr sz="3200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graph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38215" y="2772401"/>
            <a:ext cx="3580444" cy="111532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14536" y="3886200"/>
            <a:ext cx="5494459" cy="3427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pc="-60" dirty="0"/>
            </a:fld>
            <a:endParaRPr spc="-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4226" y="918781"/>
            <a:ext cx="54038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70" dirty="0"/>
              <a:t>Conditions </a:t>
            </a:r>
            <a:r>
              <a:rPr spc="-10" dirty="0"/>
              <a:t>for</a:t>
            </a:r>
            <a:r>
              <a:rPr spc="-365" dirty="0"/>
              <a:t> </a:t>
            </a:r>
            <a:r>
              <a:rPr spc="-190" dirty="0"/>
              <a:t>deadlock</a:t>
            </a:r>
            <a:endParaRPr spc="-190" dirty="0"/>
          </a:p>
        </p:txBody>
      </p:sp>
      <p:sp>
        <p:nvSpPr>
          <p:cNvPr id="5" name="object 5"/>
          <p:cNvSpPr txBox="1"/>
          <p:nvPr/>
        </p:nvSpPr>
        <p:spPr>
          <a:xfrm>
            <a:off x="1130743" y="2209800"/>
            <a:ext cx="7790815" cy="45516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793750" indent="-342900">
              <a:lnSpc>
                <a:spcPts val="3240"/>
              </a:lnSpc>
              <a:spcBef>
                <a:spcPts val="50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30" dirty="0">
                <a:latin typeface="Arial" panose="020B0604020202020204"/>
                <a:cs typeface="Arial" panose="020B0604020202020204"/>
              </a:rPr>
              <a:t>Mutual </a:t>
            </a:r>
            <a:r>
              <a:rPr sz="3000" spc="-140" dirty="0">
                <a:latin typeface="Arial" panose="020B0604020202020204"/>
                <a:cs typeface="Arial" panose="020B0604020202020204"/>
              </a:rPr>
              <a:t>exclusion: </a:t>
            </a:r>
            <a:r>
              <a:rPr sz="3000" spc="-235" dirty="0">
                <a:latin typeface="Arial" panose="020B0604020202020204"/>
                <a:cs typeface="Arial" panose="020B0604020202020204"/>
              </a:rPr>
              <a:t>a </a:t>
            </a:r>
            <a:r>
              <a:rPr sz="3000" spc="-75" dirty="0">
                <a:latin typeface="Arial" panose="020B0604020202020204"/>
                <a:cs typeface="Arial" panose="020B0604020202020204"/>
              </a:rPr>
              <a:t>thread </a:t>
            </a:r>
            <a:r>
              <a:rPr sz="3000" spc="-145" dirty="0">
                <a:latin typeface="Arial" panose="020B0604020202020204"/>
                <a:cs typeface="Arial" panose="020B0604020202020204"/>
              </a:rPr>
              <a:t>claims</a:t>
            </a:r>
            <a:r>
              <a:rPr sz="3000" spc="-360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65" dirty="0">
                <a:latin typeface="Arial" panose="020B0604020202020204"/>
                <a:cs typeface="Arial" panose="020B0604020202020204"/>
              </a:rPr>
              <a:t>exclusive  </a:t>
            </a:r>
            <a:r>
              <a:rPr sz="3000" spc="-55" dirty="0">
                <a:latin typeface="Arial" panose="020B0604020202020204"/>
                <a:cs typeface="Arial" panose="020B0604020202020204"/>
              </a:rPr>
              <a:t>control </a:t>
            </a:r>
            <a:r>
              <a:rPr sz="3000" spc="-5" dirty="0">
                <a:latin typeface="Arial" panose="020B0604020202020204"/>
                <a:cs typeface="Arial" panose="020B0604020202020204"/>
              </a:rPr>
              <a:t>of </a:t>
            </a:r>
            <a:r>
              <a:rPr sz="3000" spc="-235" dirty="0">
                <a:latin typeface="Arial" panose="020B0604020202020204"/>
                <a:cs typeface="Arial" panose="020B0604020202020204"/>
              </a:rPr>
              <a:t>a </a:t>
            </a:r>
            <a:r>
              <a:rPr sz="3000" spc="-140" dirty="0">
                <a:latin typeface="Arial" panose="020B0604020202020204"/>
                <a:cs typeface="Arial" panose="020B0604020202020204"/>
              </a:rPr>
              <a:t>resource </a:t>
            </a:r>
            <a:r>
              <a:rPr sz="3000" spc="-125" dirty="0">
                <a:latin typeface="Arial" panose="020B0604020202020204"/>
                <a:cs typeface="Arial" panose="020B0604020202020204"/>
              </a:rPr>
              <a:t>(e.g.,</a:t>
            </a:r>
            <a:r>
              <a:rPr sz="3000" spc="-39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10" dirty="0">
                <a:latin typeface="Arial" panose="020B0604020202020204"/>
                <a:cs typeface="Arial" panose="020B0604020202020204"/>
              </a:rPr>
              <a:t>lock)</a:t>
            </a:r>
            <a:endParaRPr sz="3000" dirty="0">
              <a:latin typeface="Arial" panose="020B0604020202020204"/>
              <a:cs typeface="Arial" panose="020B0604020202020204"/>
            </a:endParaRPr>
          </a:p>
          <a:p>
            <a:pPr marL="355600" marR="399415" indent="-342900">
              <a:lnSpc>
                <a:spcPts val="324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85" dirty="0">
                <a:latin typeface="Arial" panose="020B0604020202020204"/>
                <a:cs typeface="Arial" panose="020B0604020202020204"/>
              </a:rPr>
              <a:t>Hold-and-wait: </a:t>
            </a:r>
            <a:r>
              <a:rPr sz="3000" spc="-75" dirty="0">
                <a:latin typeface="Arial" panose="020B0604020202020204"/>
                <a:cs typeface="Arial" panose="020B0604020202020204"/>
              </a:rPr>
              <a:t>thread </a:t>
            </a:r>
            <a:r>
              <a:rPr sz="3000" spc="-120" dirty="0">
                <a:latin typeface="Arial" panose="020B0604020202020204"/>
                <a:cs typeface="Arial" panose="020B0604020202020204"/>
              </a:rPr>
              <a:t>holds </a:t>
            </a:r>
            <a:r>
              <a:rPr sz="3000" spc="-235" dirty="0">
                <a:latin typeface="Arial" panose="020B0604020202020204"/>
                <a:cs typeface="Arial" panose="020B0604020202020204"/>
              </a:rPr>
              <a:t>a </a:t>
            </a:r>
            <a:r>
              <a:rPr sz="3000" spc="-140" dirty="0">
                <a:latin typeface="Arial" panose="020B0604020202020204"/>
                <a:cs typeface="Arial" panose="020B0604020202020204"/>
              </a:rPr>
              <a:t>resource </a:t>
            </a:r>
            <a:r>
              <a:rPr sz="3000" spc="-145" dirty="0">
                <a:latin typeface="Arial" panose="020B0604020202020204"/>
                <a:cs typeface="Arial" panose="020B0604020202020204"/>
              </a:rPr>
              <a:t>and</a:t>
            </a:r>
            <a:r>
              <a:rPr sz="3000" spc="-370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55" dirty="0">
                <a:latin typeface="Arial" panose="020B0604020202020204"/>
                <a:cs typeface="Arial" panose="020B0604020202020204"/>
              </a:rPr>
              <a:t>is  </a:t>
            </a:r>
            <a:r>
              <a:rPr sz="3000" spc="-65" dirty="0">
                <a:latin typeface="Arial" panose="020B0604020202020204"/>
                <a:cs typeface="Arial" panose="020B0604020202020204"/>
              </a:rPr>
              <a:t>waiting </a:t>
            </a:r>
            <a:r>
              <a:rPr sz="3000" spc="-10" dirty="0">
                <a:latin typeface="Arial" panose="020B0604020202020204"/>
                <a:cs typeface="Arial" panose="020B0604020202020204"/>
              </a:rPr>
              <a:t>for</a:t>
            </a:r>
            <a:r>
              <a:rPr sz="3000" spc="-270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70" dirty="0">
                <a:latin typeface="Arial" panose="020B0604020202020204"/>
                <a:cs typeface="Arial" panose="020B0604020202020204"/>
              </a:rPr>
              <a:t>another</a:t>
            </a:r>
            <a:endParaRPr sz="3000" dirty="0">
              <a:latin typeface="Arial" panose="020B0604020202020204"/>
              <a:cs typeface="Arial" panose="020B0604020202020204"/>
            </a:endParaRPr>
          </a:p>
          <a:p>
            <a:pPr marL="355600" marR="149225" indent="-342900">
              <a:lnSpc>
                <a:spcPts val="324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65" dirty="0">
                <a:latin typeface="Arial" panose="020B0604020202020204"/>
                <a:cs typeface="Arial" panose="020B0604020202020204"/>
              </a:rPr>
              <a:t>No </a:t>
            </a:r>
            <a:r>
              <a:rPr sz="3000" spc="-65" dirty="0">
                <a:latin typeface="Arial" panose="020B0604020202020204"/>
                <a:cs typeface="Arial" panose="020B0604020202020204"/>
              </a:rPr>
              <a:t>preemption: </a:t>
            </a:r>
            <a:r>
              <a:rPr sz="3000" spc="-75" dirty="0">
                <a:latin typeface="Arial" panose="020B0604020202020204"/>
                <a:cs typeface="Arial" panose="020B0604020202020204"/>
              </a:rPr>
              <a:t>thread </a:t>
            </a:r>
            <a:r>
              <a:rPr sz="3000" spc="-105" dirty="0">
                <a:latin typeface="Arial" panose="020B0604020202020204"/>
                <a:cs typeface="Arial" panose="020B0604020202020204"/>
              </a:rPr>
              <a:t>cannot </a:t>
            </a:r>
            <a:r>
              <a:rPr sz="3000" spc="-140" dirty="0">
                <a:latin typeface="Arial" panose="020B0604020202020204"/>
                <a:cs typeface="Arial" panose="020B0604020202020204"/>
              </a:rPr>
              <a:t>be </a:t>
            </a:r>
            <a:r>
              <a:rPr sz="3000" spc="-155" dirty="0">
                <a:latin typeface="Arial" panose="020B0604020202020204"/>
                <a:cs typeface="Arial" panose="020B0604020202020204"/>
              </a:rPr>
              <a:t>made </a:t>
            </a:r>
            <a:r>
              <a:rPr sz="3000" spc="30" dirty="0">
                <a:latin typeface="Arial" panose="020B0604020202020204"/>
                <a:cs typeface="Arial" panose="020B0604020202020204"/>
              </a:rPr>
              <a:t>to</a:t>
            </a:r>
            <a:r>
              <a:rPr sz="3000" spc="-459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50" dirty="0">
                <a:latin typeface="Arial" panose="020B0604020202020204"/>
                <a:cs typeface="Arial" panose="020B0604020202020204"/>
              </a:rPr>
              <a:t>give  </a:t>
            </a:r>
            <a:r>
              <a:rPr sz="3000" spc="-95" dirty="0">
                <a:latin typeface="Arial" panose="020B0604020202020204"/>
                <a:cs typeface="Arial" panose="020B0604020202020204"/>
              </a:rPr>
              <a:t>up </a:t>
            </a:r>
            <a:r>
              <a:rPr sz="3000" spc="-50" dirty="0">
                <a:latin typeface="Arial" panose="020B0604020202020204"/>
                <a:cs typeface="Arial" panose="020B0604020202020204"/>
              </a:rPr>
              <a:t>its </a:t>
            </a:r>
            <a:r>
              <a:rPr sz="3000" spc="-140" dirty="0">
                <a:latin typeface="Arial" panose="020B0604020202020204"/>
                <a:cs typeface="Arial" panose="020B0604020202020204"/>
              </a:rPr>
              <a:t>resource </a:t>
            </a:r>
            <a:r>
              <a:rPr sz="3000" spc="-125" dirty="0">
                <a:latin typeface="Arial" panose="020B0604020202020204"/>
                <a:cs typeface="Arial" panose="020B0604020202020204"/>
              </a:rPr>
              <a:t>(e.g., </a:t>
            </a:r>
            <a:r>
              <a:rPr sz="3000" spc="-105" dirty="0">
                <a:latin typeface="Arial" panose="020B0604020202020204"/>
                <a:cs typeface="Arial" panose="020B0604020202020204"/>
              </a:rPr>
              <a:t>cannot </a:t>
            </a:r>
            <a:r>
              <a:rPr sz="3000" spc="-125" dirty="0">
                <a:latin typeface="Arial" panose="020B0604020202020204"/>
                <a:cs typeface="Arial" panose="020B0604020202020204"/>
              </a:rPr>
              <a:t>take </a:t>
            </a:r>
            <a:r>
              <a:rPr sz="3000" spc="-175" dirty="0">
                <a:latin typeface="Arial" panose="020B0604020202020204"/>
                <a:cs typeface="Arial" panose="020B0604020202020204"/>
              </a:rPr>
              <a:t>back </a:t>
            </a:r>
            <a:r>
              <a:rPr sz="3000" spc="-235" dirty="0">
                <a:latin typeface="Arial" panose="020B0604020202020204"/>
                <a:cs typeface="Arial" panose="020B0604020202020204"/>
              </a:rPr>
              <a:t>a</a:t>
            </a:r>
            <a:r>
              <a:rPr sz="3000" spc="-540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10" dirty="0">
                <a:latin typeface="Arial" panose="020B0604020202020204"/>
                <a:cs typeface="Arial" panose="020B0604020202020204"/>
              </a:rPr>
              <a:t>lock)</a:t>
            </a:r>
            <a:endParaRPr sz="3000" dirty="0">
              <a:latin typeface="Arial" panose="020B0604020202020204"/>
              <a:cs typeface="Arial" panose="020B0604020202020204"/>
            </a:endParaRPr>
          </a:p>
          <a:p>
            <a:pPr marL="355600" marR="13970" indent="-342900">
              <a:lnSpc>
                <a:spcPts val="324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35" dirty="0">
                <a:latin typeface="Arial" panose="020B0604020202020204"/>
                <a:cs typeface="Arial" panose="020B0604020202020204"/>
              </a:rPr>
              <a:t>Circular </a:t>
            </a:r>
            <a:r>
              <a:rPr sz="3000" spc="-30" dirty="0">
                <a:latin typeface="Arial" panose="020B0604020202020204"/>
                <a:cs typeface="Arial" panose="020B0604020202020204"/>
              </a:rPr>
              <a:t>wait: </a:t>
            </a:r>
            <a:r>
              <a:rPr sz="3000" spc="-60" dirty="0">
                <a:latin typeface="Arial" panose="020B0604020202020204"/>
                <a:cs typeface="Arial" panose="020B0604020202020204"/>
              </a:rPr>
              <a:t>there </a:t>
            </a:r>
            <a:r>
              <a:rPr sz="3000" spc="-160" dirty="0">
                <a:latin typeface="Arial" panose="020B0604020202020204"/>
                <a:cs typeface="Arial" panose="020B0604020202020204"/>
              </a:rPr>
              <a:t>exists </a:t>
            </a:r>
            <a:r>
              <a:rPr sz="3000" spc="-235" dirty="0">
                <a:latin typeface="Arial" panose="020B0604020202020204"/>
                <a:cs typeface="Arial" panose="020B0604020202020204"/>
              </a:rPr>
              <a:t>a </a:t>
            </a:r>
            <a:r>
              <a:rPr sz="3000" spc="-165" dirty="0">
                <a:latin typeface="Arial" panose="020B0604020202020204"/>
                <a:cs typeface="Arial" panose="020B0604020202020204"/>
              </a:rPr>
              <a:t>cycle </a:t>
            </a:r>
            <a:r>
              <a:rPr sz="3000" spc="-40" dirty="0">
                <a:latin typeface="Arial" panose="020B0604020202020204"/>
                <a:cs typeface="Arial" panose="020B0604020202020204"/>
              </a:rPr>
              <a:t>in </a:t>
            </a:r>
            <a:r>
              <a:rPr sz="3000" spc="-35" dirty="0">
                <a:latin typeface="Arial" panose="020B0604020202020204"/>
                <a:cs typeface="Arial" panose="020B0604020202020204"/>
              </a:rPr>
              <a:t>the</a:t>
            </a:r>
            <a:r>
              <a:rPr sz="3000" spc="-470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40" dirty="0">
                <a:latin typeface="Arial" panose="020B0604020202020204"/>
                <a:cs typeface="Arial" panose="020B0604020202020204"/>
              </a:rPr>
              <a:t>resource  </a:t>
            </a:r>
            <a:r>
              <a:rPr sz="3000" spc="-145" dirty="0">
                <a:latin typeface="Arial" panose="020B0604020202020204"/>
                <a:cs typeface="Arial" panose="020B0604020202020204"/>
              </a:rPr>
              <a:t>dependency</a:t>
            </a:r>
            <a:r>
              <a:rPr sz="3000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40" dirty="0">
                <a:latin typeface="Arial" panose="020B0604020202020204"/>
                <a:cs typeface="Arial" panose="020B0604020202020204"/>
              </a:rPr>
              <a:t>graph</a:t>
            </a:r>
            <a:endParaRPr sz="3000" dirty="0">
              <a:latin typeface="Arial" panose="020B0604020202020204"/>
              <a:cs typeface="Arial" panose="020B0604020202020204"/>
            </a:endParaRPr>
          </a:p>
          <a:p>
            <a:pPr marL="355600" marR="5080" indent="-342900">
              <a:lnSpc>
                <a:spcPts val="3240"/>
              </a:lnSpc>
              <a:spcBef>
                <a:spcPts val="720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365" dirty="0">
                <a:latin typeface="Arial" panose="020B0604020202020204"/>
                <a:cs typeface="Arial" panose="020B0604020202020204"/>
              </a:rPr>
              <a:t>ALL </a:t>
            </a:r>
            <a:r>
              <a:rPr sz="3000" spc="-35" dirty="0">
                <a:latin typeface="Arial" panose="020B0604020202020204"/>
                <a:cs typeface="Arial" panose="020B0604020202020204"/>
              </a:rPr>
              <a:t>four </a:t>
            </a:r>
            <a:r>
              <a:rPr sz="3000" spc="-5" dirty="0">
                <a:latin typeface="Arial" panose="020B0604020202020204"/>
                <a:cs typeface="Arial" panose="020B0604020202020204"/>
              </a:rPr>
              <a:t>of </a:t>
            </a:r>
            <a:r>
              <a:rPr sz="3000" spc="-35" dirty="0">
                <a:latin typeface="Arial" panose="020B0604020202020204"/>
                <a:cs typeface="Arial" panose="020B0604020202020204"/>
              </a:rPr>
              <a:t>the </a:t>
            </a:r>
            <a:r>
              <a:rPr sz="3000" spc="-155" dirty="0">
                <a:latin typeface="Arial" panose="020B0604020202020204"/>
                <a:cs typeface="Arial" panose="020B0604020202020204"/>
              </a:rPr>
              <a:t>above </a:t>
            </a:r>
            <a:r>
              <a:rPr sz="3000" spc="-90" dirty="0">
                <a:latin typeface="Arial" panose="020B0604020202020204"/>
                <a:cs typeface="Arial" panose="020B0604020202020204"/>
              </a:rPr>
              <a:t>conditions </a:t>
            </a:r>
            <a:r>
              <a:rPr sz="3000" spc="-100" dirty="0">
                <a:latin typeface="Arial" panose="020B0604020202020204"/>
                <a:cs typeface="Arial" panose="020B0604020202020204"/>
              </a:rPr>
              <a:t>must </a:t>
            </a:r>
            <a:r>
              <a:rPr sz="3000" spc="-70" dirty="0">
                <a:latin typeface="Arial" panose="020B0604020202020204"/>
                <a:cs typeface="Arial" panose="020B0604020202020204"/>
              </a:rPr>
              <a:t>hold </a:t>
            </a:r>
            <a:r>
              <a:rPr sz="3000" spc="-10" dirty="0">
                <a:latin typeface="Arial" panose="020B0604020202020204"/>
                <a:cs typeface="Arial" panose="020B0604020202020204"/>
              </a:rPr>
              <a:t>for</a:t>
            </a:r>
            <a:r>
              <a:rPr sz="3000" spc="-61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235" dirty="0">
                <a:latin typeface="Arial" panose="020B0604020202020204"/>
                <a:cs typeface="Arial" panose="020B0604020202020204"/>
              </a:rPr>
              <a:t>a  </a:t>
            </a:r>
            <a:r>
              <a:rPr sz="3000" spc="-135" dirty="0">
                <a:latin typeface="Arial" panose="020B0604020202020204"/>
                <a:cs typeface="Arial" panose="020B0604020202020204"/>
              </a:rPr>
              <a:t>deadlock </a:t>
            </a:r>
            <a:r>
              <a:rPr sz="3000" spc="30" dirty="0">
                <a:latin typeface="Arial" panose="020B0604020202020204"/>
                <a:cs typeface="Arial" panose="020B0604020202020204"/>
              </a:rPr>
              <a:t>to</a:t>
            </a:r>
            <a:r>
              <a:rPr sz="3000" spc="-22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25" dirty="0">
                <a:latin typeface="Arial" panose="020B0604020202020204"/>
                <a:cs typeface="Arial" panose="020B0604020202020204"/>
              </a:rPr>
              <a:t>occur</a:t>
            </a:r>
            <a:endParaRPr sz="3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 panose="020B0604020202020204"/>
                <a:cs typeface="Arial" panose="020B0604020202020204"/>
              </a:rPr>
            </a:fld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5563" y="918781"/>
            <a:ext cx="53555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Preventing </a:t>
            </a:r>
            <a:r>
              <a:rPr spc="-135" dirty="0"/>
              <a:t>circular</a:t>
            </a:r>
            <a:r>
              <a:rPr spc="-350" dirty="0"/>
              <a:t> </a:t>
            </a:r>
            <a:r>
              <a:rPr spc="-35" dirty="0"/>
              <a:t>wait</a:t>
            </a:r>
            <a:endParaRPr spc="-35" dirty="0"/>
          </a:p>
        </p:txBody>
      </p:sp>
      <p:sp>
        <p:nvSpPr>
          <p:cNvPr id="5" name="object 5"/>
          <p:cNvSpPr txBox="1"/>
          <p:nvPr/>
        </p:nvSpPr>
        <p:spPr>
          <a:xfrm>
            <a:off x="1061466" y="1645792"/>
            <a:ext cx="7585709" cy="271335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30" dirty="0">
                <a:latin typeface="Arial" panose="020B0604020202020204"/>
                <a:cs typeface="Arial" panose="020B0604020202020204"/>
              </a:rPr>
              <a:t>Acquire </a:t>
            </a:r>
            <a:r>
              <a:rPr sz="3200" spc="-170" dirty="0">
                <a:latin typeface="Arial" panose="020B0604020202020204"/>
                <a:cs typeface="Arial" panose="020B0604020202020204"/>
              </a:rPr>
              <a:t>locks </a:t>
            </a:r>
            <a:r>
              <a:rPr sz="3200" spc="-40" dirty="0">
                <a:latin typeface="Arial" panose="020B0604020202020204"/>
                <a:cs typeface="Arial" panose="020B0604020202020204"/>
              </a:rPr>
              <a:t>in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</a:t>
            </a:r>
            <a:r>
              <a:rPr sz="3200" spc="-85" dirty="0">
                <a:latin typeface="Arial" panose="020B0604020202020204"/>
                <a:cs typeface="Arial" panose="020B0604020202020204"/>
              </a:rPr>
              <a:t>certain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fixed</a:t>
            </a:r>
            <a:r>
              <a:rPr sz="3200" spc="-37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70" dirty="0">
                <a:latin typeface="Arial" panose="020B0604020202020204"/>
                <a:cs typeface="Arial" panose="020B0604020202020204"/>
              </a:rPr>
              <a:t>order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800" spc="-195" dirty="0">
                <a:latin typeface="Arial" panose="020B0604020202020204"/>
                <a:cs typeface="Arial" panose="020B0604020202020204"/>
              </a:rPr>
              <a:t>E.g., </a:t>
            </a:r>
            <a:r>
              <a:rPr sz="2800" spc="-30" dirty="0">
                <a:latin typeface="Arial" panose="020B0604020202020204"/>
                <a:cs typeface="Arial" panose="020B0604020202020204"/>
              </a:rPr>
              <a:t>both </a:t>
            </a:r>
            <a:r>
              <a:rPr sz="2800" spc="-105" dirty="0">
                <a:latin typeface="Arial" panose="020B0604020202020204"/>
                <a:cs typeface="Arial" panose="020B0604020202020204"/>
              </a:rPr>
              <a:t>threads </a:t>
            </a:r>
            <a:r>
              <a:rPr sz="2800" spc="-114" dirty="0">
                <a:latin typeface="Arial" panose="020B0604020202020204"/>
                <a:cs typeface="Arial" panose="020B0604020202020204"/>
              </a:rPr>
              <a:t>acquire </a:t>
            </a:r>
            <a:r>
              <a:rPr sz="2800" spc="-265" dirty="0">
                <a:latin typeface="Arial" panose="020B0604020202020204"/>
                <a:cs typeface="Arial" panose="020B0604020202020204"/>
              </a:rPr>
              <a:t>L1 </a:t>
            </a:r>
            <a:r>
              <a:rPr sz="2800" spc="-90" dirty="0">
                <a:latin typeface="Arial" panose="020B0604020202020204"/>
                <a:cs typeface="Arial" panose="020B0604020202020204"/>
              </a:rPr>
              <a:t>before</a:t>
            </a:r>
            <a:r>
              <a:rPr sz="2800" spc="-120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270" dirty="0">
                <a:latin typeface="Arial" panose="020B0604020202020204"/>
                <a:cs typeface="Arial" panose="020B0604020202020204"/>
              </a:rPr>
              <a:t>L2</a:t>
            </a:r>
            <a:endParaRPr sz="2800" dirty="0">
              <a:latin typeface="Arial" panose="020B0604020202020204"/>
              <a:cs typeface="Arial" panose="020B0604020202020204"/>
            </a:endParaRPr>
          </a:p>
          <a:p>
            <a:pPr marL="355600" marR="5080" indent="-342900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75" dirty="0">
                <a:latin typeface="Arial" panose="020B0604020202020204"/>
                <a:cs typeface="Arial" panose="020B0604020202020204"/>
              </a:rPr>
              <a:t>Total </a:t>
            </a:r>
            <a:r>
              <a:rPr sz="3200" spc="-90" dirty="0">
                <a:latin typeface="Arial" panose="020B0604020202020204"/>
                <a:cs typeface="Arial" panose="020B0604020202020204"/>
              </a:rPr>
              <a:t>ordering </a:t>
            </a:r>
            <a:r>
              <a:rPr sz="3200" spc="-50" dirty="0">
                <a:latin typeface="Arial" panose="020B0604020202020204"/>
                <a:cs typeface="Arial" panose="020B0604020202020204"/>
              </a:rPr>
              <a:t>(or </a:t>
            </a:r>
            <a:r>
              <a:rPr sz="3200" spc="-170" dirty="0">
                <a:latin typeface="Arial" panose="020B0604020202020204"/>
                <a:cs typeface="Arial" panose="020B0604020202020204"/>
              </a:rPr>
              <a:t>even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</a:t>
            </a:r>
            <a:r>
              <a:rPr sz="3200" spc="-50" dirty="0">
                <a:latin typeface="Arial" panose="020B0604020202020204"/>
                <a:cs typeface="Arial" panose="020B0604020202020204"/>
              </a:rPr>
              <a:t>partial </a:t>
            </a:r>
            <a:r>
              <a:rPr sz="3200" spc="-90" dirty="0">
                <a:latin typeface="Arial" panose="020B0604020202020204"/>
                <a:cs typeface="Arial" panose="020B0604020202020204"/>
              </a:rPr>
              <a:t>ordering</a:t>
            </a:r>
            <a:r>
              <a:rPr sz="3200" spc="-35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100" dirty="0">
                <a:latin typeface="Arial" panose="020B0604020202020204"/>
                <a:cs typeface="Arial" panose="020B0604020202020204"/>
              </a:rPr>
              <a:t>on  </a:t>
            </a:r>
            <a:r>
              <a:rPr sz="3200" spc="-85" dirty="0">
                <a:latin typeface="Arial" panose="020B0604020202020204"/>
                <a:cs typeface="Arial" panose="020B0604020202020204"/>
              </a:rPr>
              <a:t>related </a:t>
            </a:r>
            <a:r>
              <a:rPr sz="3200" spc="-160" dirty="0">
                <a:latin typeface="Arial" panose="020B0604020202020204"/>
                <a:cs typeface="Arial" panose="020B0604020202020204"/>
              </a:rPr>
              <a:t>locks) 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must </a:t>
            </a:r>
            <a:r>
              <a:rPr sz="3200" spc="-145" dirty="0">
                <a:latin typeface="Arial" panose="020B0604020202020204"/>
                <a:cs typeface="Arial" panose="020B0604020202020204"/>
              </a:rPr>
              <a:t>be</a:t>
            </a:r>
            <a:r>
              <a:rPr sz="3200" spc="-34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65" dirty="0">
                <a:latin typeface="Arial" panose="020B0604020202020204"/>
                <a:cs typeface="Arial" panose="020B0604020202020204"/>
              </a:rPr>
              <a:t>followed</a:t>
            </a:r>
            <a:endParaRPr sz="3200" dirty="0">
              <a:latin typeface="Arial" panose="020B0604020202020204"/>
              <a:cs typeface="Arial" panose="020B0604020202020204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800" spc="-195" dirty="0">
                <a:latin typeface="Arial" panose="020B0604020202020204"/>
                <a:cs typeface="Arial" panose="020B0604020202020204"/>
              </a:rPr>
              <a:t>E.g., </a:t>
            </a:r>
            <a:r>
              <a:rPr sz="2800" spc="-65" dirty="0">
                <a:latin typeface="Arial" panose="020B0604020202020204"/>
                <a:cs typeface="Arial" panose="020B0604020202020204"/>
              </a:rPr>
              <a:t>order </a:t>
            </a:r>
            <a:r>
              <a:rPr sz="2800" spc="-155" dirty="0">
                <a:latin typeface="Arial" panose="020B0604020202020204"/>
                <a:cs typeface="Arial" panose="020B0604020202020204"/>
              </a:rPr>
              <a:t>locks </a:t>
            </a:r>
            <a:r>
              <a:rPr sz="2800" spc="-125" dirty="0">
                <a:latin typeface="Arial" panose="020B0604020202020204"/>
                <a:cs typeface="Arial" panose="020B0604020202020204"/>
              </a:rPr>
              <a:t>by </a:t>
            </a:r>
            <a:r>
              <a:rPr sz="2800" spc="-175" dirty="0">
                <a:latin typeface="Arial" panose="020B0604020202020204"/>
                <a:cs typeface="Arial" panose="020B0604020202020204"/>
              </a:rPr>
              <a:t>address </a:t>
            </a:r>
            <a:r>
              <a:rPr sz="2800" spc="-10" dirty="0">
                <a:latin typeface="Arial" panose="020B0604020202020204"/>
                <a:cs typeface="Arial" panose="020B0604020202020204"/>
              </a:rPr>
              <a:t>of </a:t>
            </a:r>
            <a:r>
              <a:rPr sz="2800" spc="-110" dirty="0">
                <a:latin typeface="Arial" panose="020B0604020202020204"/>
                <a:cs typeface="Arial" panose="020B0604020202020204"/>
              </a:rPr>
              <a:t>lock</a:t>
            </a:r>
            <a:r>
              <a:rPr sz="2800" spc="-250" dirty="0">
                <a:latin typeface="Arial" panose="020B0604020202020204"/>
                <a:cs typeface="Arial" panose="020B0604020202020204"/>
              </a:rPr>
              <a:t> </a:t>
            </a:r>
            <a:r>
              <a:rPr sz="2800" spc="-105" dirty="0">
                <a:latin typeface="Arial" panose="020B0604020202020204"/>
                <a:cs typeface="Arial" panose="020B0604020202020204"/>
              </a:rPr>
              <a:t>variable</a:t>
            </a:r>
            <a:endParaRPr sz="2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95983" y="4849367"/>
            <a:ext cx="7266432" cy="200710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 panose="020B0604020202020204"/>
                <a:cs typeface="Arial" panose="020B0604020202020204"/>
              </a:rPr>
            </a:fld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0" dirty="0"/>
              <a:t>Preventing</a:t>
            </a:r>
            <a:r>
              <a:rPr spc="-335" dirty="0"/>
              <a:t> </a:t>
            </a:r>
            <a:r>
              <a:rPr spc="-100" dirty="0"/>
              <a:t>hold-and-wait</a:t>
            </a:r>
            <a:endParaRPr spc="-100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064512"/>
            <a:ext cx="7520305" cy="207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30" dirty="0">
                <a:latin typeface="Arial" panose="020B0604020202020204"/>
                <a:cs typeface="Arial" panose="020B0604020202020204"/>
              </a:rPr>
              <a:t>Acquire </a:t>
            </a:r>
            <a:r>
              <a:rPr sz="3200" spc="-70" dirty="0">
                <a:latin typeface="Arial" panose="020B0604020202020204"/>
                <a:cs typeface="Arial" panose="020B0604020202020204"/>
              </a:rPr>
              <a:t>all </a:t>
            </a:r>
            <a:r>
              <a:rPr sz="3200" spc="-170" dirty="0">
                <a:latin typeface="Arial" panose="020B0604020202020204"/>
                <a:cs typeface="Arial" panose="020B0604020202020204"/>
              </a:rPr>
              <a:t>locks </a:t>
            </a:r>
            <a:r>
              <a:rPr sz="3200" spc="-45" dirty="0">
                <a:latin typeface="Arial" panose="020B0604020202020204"/>
                <a:cs typeface="Arial" panose="020B0604020202020204"/>
              </a:rPr>
              <a:t>at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once, </a:t>
            </a:r>
            <a:r>
              <a:rPr sz="3200" spc="-285" dirty="0">
                <a:latin typeface="Arial" panose="020B0604020202020204"/>
                <a:cs typeface="Arial" panose="020B0604020202020204"/>
              </a:rPr>
              <a:t>say, </a:t>
            </a:r>
            <a:r>
              <a:rPr sz="3200" spc="-135" dirty="0">
                <a:latin typeface="Arial" panose="020B0604020202020204"/>
                <a:cs typeface="Arial" panose="020B0604020202020204"/>
              </a:rPr>
              <a:t>by 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acquiring</a:t>
            </a:r>
            <a:r>
              <a:rPr sz="3200" spc="-39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245" dirty="0">
                <a:latin typeface="Arial" panose="020B0604020202020204"/>
                <a:cs typeface="Arial" panose="020B0604020202020204"/>
              </a:rPr>
              <a:t>a  </a:t>
            </a:r>
            <a:r>
              <a:rPr sz="3200" spc="-125" dirty="0">
                <a:latin typeface="Arial" panose="020B0604020202020204"/>
                <a:cs typeface="Arial" panose="020B0604020202020204"/>
              </a:rPr>
              <a:t>master </a:t>
            </a:r>
            <a:r>
              <a:rPr sz="3200" spc="-120" dirty="0">
                <a:latin typeface="Arial" panose="020B0604020202020204"/>
                <a:cs typeface="Arial" panose="020B0604020202020204"/>
              </a:rPr>
              <a:t>lock</a:t>
            </a:r>
            <a:r>
              <a:rPr sz="3200" spc="-229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25" dirty="0">
                <a:latin typeface="Arial" panose="020B0604020202020204"/>
                <a:cs typeface="Arial" panose="020B0604020202020204"/>
              </a:rPr>
              <a:t>first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 marL="355600" marR="57912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sz="3200" spc="-110" dirty="0">
                <a:latin typeface="Arial" panose="020B0604020202020204"/>
                <a:cs typeface="Arial" panose="020B0604020202020204"/>
              </a:rPr>
              <a:t>But </a:t>
            </a:r>
            <a:r>
              <a:rPr sz="3200" spc="-65" dirty="0">
                <a:latin typeface="Arial" panose="020B0604020202020204"/>
                <a:cs typeface="Arial" panose="020B0604020202020204"/>
              </a:rPr>
              <a:t>this </a:t>
            </a:r>
            <a:r>
              <a:rPr sz="3200" spc="-75" dirty="0">
                <a:latin typeface="Arial" panose="020B0604020202020204"/>
                <a:cs typeface="Arial" panose="020B0604020202020204"/>
              </a:rPr>
              <a:t>method </a:t>
            </a:r>
            <a:r>
              <a:rPr sz="3200" spc="-195" dirty="0">
                <a:latin typeface="Arial" panose="020B0604020202020204"/>
                <a:cs typeface="Arial" panose="020B0604020202020204"/>
              </a:rPr>
              <a:t>may </a:t>
            </a:r>
            <a:r>
              <a:rPr sz="3200" spc="-140" dirty="0">
                <a:latin typeface="Arial" panose="020B0604020202020204"/>
                <a:cs typeface="Arial" panose="020B0604020202020204"/>
              </a:rPr>
              <a:t>reduce</a:t>
            </a:r>
            <a:r>
              <a:rPr sz="3200" spc="-385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95" dirty="0">
                <a:latin typeface="Arial" panose="020B0604020202020204"/>
                <a:cs typeface="Arial" panose="020B0604020202020204"/>
              </a:rPr>
              <a:t>concurrent  </a:t>
            </a:r>
            <a:r>
              <a:rPr sz="3200" spc="-120" dirty="0">
                <a:latin typeface="Arial" panose="020B0604020202020204"/>
                <a:cs typeface="Arial" panose="020B0604020202020204"/>
              </a:rPr>
              <a:t>execution </a:t>
            </a:r>
            <a:r>
              <a:rPr sz="3200" spc="-150" dirty="0">
                <a:latin typeface="Arial" panose="020B0604020202020204"/>
                <a:cs typeface="Arial" panose="020B0604020202020204"/>
              </a:rPr>
              <a:t>and </a:t>
            </a:r>
            <a:r>
              <a:rPr sz="3200" spc="-110" dirty="0">
                <a:latin typeface="Arial" panose="020B0604020202020204"/>
                <a:cs typeface="Arial" panose="020B0604020202020204"/>
              </a:rPr>
              <a:t>performance</a:t>
            </a:r>
            <a:r>
              <a:rPr sz="3200" spc="-260" dirty="0">
                <a:latin typeface="Arial" panose="020B0604020202020204"/>
                <a:cs typeface="Arial" panose="020B0604020202020204"/>
              </a:rPr>
              <a:t> </a:t>
            </a:r>
            <a:r>
              <a:rPr sz="3200" spc="-204" dirty="0">
                <a:latin typeface="Arial" panose="020B0604020202020204"/>
                <a:cs typeface="Arial" panose="020B0604020202020204"/>
              </a:rPr>
              <a:t>gains</a:t>
            </a:r>
            <a:endParaRPr sz="3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38786" y="4476953"/>
            <a:ext cx="7771304" cy="123671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870188" y="6920928"/>
            <a:ext cx="20574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40"/>
              </a:lnSpc>
            </a:pPr>
            <a:fld id="{81D60167-4931-47E6-BA6A-407CBD079E47}" type="slidenum">
              <a:rPr sz="1200" spc="-60" dirty="0">
                <a:solidFill>
                  <a:srgbClr val="898989"/>
                </a:solidFill>
                <a:latin typeface="Arial" panose="020B0604020202020204"/>
                <a:cs typeface="Arial" panose="020B0604020202020204"/>
              </a:rPr>
            </a:fld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3395" y="918781"/>
            <a:ext cx="65246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Other </a:t>
            </a:r>
            <a:r>
              <a:rPr spc="-135" dirty="0"/>
              <a:t>solutions </a:t>
            </a:r>
            <a:r>
              <a:rPr spc="35" dirty="0"/>
              <a:t>to</a:t>
            </a:r>
            <a:r>
              <a:rPr spc="-475" dirty="0"/>
              <a:t> </a:t>
            </a:r>
            <a:r>
              <a:rPr spc="-225" dirty="0"/>
              <a:t>deadlocks</a:t>
            </a:r>
            <a:endParaRPr spc="-225" dirty="0"/>
          </a:p>
        </p:txBody>
      </p:sp>
      <p:sp>
        <p:nvSpPr>
          <p:cNvPr id="5" name="object 5"/>
          <p:cNvSpPr txBox="1"/>
          <p:nvPr/>
        </p:nvSpPr>
        <p:spPr>
          <a:xfrm>
            <a:off x="838200" y="1754092"/>
            <a:ext cx="7832725" cy="289433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60" dirty="0">
                <a:latin typeface="Arial" panose="020B0604020202020204"/>
                <a:cs typeface="Arial" panose="020B0604020202020204"/>
              </a:rPr>
              <a:t>Deadlock </a:t>
            </a:r>
            <a:r>
              <a:rPr sz="3000" spc="-140" dirty="0">
                <a:latin typeface="Arial" panose="020B0604020202020204"/>
                <a:cs typeface="Arial" panose="020B0604020202020204"/>
              </a:rPr>
              <a:t>avoidance: </a:t>
            </a:r>
            <a:r>
              <a:rPr sz="3000" spc="45" dirty="0">
                <a:latin typeface="Arial" panose="020B0604020202020204"/>
                <a:cs typeface="Arial" panose="020B0604020202020204"/>
              </a:rPr>
              <a:t>if </a:t>
            </a:r>
            <a:r>
              <a:rPr sz="3000" spc="-484" dirty="0">
                <a:latin typeface="Arial" panose="020B0604020202020204"/>
                <a:cs typeface="Arial" panose="020B0604020202020204"/>
              </a:rPr>
              <a:t>OS </a:t>
            </a:r>
            <a:r>
              <a:rPr sz="3000" spc="-114" dirty="0">
                <a:latin typeface="Arial" panose="020B0604020202020204"/>
                <a:cs typeface="Arial" panose="020B0604020202020204"/>
              </a:rPr>
              <a:t>knew </a:t>
            </a:r>
            <a:r>
              <a:rPr sz="3000" spc="-90" dirty="0">
                <a:latin typeface="Arial" panose="020B0604020202020204"/>
                <a:cs typeface="Arial" panose="020B0604020202020204"/>
              </a:rPr>
              <a:t>which </a:t>
            </a:r>
            <a:r>
              <a:rPr sz="3000" spc="-185" dirty="0">
                <a:latin typeface="Arial" panose="020B0604020202020204"/>
                <a:cs typeface="Arial" panose="020B0604020202020204"/>
              </a:rPr>
              <a:t>process  </a:t>
            </a:r>
            <a:r>
              <a:rPr sz="3000" spc="-180" dirty="0">
                <a:latin typeface="Arial" panose="020B0604020202020204"/>
                <a:cs typeface="Arial" panose="020B0604020202020204"/>
              </a:rPr>
              <a:t>needs </a:t>
            </a:r>
            <a:r>
              <a:rPr sz="3000" spc="-90" dirty="0">
                <a:latin typeface="Arial" panose="020B0604020202020204"/>
                <a:cs typeface="Arial" panose="020B0604020202020204"/>
              </a:rPr>
              <a:t>which </a:t>
            </a:r>
            <a:r>
              <a:rPr sz="3000" spc="-150" dirty="0">
                <a:latin typeface="Arial" panose="020B0604020202020204"/>
                <a:cs typeface="Arial" panose="020B0604020202020204"/>
              </a:rPr>
              <a:t>locks, </a:t>
            </a:r>
            <a:r>
              <a:rPr sz="3000" spc="90" dirty="0">
                <a:latin typeface="Arial" panose="020B0604020202020204"/>
                <a:cs typeface="Arial" panose="020B0604020202020204"/>
              </a:rPr>
              <a:t>it </a:t>
            </a:r>
            <a:r>
              <a:rPr sz="3000" spc="-195" dirty="0">
                <a:latin typeface="Arial" panose="020B0604020202020204"/>
                <a:cs typeface="Arial" panose="020B0604020202020204"/>
              </a:rPr>
              <a:t>can </a:t>
            </a:r>
            <a:r>
              <a:rPr sz="3000" spc="-150" dirty="0">
                <a:latin typeface="Arial" panose="020B0604020202020204"/>
                <a:cs typeface="Arial" panose="020B0604020202020204"/>
              </a:rPr>
              <a:t>schedule </a:t>
            </a:r>
            <a:r>
              <a:rPr sz="3000" spc="-35" dirty="0">
                <a:latin typeface="Arial" panose="020B0604020202020204"/>
                <a:cs typeface="Arial" panose="020B0604020202020204"/>
              </a:rPr>
              <a:t>the</a:t>
            </a:r>
            <a:r>
              <a:rPr sz="3000" spc="-50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200" dirty="0">
                <a:latin typeface="Arial" panose="020B0604020202020204"/>
                <a:cs typeface="Arial" panose="020B0604020202020204"/>
              </a:rPr>
              <a:t>processes  </a:t>
            </a:r>
            <a:r>
              <a:rPr sz="3000" spc="-40" dirty="0">
                <a:latin typeface="Arial" panose="020B0604020202020204"/>
                <a:cs typeface="Arial" panose="020B0604020202020204"/>
              </a:rPr>
              <a:t>in</a:t>
            </a:r>
            <a:r>
              <a:rPr sz="3000" spc="-17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5" dirty="0">
                <a:latin typeface="Arial" panose="020B0604020202020204"/>
                <a:cs typeface="Arial" panose="020B0604020202020204"/>
              </a:rPr>
              <a:t>that</a:t>
            </a:r>
            <a:r>
              <a:rPr sz="3000" spc="-190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35" dirty="0">
                <a:latin typeface="Arial" panose="020B0604020202020204"/>
                <a:cs typeface="Arial" panose="020B0604020202020204"/>
              </a:rPr>
              <a:t>deadlock</a:t>
            </a:r>
            <a:r>
              <a:rPr sz="3000" spc="-16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5" dirty="0">
                <a:latin typeface="Arial" panose="020B0604020202020204"/>
                <a:cs typeface="Arial" panose="020B0604020202020204"/>
              </a:rPr>
              <a:t>will</a:t>
            </a:r>
            <a:r>
              <a:rPr sz="3000" spc="-14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0" dirty="0">
                <a:latin typeface="Arial" panose="020B0604020202020204"/>
                <a:cs typeface="Arial" panose="020B0604020202020204"/>
              </a:rPr>
              <a:t>not</a:t>
            </a:r>
            <a:r>
              <a:rPr sz="3000" spc="-160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125" dirty="0">
                <a:latin typeface="Arial" panose="020B0604020202020204"/>
                <a:cs typeface="Arial" panose="020B0604020202020204"/>
              </a:rPr>
              <a:t>occur</a:t>
            </a:r>
            <a:endParaRPr sz="3000" dirty="0">
              <a:latin typeface="Arial" panose="020B0604020202020204"/>
              <a:cs typeface="Arial" panose="020B0604020202020204"/>
            </a:endParaRPr>
          </a:p>
          <a:p>
            <a:pPr marL="756285" marR="51435" lvl="1" indent="-286385">
              <a:lnSpc>
                <a:spcPts val="2810"/>
              </a:lnSpc>
              <a:spcBef>
                <a:spcPts val="645"/>
              </a:spcBef>
              <a:buChar char="–"/>
              <a:tabLst>
                <a:tab pos="756920" algn="l"/>
              </a:tabLst>
            </a:pPr>
            <a:r>
              <a:rPr sz="2600" spc="-150" dirty="0">
                <a:latin typeface="Arial" panose="020B0604020202020204"/>
                <a:cs typeface="Arial" panose="020B0604020202020204"/>
              </a:rPr>
              <a:t>Banker’s </a:t>
            </a:r>
            <a:r>
              <a:rPr sz="2600" spc="-55" dirty="0">
                <a:latin typeface="Arial" panose="020B0604020202020204"/>
                <a:cs typeface="Arial" panose="020B0604020202020204"/>
              </a:rPr>
              <a:t>algorithm </a:t>
            </a:r>
            <a:r>
              <a:rPr sz="2600" spc="-135" dirty="0">
                <a:latin typeface="Arial" panose="020B0604020202020204"/>
                <a:cs typeface="Arial" panose="020B0604020202020204"/>
              </a:rPr>
              <a:t>is </a:t>
            </a:r>
            <a:r>
              <a:rPr sz="2600" spc="-95" dirty="0">
                <a:latin typeface="Arial" panose="020B0604020202020204"/>
                <a:cs typeface="Arial" panose="020B0604020202020204"/>
              </a:rPr>
              <a:t>very </a:t>
            </a:r>
            <a:r>
              <a:rPr sz="2600" spc="-100" dirty="0">
                <a:latin typeface="Arial" panose="020B0604020202020204"/>
                <a:cs typeface="Arial" panose="020B0604020202020204"/>
              </a:rPr>
              <a:t>popular, </a:t>
            </a:r>
            <a:r>
              <a:rPr sz="2600" spc="-10" dirty="0">
                <a:latin typeface="Arial" panose="020B0604020202020204"/>
                <a:cs typeface="Arial" panose="020B0604020202020204"/>
              </a:rPr>
              <a:t>but </a:t>
            </a:r>
            <a:r>
              <a:rPr sz="2600" spc="-75" dirty="0">
                <a:latin typeface="Arial" panose="020B0604020202020204"/>
                <a:cs typeface="Arial" panose="020B0604020202020204"/>
              </a:rPr>
              <a:t>impractical</a:t>
            </a:r>
            <a:r>
              <a:rPr sz="2600" spc="-470" dirty="0">
                <a:latin typeface="Arial" panose="020B0604020202020204"/>
                <a:cs typeface="Arial" panose="020B0604020202020204"/>
              </a:rPr>
              <a:t> </a:t>
            </a:r>
            <a:r>
              <a:rPr sz="2600" spc="-35" dirty="0">
                <a:latin typeface="Arial" panose="020B0604020202020204"/>
                <a:cs typeface="Arial" panose="020B0604020202020204"/>
              </a:rPr>
              <a:t>in  </a:t>
            </a:r>
            <a:r>
              <a:rPr sz="2600" spc="-85" dirty="0">
                <a:latin typeface="Arial" panose="020B0604020202020204"/>
                <a:cs typeface="Arial" panose="020B0604020202020204"/>
              </a:rPr>
              <a:t>real </a:t>
            </a:r>
            <a:r>
              <a:rPr sz="2600" spc="-30" dirty="0">
                <a:latin typeface="Arial" panose="020B0604020202020204"/>
                <a:cs typeface="Arial" panose="020B0604020202020204"/>
              </a:rPr>
              <a:t>life </a:t>
            </a:r>
            <a:r>
              <a:rPr sz="2600" spc="25" dirty="0">
                <a:latin typeface="Arial" panose="020B0604020202020204"/>
                <a:cs typeface="Arial" panose="020B0604020202020204"/>
              </a:rPr>
              <a:t>to </a:t>
            </a:r>
            <a:r>
              <a:rPr sz="2600" spc="-185" dirty="0">
                <a:latin typeface="Arial" panose="020B0604020202020204"/>
                <a:cs typeface="Arial" panose="020B0604020202020204"/>
              </a:rPr>
              <a:t>assume </a:t>
            </a:r>
            <a:r>
              <a:rPr sz="2600" spc="-50" dirty="0">
                <a:latin typeface="Arial" panose="020B0604020202020204"/>
                <a:cs typeface="Arial" panose="020B0604020202020204"/>
              </a:rPr>
              <a:t>this</a:t>
            </a:r>
            <a:r>
              <a:rPr sz="2600" spc="-505" dirty="0">
                <a:latin typeface="Arial" panose="020B0604020202020204"/>
                <a:cs typeface="Arial" panose="020B0604020202020204"/>
              </a:rPr>
              <a:t> </a:t>
            </a:r>
            <a:r>
              <a:rPr sz="2600" spc="-105" dirty="0">
                <a:latin typeface="Arial" panose="020B0604020202020204"/>
                <a:cs typeface="Arial" panose="020B0604020202020204"/>
              </a:rPr>
              <a:t>knowledge</a:t>
            </a:r>
            <a:endParaRPr sz="2600" dirty="0">
              <a:latin typeface="Arial" panose="020B0604020202020204"/>
              <a:cs typeface="Arial" panose="020B0604020202020204"/>
            </a:endParaRPr>
          </a:p>
          <a:p>
            <a:pPr marL="756285" marR="326390" lvl="1" indent="-286385">
              <a:lnSpc>
                <a:spcPts val="2810"/>
              </a:lnSpc>
              <a:spcBef>
                <a:spcPts val="620"/>
              </a:spcBef>
              <a:buChar char="–"/>
              <a:tabLst>
                <a:tab pos="756920" algn="l"/>
              </a:tabLst>
            </a:pPr>
            <a:r>
              <a:rPr sz="2600" spc="-160" dirty="0">
                <a:latin typeface="Arial" panose="020B0604020202020204"/>
                <a:cs typeface="Arial" panose="020B0604020202020204"/>
              </a:rPr>
              <a:t>Example, </a:t>
            </a:r>
            <a:r>
              <a:rPr sz="2600" spc="-70" dirty="0">
                <a:latin typeface="Arial" panose="020B0604020202020204"/>
                <a:cs typeface="Arial" panose="020B0604020202020204"/>
              </a:rPr>
              <a:t>below </a:t>
            </a:r>
            <a:r>
              <a:rPr sz="2600" spc="-114" dirty="0">
                <a:latin typeface="Arial" panose="020B0604020202020204"/>
                <a:cs typeface="Arial" panose="020B0604020202020204"/>
              </a:rPr>
              <a:t>are </a:t>
            </a:r>
            <a:r>
              <a:rPr sz="2600" spc="-140" dirty="0">
                <a:latin typeface="Arial" panose="020B0604020202020204"/>
                <a:cs typeface="Arial" panose="020B0604020202020204"/>
              </a:rPr>
              <a:t>locks </a:t>
            </a:r>
            <a:r>
              <a:rPr sz="2600" spc="-120" dirty="0">
                <a:latin typeface="Arial" panose="020B0604020202020204"/>
                <a:cs typeface="Arial" panose="020B0604020202020204"/>
              </a:rPr>
              <a:t>needed </a:t>
            </a:r>
            <a:r>
              <a:rPr sz="2600" spc="-110" dirty="0">
                <a:latin typeface="Arial" panose="020B0604020202020204"/>
                <a:cs typeface="Arial" panose="020B0604020202020204"/>
              </a:rPr>
              <a:t>by </a:t>
            </a:r>
            <a:r>
              <a:rPr sz="2600" spc="-95" dirty="0">
                <a:latin typeface="Arial" panose="020B0604020202020204"/>
                <a:cs typeface="Arial" panose="020B0604020202020204"/>
              </a:rPr>
              <a:t>threads </a:t>
            </a:r>
            <a:r>
              <a:rPr sz="2600" spc="-120" dirty="0">
                <a:latin typeface="Arial" panose="020B0604020202020204"/>
                <a:cs typeface="Arial" panose="020B0604020202020204"/>
              </a:rPr>
              <a:t>and</a:t>
            </a:r>
            <a:r>
              <a:rPr sz="2600" spc="-430" dirty="0">
                <a:latin typeface="Arial" panose="020B0604020202020204"/>
                <a:cs typeface="Arial" panose="020B0604020202020204"/>
              </a:rPr>
              <a:t> </a:t>
            </a:r>
            <a:r>
              <a:rPr sz="2600" spc="-200" dirty="0">
                <a:latin typeface="Arial" panose="020B0604020202020204"/>
                <a:cs typeface="Arial" panose="020B0604020202020204"/>
              </a:rPr>
              <a:t>a  </a:t>
            </a:r>
            <a:r>
              <a:rPr sz="2600" spc="-120" dirty="0">
                <a:latin typeface="Arial" panose="020B0604020202020204"/>
                <a:cs typeface="Arial" panose="020B0604020202020204"/>
              </a:rPr>
              <a:t>possible </a:t>
            </a:r>
            <a:r>
              <a:rPr sz="2600" spc="-130" dirty="0">
                <a:latin typeface="Arial" panose="020B0604020202020204"/>
                <a:cs typeface="Arial" panose="020B0604020202020204"/>
              </a:rPr>
              <a:t>schedule </a:t>
            </a:r>
            <a:r>
              <a:rPr sz="2600" spc="-110" dirty="0">
                <a:latin typeface="Arial" panose="020B0604020202020204"/>
                <a:cs typeface="Arial" panose="020B0604020202020204"/>
              </a:rPr>
              <a:t>decided by</a:t>
            </a:r>
            <a:r>
              <a:rPr sz="2600" spc="-330" dirty="0">
                <a:latin typeface="Arial" panose="020B0604020202020204"/>
                <a:cs typeface="Arial" panose="020B0604020202020204"/>
              </a:rPr>
              <a:t> </a:t>
            </a:r>
            <a:r>
              <a:rPr sz="2600" spc="-420" dirty="0">
                <a:latin typeface="Arial" panose="020B0604020202020204"/>
                <a:cs typeface="Arial" panose="020B0604020202020204"/>
              </a:rPr>
              <a:t>OS</a:t>
            </a:r>
            <a:endParaRPr sz="2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9" y="6238747"/>
            <a:ext cx="6637020" cy="8940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5"/>
              </a:spcBef>
              <a:buChar char="•"/>
              <a:tabLst>
                <a:tab pos="354965" algn="l"/>
                <a:tab pos="355600" algn="l"/>
              </a:tabLst>
            </a:pPr>
            <a:r>
              <a:rPr sz="3000" spc="-105" dirty="0">
                <a:latin typeface="Arial" panose="020B0604020202020204"/>
                <a:cs typeface="Arial" panose="020B0604020202020204"/>
              </a:rPr>
              <a:t>Detect </a:t>
            </a:r>
            <a:r>
              <a:rPr sz="3000" spc="-145" dirty="0">
                <a:latin typeface="Arial" panose="020B0604020202020204"/>
                <a:cs typeface="Arial" panose="020B0604020202020204"/>
              </a:rPr>
              <a:t>and </a:t>
            </a:r>
            <a:r>
              <a:rPr sz="3000" spc="-110" dirty="0">
                <a:latin typeface="Arial" panose="020B0604020202020204"/>
                <a:cs typeface="Arial" panose="020B0604020202020204"/>
              </a:rPr>
              <a:t>recover: </a:t>
            </a:r>
            <a:r>
              <a:rPr sz="3000" spc="-50" dirty="0">
                <a:latin typeface="Arial" panose="020B0604020202020204"/>
                <a:cs typeface="Arial" panose="020B0604020202020204"/>
              </a:rPr>
              <a:t>reboot </a:t>
            </a:r>
            <a:r>
              <a:rPr sz="3000" spc="-180" dirty="0">
                <a:latin typeface="Arial" panose="020B0604020202020204"/>
                <a:cs typeface="Arial" panose="020B0604020202020204"/>
              </a:rPr>
              <a:t>system </a:t>
            </a:r>
            <a:r>
              <a:rPr sz="3000" spc="-25" dirty="0">
                <a:latin typeface="Arial" panose="020B0604020202020204"/>
                <a:cs typeface="Arial" panose="020B0604020202020204"/>
              </a:rPr>
              <a:t>or</a:t>
            </a:r>
            <a:r>
              <a:rPr sz="3000" spc="-434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25" dirty="0">
                <a:latin typeface="Arial" panose="020B0604020202020204"/>
                <a:cs typeface="Arial" panose="020B0604020202020204"/>
              </a:rPr>
              <a:t>kill  </a:t>
            </a:r>
            <a:r>
              <a:rPr sz="3000" spc="-145" dirty="0">
                <a:latin typeface="Arial" panose="020B0604020202020204"/>
                <a:cs typeface="Arial" panose="020B0604020202020204"/>
              </a:rPr>
              <a:t>deadlocked</a:t>
            </a:r>
            <a:r>
              <a:rPr sz="3000" spc="-185" dirty="0">
                <a:latin typeface="Arial" panose="020B0604020202020204"/>
                <a:cs typeface="Arial" panose="020B0604020202020204"/>
              </a:rPr>
              <a:t> </a:t>
            </a:r>
            <a:r>
              <a:rPr sz="3000" spc="-200" dirty="0">
                <a:latin typeface="Arial" panose="020B0604020202020204"/>
                <a:cs typeface="Arial" panose="020B0604020202020204"/>
              </a:rPr>
              <a:t>processes</a:t>
            </a:r>
            <a:endParaRPr sz="3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82888" y="6882828"/>
            <a:ext cx="1803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898989"/>
                </a:solidFill>
                <a:latin typeface="Arial" panose="020B0604020202020204"/>
                <a:cs typeface="Arial" panose="020B0604020202020204"/>
              </a:rPr>
              <a:t>13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95381" y="5171967"/>
            <a:ext cx="3019062" cy="78046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25211" y="5124921"/>
            <a:ext cx="2893414" cy="912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2591</Words>
  <Application>WPS Presentation</Application>
  <PresentationFormat>Custom</PresentationFormat>
  <Paragraphs>99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Office Theme</vt:lpstr>
      <vt:lpstr>PowerPoint 演示文稿</vt:lpstr>
      <vt:lpstr>Bugs in concurrent programs</vt:lpstr>
      <vt:lpstr>Non deadlock bugs</vt:lpstr>
      <vt:lpstr>Atomicity bug: example</vt:lpstr>
      <vt:lpstr>Atomicity bug example: fix</vt:lpstr>
      <vt:lpstr>Order violation bug: example</vt:lpstr>
      <vt:lpstr>Ordering violation bug example: fix</vt:lpstr>
      <vt:lpstr>Deadlock bugs</vt:lpstr>
      <vt:lpstr>Deadlock: a visual representation</vt:lpstr>
      <vt:lpstr>Conditions for deadlock</vt:lpstr>
      <vt:lpstr>Preventing circular wait</vt:lpstr>
      <vt:lpstr>Preventing hold-and-wait</vt:lpstr>
      <vt:lpstr>Other solutions to deadlocks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lingam</dc:creator>
  <cp:lastModifiedBy>DELL</cp:lastModifiedBy>
  <cp:revision>4</cp:revision>
  <dcterms:created xsi:type="dcterms:W3CDTF">2019-03-05T15:54:00Z</dcterms:created>
  <dcterms:modified xsi:type="dcterms:W3CDTF">2023-06-19T00:42:30Z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2018-04-10T05:30:00Z</vt:filetime>
  </property>
  <property fmtid="{D5CDD505-2E9C-101B-9397-08002B2CF9AE}" pid="3" name="Creator">
    <vt:lpwstr>Nitro Pro 7  (7. 4. 1. 4)</vt:lpwstr>
  </property>
  <property fmtid="{D5CDD505-2E9C-101B-9397-08002B2CF9AE}" pid="4" name="LastSaved">
    <vt:filetime>2019-03-05T05:30:00Z</vt:filetime>
  </property>
  <property fmtid="{D5CDD505-2E9C-101B-9397-08002B2CF9AE}" pid="5" name="ICV">
    <vt:lpwstr>B6FEF6386F954C2B98254F2FAD403149</vt:lpwstr>
  </property>
  <property fmtid="{D5CDD505-2E9C-101B-9397-08002B2CF9AE}" pid="6" name="KSOProductBuildVer">
    <vt:lpwstr>1033-11.2.0.11537</vt:lpwstr>
  </property>
</Properties>
</file>